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Lst>
  <p:sldSz cx="32399288" cy="43200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47" userDrawn="1">
          <p15:clr>
            <a:srgbClr val="A4A3A4"/>
          </p15:clr>
        </p15:guide>
        <p15:guide id="2" pos="102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CC93"/>
    <a:srgbClr val="F7941D"/>
    <a:srgbClr val="F8C200"/>
    <a:srgbClr val="959200"/>
    <a:srgbClr val="FFFF00"/>
    <a:srgbClr val="FFE893"/>
    <a:srgbClr val="F8A200"/>
    <a:srgbClr val="A4001B"/>
    <a:srgbClr val="A65C02"/>
    <a:srgbClr val="E7C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799807-772F-446B-9E81-7482548B8773}" v="37" dt="2024-07-10T19:40:56.100"/>
  </p1510:revLst>
</p1510:revInfo>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97" autoAdjust="0"/>
    <p:restoredTop sz="94660"/>
  </p:normalViewPr>
  <p:slideViewPr>
    <p:cSldViewPr snapToGrid="0">
      <p:cViewPr>
        <p:scale>
          <a:sx n="30" d="100"/>
          <a:sy n="30" d="100"/>
        </p:scale>
        <p:origin x="432" y="-5336"/>
      </p:cViewPr>
      <p:guideLst>
        <p:guide orient="horz" pos="13647"/>
        <p:guide pos="1020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G:\My%20Drive\MSc-Phd\adipo\HCA_paper\supplementary%20tables.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2136970709317881"/>
          <c:y val="2.1335914113286673E-2"/>
          <c:w val="0.71581423366026353"/>
          <c:h val="0.56311015769290362"/>
        </c:manualLayout>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b"/>
      <c:layout>
        <c:manualLayout>
          <c:xMode val="edge"/>
          <c:yMode val="edge"/>
          <c:x val="9.1774744493572619E-2"/>
          <c:y val="0.62492904235271063"/>
          <c:w val="0.7556697064634279"/>
          <c:h val="0.37507095764728937"/>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he-I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
          <c:y val="1.5041584096003903E-2"/>
          <c:w val="0.90714598125358703"/>
          <c:h val="0.75911481623020771"/>
        </c:manualLayout>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b"/>
      <c:layout>
        <c:manualLayout>
          <c:xMode val="edge"/>
          <c:yMode val="edge"/>
          <c:x val="0.15763267331533926"/>
          <c:y val="0.82746323225239637"/>
          <c:w val="0.56343872202025824"/>
          <c:h val="0.11064686864961661"/>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he-I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7">
  <a:schemeClr val="accent4"/>
</cs:colorStyle>
</file>

<file path=ppt/charts/colors2.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29947" y="7070108"/>
            <a:ext cx="27539395" cy="15040222"/>
          </a:xfrm>
        </p:spPr>
        <p:txBody>
          <a:bodyPr anchor="b"/>
          <a:lstStyle>
            <a:lvl1pPr algn="ctr">
              <a:defRPr sz="21259"/>
            </a:lvl1pPr>
          </a:lstStyle>
          <a:p>
            <a:r>
              <a:rPr lang="en-US"/>
              <a:t>Click to edit Master title style</a:t>
            </a:r>
            <a:endParaRPr lang="en-US" dirty="0"/>
          </a:p>
        </p:txBody>
      </p:sp>
      <p:sp>
        <p:nvSpPr>
          <p:cNvPr id="3" name="Subtitle 2"/>
          <p:cNvSpPr>
            <a:spLocks noGrp="1"/>
          </p:cNvSpPr>
          <p:nvPr>
            <p:ph type="subTitle" idx="1"/>
          </p:nvPr>
        </p:nvSpPr>
        <p:spPr>
          <a:xfrm>
            <a:off x="4049911" y="22690338"/>
            <a:ext cx="24299466" cy="10430151"/>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BFBB28-8447-4DBA-B934-76943B0EAD67}" type="datetimeFigureOut">
              <a:rPr lang="en-US" smtClean="0"/>
              <a:t>15-Jul-24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B852D-1421-464D-9F80-4D421848556E}" type="slidenum">
              <a:rPr lang="en-US" smtClean="0"/>
              <a:t>‹#›</a:t>
            </a:fld>
            <a:endParaRPr lang="en-US"/>
          </a:p>
        </p:txBody>
      </p:sp>
    </p:spTree>
    <p:extLst>
      <p:ext uri="{BB962C8B-B14F-4D97-AF65-F5344CB8AC3E}">
        <p14:creationId xmlns:p14="http://schemas.microsoft.com/office/powerpoint/2010/main" val="3294207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BFBB28-8447-4DBA-B934-76943B0EAD67}" type="datetimeFigureOut">
              <a:rPr lang="en-US" smtClean="0"/>
              <a:t>15-Jul-24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B852D-1421-464D-9F80-4D421848556E}" type="slidenum">
              <a:rPr lang="en-US" smtClean="0"/>
              <a:t>‹#›</a:t>
            </a:fld>
            <a:endParaRPr lang="en-US"/>
          </a:p>
        </p:txBody>
      </p:sp>
    </p:spTree>
    <p:extLst>
      <p:ext uri="{BB962C8B-B14F-4D97-AF65-F5344CB8AC3E}">
        <p14:creationId xmlns:p14="http://schemas.microsoft.com/office/powerpoint/2010/main" val="3264549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10578" y="10770172"/>
            <a:ext cx="27944386" cy="17970262"/>
          </a:xfrm>
        </p:spPr>
        <p:txBody>
          <a:bodyPr anchor="b"/>
          <a:lstStyle>
            <a:lvl1pPr>
              <a:defRPr sz="21259"/>
            </a:lvl1pPr>
          </a:lstStyle>
          <a:p>
            <a:r>
              <a:rPr lang="en-US"/>
              <a:t>Click to edit Master title style</a:t>
            </a:r>
            <a:endParaRPr lang="en-US" dirty="0"/>
          </a:p>
        </p:txBody>
      </p:sp>
      <p:sp>
        <p:nvSpPr>
          <p:cNvPr id="3" name="Text Placeholder 2"/>
          <p:cNvSpPr>
            <a:spLocks noGrp="1"/>
          </p:cNvSpPr>
          <p:nvPr>
            <p:ph type="body" idx="1"/>
          </p:nvPr>
        </p:nvSpPr>
        <p:spPr>
          <a:xfrm>
            <a:off x="2210578" y="28910440"/>
            <a:ext cx="27944386" cy="9450136"/>
          </a:xfrm>
        </p:spPr>
        <p:txBody>
          <a:bodyPr/>
          <a:lstStyle>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BFBB28-8447-4DBA-B934-76943B0EAD67}" type="datetimeFigureOut">
              <a:rPr lang="en-US" smtClean="0"/>
              <a:t>15-Jul-24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B852D-1421-464D-9F80-4D421848556E}" type="slidenum">
              <a:rPr lang="en-US" smtClean="0"/>
              <a:t>‹#›</a:t>
            </a:fld>
            <a:endParaRPr lang="en-US"/>
          </a:p>
        </p:txBody>
      </p:sp>
    </p:spTree>
    <p:extLst>
      <p:ext uri="{BB962C8B-B14F-4D97-AF65-F5344CB8AC3E}">
        <p14:creationId xmlns:p14="http://schemas.microsoft.com/office/powerpoint/2010/main" val="2733094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27451" y="11500170"/>
            <a:ext cx="13769697" cy="27410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402140" y="11500170"/>
            <a:ext cx="13769697" cy="27410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BFBB28-8447-4DBA-B934-76943B0EAD67}" type="datetimeFigureOut">
              <a:rPr lang="en-US" smtClean="0"/>
              <a:t>15-Jul-24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3B852D-1421-464D-9F80-4D421848556E}" type="slidenum">
              <a:rPr lang="en-US" smtClean="0"/>
              <a:t>‹#›</a:t>
            </a:fld>
            <a:endParaRPr lang="en-US"/>
          </a:p>
        </p:txBody>
      </p:sp>
    </p:spTree>
    <p:extLst>
      <p:ext uri="{BB962C8B-B14F-4D97-AF65-F5344CB8AC3E}">
        <p14:creationId xmlns:p14="http://schemas.microsoft.com/office/powerpoint/2010/main" val="50146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31671" y="2300044"/>
            <a:ext cx="27944386" cy="835012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31675" y="10590160"/>
            <a:ext cx="13706415"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4" name="Content Placeholder 3"/>
          <p:cNvSpPr>
            <a:spLocks noGrp="1"/>
          </p:cNvSpPr>
          <p:nvPr>
            <p:ph sz="half" idx="2"/>
          </p:nvPr>
        </p:nvSpPr>
        <p:spPr>
          <a:xfrm>
            <a:off x="2231675" y="15780233"/>
            <a:ext cx="13706415" cy="23210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402142" y="10590160"/>
            <a:ext cx="13773917"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6" name="Content Placeholder 5"/>
          <p:cNvSpPr>
            <a:spLocks noGrp="1"/>
          </p:cNvSpPr>
          <p:nvPr>
            <p:ph sz="quarter" idx="4"/>
          </p:nvPr>
        </p:nvSpPr>
        <p:spPr>
          <a:xfrm>
            <a:off x="16402142" y="15780233"/>
            <a:ext cx="13773917" cy="23210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BFBB28-8447-4DBA-B934-76943B0EAD67}" type="datetimeFigureOut">
              <a:rPr lang="en-US" smtClean="0"/>
              <a:t>15-Jul-24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3B852D-1421-464D-9F80-4D421848556E}" type="slidenum">
              <a:rPr lang="en-US" smtClean="0"/>
              <a:t>‹#›</a:t>
            </a:fld>
            <a:endParaRPr lang="en-US"/>
          </a:p>
        </p:txBody>
      </p:sp>
    </p:spTree>
    <p:extLst>
      <p:ext uri="{BB962C8B-B14F-4D97-AF65-F5344CB8AC3E}">
        <p14:creationId xmlns:p14="http://schemas.microsoft.com/office/powerpoint/2010/main" val="860089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BFBB28-8447-4DBA-B934-76943B0EAD67}" type="datetimeFigureOut">
              <a:rPr lang="en-US" smtClean="0"/>
              <a:t>15-Jul-24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3B852D-1421-464D-9F80-4D421848556E}" type="slidenum">
              <a:rPr lang="en-US" smtClean="0"/>
              <a:t>‹#›</a:t>
            </a:fld>
            <a:endParaRPr lang="en-US"/>
          </a:p>
        </p:txBody>
      </p:sp>
    </p:spTree>
    <p:extLst>
      <p:ext uri="{BB962C8B-B14F-4D97-AF65-F5344CB8AC3E}">
        <p14:creationId xmlns:p14="http://schemas.microsoft.com/office/powerpoint/2010/main" val="217583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BFBB28-8447-4DBA-B934-76943B0EAD67}" type="datetimeFigureOut">
              <a:rPr lang="en-US" smtClean="0"/>
              <a:t>15-Jul-24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3B852D-1421-464D-9F80-4D421848556E}" type="slidenum">
              <a:rPr lang="en-US" smtClean="0"/>
              <a:t>‹#›</a:t>
            </a:fld>
            <a:endParaRPr lang="en-US"/>
          </a:p>
        </p:txBody>
      </p:sp>
    </p:spTree>
    <p:extLst>
      <p:ext uri="{BB962C8B-B14F-4D97-AF65-F5344CB8AC3E}">
        <p14:creationId xmlns:p14="http://schemas.microsoft.com/office/powerpoint/2010/main" val="1633517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en-US"/>
              <a:t>Click to edit Master title style</a:t>
            </a:r>
            <a:endParaRPr lang="en-US" dirty="0"/>
          </a:p>
        </p:txBody>
      </p:sp>
      <p:sp>
        <p:nvSpPr>
          <p:cNvPr id="3" name="Content Placeholder 2"/>
          <p:cNvSpPr>
            <a:spLocks noGrp="1"/>
          </p:cNvSpPr>
          <p:nvPr>
            <p:ph idx="1"/>
          </p:nvPr>
        </p:nvSpPr>
        <p:spPr>
          <a:xfrm>
            <a:off x="13773917" y="6220102"/>
            <a:ext cx="16402140" cy="30700453"/>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D5BFBB28-8447-4DBA-B934-76943B0EAD67}" type="datetimeFigureOut">
              <a:rPr lang="en-US" smtClean="0"/>
              <a:t>15-Jul-24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3B852D-1421-464D-9F80-4D421848556E}" type="slidenum">
              <a:rPr lang="en-US" smtClean="0"/>
              <a:t>‹#›</a:t>
            </a:fld>
            <a:endParaRPr lang="en-US"/>
          </a:p>
        </p:txBody>
      </p:sp>
    </p:spTree>
    <p:extLst>
      <p:ext uri="{BB962C8B-B14F-4D97-AF65-F5344CB8AC3E}">
        <p14:creationId xmlns:p14="http://schemas.microsoft.com/office/powerpoint/2010/main" val="1742169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73917" y="6220102"/>
            <a:ext cx="16402140" cy="30700453"/>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en-US"/>
              <a:t>Click icon to add picture</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D5BFBB28-8447-4DBA-B934-76943B0EAD67}" type="datetimeFigureOut">
              <a:rPr lang="en-US" smtClean="0"/>
              <a:t>15-Jul-24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3B852D-1421-464D-9F80-4D421848556E}" type="slidenum">
              <a:rPr lang="en-US" smtClean="0"/>
              <a:t>‹#›</a:t>
            </a:fld>
            <a:endParaRPr lang="en-US"/>
          </a:p>
        </p:txBody>
      </p:sp>
    </p:spTree>
    <p:extLst>
      <p:ext uri="{BB962C8B-B14F-4D97-AF65-F5344CB8AC3E}">
        <p14:creationId xmlns:p14="http://schemas.microsoft.com/office/powerpoint/2010/main" val="2781378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BFBB28-8447-4DBA-B934-76943B0EAD67}" type="datetimeFigureOut">
              <a:rPr lang="en-US" smtClean="0"/>
              <a:t>15-Jul-24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B852D-1421-464D-9F80-4D421848556E}" type="slidenum">
              <a:rPr lang="en-US" smtClean="0"/>
              <a:t>‹#›</a:t>
            </a:fld>
            <a:endParaRPr lang="en-US"/>
          </a:p>
        </p:txBody>
      </p:sp>
    </p:spTree>
    <p:extLst>
      <p:ext uri="{BB962C8B-B14F-4D97-AF65-F5344CB8AC3E}">
        <p14:creationId xmlns:p14="http://schemas.microsoft.com/office/powerpoint/2010/main" val="2900495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185742" y="2300034"/>
            <a:ext cx="6986096" cy="366105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27453" y="2300034"/>
            <a:ext cx="20553298" cy="366105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BFBB28-8447-4DBA-B934-76943B0EAD67}" type="datetimeFigureOut">
              <a:rPr lang="en-US" smtClean="0"/>
              <a:t>15-Jul-24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B852D-1421-464D-9F80-4D421848556E}" type="slidenum">
              <a:rPr lang="en-US" smtClean="0"/>
              <a:t>‹#›</a:t>
            </a:fld>
            <a:endParaRPr lang="en-US"/>
          </a:p>
        </p:txBody>
      </p:sp>
    </p:spTree>
    <p:extLst>
      <p:ext uri="{BB962C8B-B14F-4D97-AF65-F5344CB8AC3E}">
        <p14:creationId xmlns:p14="http://schemas.microsoft.com/office/powerpoint/2010/main" val="2549733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7451" y="2300044"/>
            <a:ext cx="27944386" cy="8350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7451" y="11500170"/>
            <a:ext cx="27944386" cy="27410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27451" y="40040601"/>
            <a:ext cx="7289840" cy="2300034"/>
          </a:xfrm>
          <a:prstGeom prst="rect">
            <a:avLst/>
          </a:prstGeom>
        </p:spPr>
        <p:txBody>
          <a:bodyPr vert="horz" lIns="91440" tIns="45720" rIns="91440" bIns="45720" rtlCol="0" anchor="ctr"/>
          <a:lstStyle>
            <a:lvl1pPr algn="l">
              <a:defRPr sz="4252">
                <a:solidFill>
                  <a:schemeClr val="tx1">
                    <a:tint val="75000"/>
                  </a:schemeClr>
                </a:solidFill>
              </a:defRPr>
            </a:lvl1pPr>
          </a:lstStyle>
          <a:p>
            <a:fld id="{D5BFBB28-8447-4DBA-B934-76943B0EAD67}" type="datetimeFigureOut">
              <a:rPr lang="en-US" smtClean="0"/>
              <a:t>15-Jul-24</a:t>
            </a:fld>
            <a:endParaRPr lang="en-US"/>
          </a:p>
        </p:txBody>
      </p:sp>
      <p:sp>
        <p:nvSpPr>
          <p:cNvPr id="5" name="Footer Placeholder 4"/>
          <p:cNvSpPr>
            <a:spLocks noGrp="1"/>
          </p:cNvSpPr>
          <p:nvPr>
            <p:ph type="ftr" sz="quarter" idx="3"/>
          </p:nvPr>
        </p:nvSpPr>
        <p:spPr>
          <a:xfrm>
            <a:off x="10732264" y="40040601"/>
            <a:ext cx="10934760" cy="2300034"/>
          </a:xfrm>
          <a:prstGeom prst="rect">
            <a:avLst/>
          </a:prstGeom>
        </p:spPr>
        <p:txBody>
          <a:bodyPr vert="horz" lIns="91440" tIns="45720" rIns="91440" bIns="45720" rtlCol="0" anchor="ctr"/>
          <a:lstStyle>
            <a:lvl1pPr algn="ctr">
              <a:defRPr sz="425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2881997" y="40040601"/>
            <a:ext cx="7289840" cy="2300034"/>
          </a:xfrm>
          <a:prstGeom prst="rect">
            <a:avLst/>
          </a:prstGeom>
        </p:spPr>
        <p:txBody>
          <a:bodyPr vert="horz" lIns="91440" tIns="45720" rIns="91440" bIns="45720" rtlCol="0" anchor="ctr"/>
          <a:lstStyle>
            <a:lvl1pPr algn="r">
              <a:defRPr sz="4252">
                <a:solidFill>
                  <a:schemeClr val="tx1">
                    <a:tint val="75000"/>
                  </a:schemeClr>
                </a:solidFill>
              </a:defRPr>
            </a:lvl1pPr>
          </a:lstStyle>
          <a:p>
            <a:fld id="{F33B852D-1421-464D-9F80-4D421848556E}" type="slidenum">
              <a:rPr lang="en-US" smtClean="0"/>
              <a:t>‹#›</a:t>
            </a:fld>
            <a:endParaRPr lang="en-US"/>
          </a:p>
        </p:txBody>
      </p:sp>
    </p:spTree>
    <p:extLst>
      <p:ext uri="{BB962C8B-B14F-4D97-AF65-F5344CB8AC3E}">
        <p14:creationId xmlns:p14="http://schemas.microsoft.com/office/powerpoint/2010/main" val="24097437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chart" Target="../charts/chart2.xml"/><Relationship Id="rId7" Type="http://schemas.openxmlformats.org/officeDocument/2006/relationships/image" Target="../media/image4.jp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chart" Target="../charts/chart1.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3.jpeg"/><Relationship Id="rId11" Type="http://schemas.openxmlformats.org/officeDocument/2006/relationships/image" Target="../media/image8.png"/><Relationship Id="rId5" Type="http://schemas.openxmlformats.org/officeDocument/2006/relationships/image" Target="../media/image2.jpeg"/><Relationship Id="rId15" Type="http://schemas.openxmlformats.org/officeDocument/2006/relationships/image" Target="../media/image12.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1.jpeg"/><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2">
            <a:extLst>
              <a:ext uri="{FF2B5EF4-FFF2-40B4-BE49-F238E27FC236}">
                <a16:creationId xmlns:a16="http://schemas.microsoft.com/office/drawing/2014/main" id="{40A64D0C-11EB-4E8A-8540-D174D5B9B8FE}"/>
              </a:ext>
            </a:extLst>
          </p:cNvPr>
          <p:cNvSpPr/>
          <p:nvPr/>
        </p:nvSpPr>
        <p:spPr>
          <a:xfrm>
            <a:off x="251308" y="6590636"/>
            <a:ext cx="31896672" cy="5060106"/>
          </a:xfrm>
          <a:prstGeom prst="roundRect">
            <a:avLst>
              <a:gd name="adj" fmla="val 5696"/>
            </a:avLst>
          </a:prstGeom>
          <a:solidFill>
            <a:sysClr val="window" lastClr="FFFFFF"/>
          </a:solidFill>
          <a:ln w="76200" cap="flat" cmpd="sng" algn="ctr">
            <a:solidFill>
              <a:srgbClr val="F8C200"/>
            </a:solidFill>
            <a:prstDash val="solid"/>
          </a:ln>
          <a:effectLst/>
        </p:spPr>
        <p:txBody>
          <a:bodyPr rtlCol="0" anchor="ctr"/>
          <a:lstStyle/>
          <a:p>
            <a:pPr algn="ctr" defTabSz="2082205">
              <a:defRPr/>
            </a:pPr>
            <a:endParaRPr lang="en-US" sz="3600" kern="0" dirty="0">
              <a:solidFill>
                <a:prstClr val="white"/>
              </a:solidFill>
              <a:latin typeface="Calibri"/>
            </a:endParaRPr>
          </a:p>
        </p:txBody>
      </p:sp>
      <p:sp>
        <p:nvSpPr>
          <p:cNvPr id="16" name="TextBox 15">
            <a:extLst>
              <a:ext uri="{FF2B5EF4-FFF2-40B4-BE49-F238E27FC236}">
                <a16:creationId xmlns:a16="http://schemas.microsoft.com/office/drawing/2014/main" id="{FF53D91B-FF96-4A5F-801D-DBAC6F46D271}"/>
              </a:ext>
            </a:extLst>
          </p:cNvPr>
          <p:cNvSpPr txBox="1"/>
          <p:nvPr/>
        </p:nvSpPr>
        <p:spPr>
          <a:xfrm>
            <a:off x="477200" y="6770672"/>
            <a:ext cx="31416828" cy="4031873"/>
          </a:xfrm>
          <a:prstGeom prst="rect">
            <a:avLst/>
          </a:prstGeom>
          <a:noFill/>
        </p:spPr>
        <p:txBody>
          <a:bodyPr wrap="square" rtlCol="0">
            <a:spAutoFit/>
          </a:bodyPr>
          <a:lstStyle/>
          <a:p>
            <a:pPr algn="ctr"/>
            <a:r>
              <a:rPr lang="en-US" sz="3000" b="1" u="sng" dirty="0"/>
              <a:t>Abstract</a:t>
            </a:r>
          </a:p>
          <a:p>
            <a:pPr algn="ctr"/>
            <a:endParaRPr lang="en-US" sz="3000" u="sng" dirty="0"/>
          </a:p>
          <a:p>
            <a:r>
              <a:rPr lang="en-US" sz="2800" b="0" i="0" dirty="0">
                <a:solidFill>
                  <a:srgbClr val="000000"/>
                </a:solidFill>
                <a:effectLst/>
                <a:highlight>
                  <a:srgbClr val="FFFFFF"/>
                </a:highlight>
              </a:rPr>
              <a:t>Human adipose depots are functionally distinct. Yet, recent single-nucleus RNA-sequencing (snRNA-seq) analyses uncovered similar cellular landscapes. To illuminate this similarity-difference gap, the Yeger-</a:t>
            </a:r>
            <a:r>
              <a:rPr lang="en-US" sz="2800" b="0" i="0" dirty="0" err="1">
                <a:solidFill>
                  <a:srgbClr val="000000"/>
                </a:solidFill>
                <a:effectLst/>
                <a:highlight>
                  <a:srgbClr val="FFFFFF"/>
                </a:highlight>
              </a:rPr>
              <a:t>Lotem</a:t>
            </a:r>
            <a:r>
              <a:rPr lang="en-US" sz="2800" b="0" i="0" dirty="0">
                <a:solidFill>
                  <a:srgbClr val="000000"/>
                </a:solidFill>
                <a:effectLst/>
                <a:highlight>
                  <a:srgbClr val="FFFFFF"/>
                </a:highlight>
              </a:rPr>
              <a:t>, </a:t>
            </a:r>
            <a:r>
              <a:rPr lang="en-US" sz="2800" b="0" i="0" dirty="0" err="1">
                <a:solidFill>
                  <a:srgbClr val="000000"/>
                </a:solidFill>
                <a:effectLst/>
                <a:highlight>
                  <a:srgbClr val="FFFFFF"/>
                </a:highlight>
              </a:rPr>
              <a:t>Rudich</a:t>
            </a:r>
            <a:r>
              <a:rPr lang="en-US" sz="2800" b="0" i="0" dirty="0">
                <a:solidFill>
                  <a:srgbClr val="000000"/>
                </a:solidFill>
                <a:effectLst/>
                <a:highlight>
                  <a:srgbClr val="FFFFFF"/>
                </a:highlight>
              </a:rPr>
              <a:t>, and additional labs performed snRNA-seq of human subcutaneous and visceral adipose tissue (</a:t>
            </a:r>
            <a:r>
              <a:rPr lang="en-US" sz="2800" b="0" i="0" dirty="0" err="1">
                <a:solidFill>
                  <a:srgbClr val="000000"/>
                </a:solidFill>
                <a:effectLst/>
                <a:highlight>
                  <a:srgbClr val="FFFFFF"/>
                </a:highlight>
              </a:rPr>
              <a:t>hSAT</a:t>
            </a:r>
            <a:r>
              <a:rPr lang="en-US" sz="2800" b="0" i="0" dirty="0">
                <a:solidFill>
                  <a:srgbClr val="000000"/>
                </a:solidFill>
                <a:effectLst/>
                <a:highlight>
                  <a:srgbClr val="FFFFFF"/>
                </a:highlight>
              </a:rPr>
              <a:t> and </a:t>
            </a:r>
            <a:r>
              <a:rPr lang="en-US" sz="2800" b="0" i="0" dirty="0" err="1">
                <a:solidFill>
                  <a:srgbClr val="000000"/>
                </a:solidFill>
                <a:effectLst/>
                <a:highlight>
                  <a:srgbClr val="FFFFFF"/>
                </a:highlight>
              </a:rPr>
              <a:t>hVAT</a:t>
            </a:r>
            <a:r>
              <a:rPr lang="en-US" sz="2800" b="0" i="0" dirty="0">
                <a:solidFill>
                  <a:srgbClr val="000000"/>
                </a:solidFill>
                <a:effectLst/>
                <a:highlight>
                  <a:srgbClr val="FFFFFF"/>
                </a:highlight>
              </a:rPr>
              <a:t>, respectively). Most adipocytes in both depots were ‘classical‘, namely enriched in lipid metabolism pathways, yet they also observed for the first time ‘specialized‘ adipocyte subtypes that were enriched in immune-related, extracellular matrix deposition (fibrosis), vascularization/angiogenesis, or ribosomal processes. Our project aimed to (</a:t>
            </a:r>
            <a:r>
              <a:rPr lang="en-US" sz="2800" b="0" i="0" dirty="0" err="1">
                <a:solidFill>
                  <a:srgbClr val="000000"/>
                </a:solidFill>
                <a:effectLst/>
                <a:highlight>
                  <a:srgbClr val="FFFFFF"/>
                </a:highlight>
              </a:rPr>
              <a:t>i</a:t>
            </a:r>
            <a:r>
              <a:rPr lang="en-US" sz="2800" b="0" i="0" dirty="0">
                <a:solidFill>
                  <a:srgbClr val="000000"/>
                </a:solidFill>
                <a:effectLst/>
                <a:highlight>
                  <a:srgbClr val="FFFFFF"/>
                </a:highlight>
              </a:rPr>
              <a:t>) determine if the snRNA-seq dataset was large enough to reveal most adipocyte subtypes, and (ii) explore functional differences between </a:t>
            </a:r>
            <a:r>
              <a:rPr lang="en-US" sz="2800" b="0" i="0" dirty="0" err="1">
                <a:solidFill>
                  <a:srgbClr val="000000"/>
                </a:solidFill>
                <a:effectLst/>
                <a:highlight>
                  <a:srgbClr val="FFFFFF"/>
                </a:highlight>
              </a:rPr>
              <a:t>hSAT</a:t>
            </a:r>
            <a:r>
              <a:rPr lang="en-US" sz="2800" b="0" i="0" dirty="0">
                <a:solidFill>
                  <a:srgbClr val="000000"/>
                </a:solidFill>
                <a:effectLst/>
                <a:highlight>
                  <a:srgbClr val="FFFFFF"/>
                </a:highlight>
              </a:rPr>
              <a:t> and </a:t>
            </a:r>
            <a:r>
              <a:rPr lang="en-US" sz="2800" b="0" i="0" dirty="0" err="1">
                <a:solidFill>
                  <a:srgbClr val="000000"/>
                </a:solidFill>
                <a:effectLst/>
                <a:highlight>
                  <a:srgbClr val="FFFFFF"/>
                </a:highlight>
              </a:rPr>
              <a:t>hVAT</a:t>
            </a:r>
            <a:r>
              <a:rPr lang="en-US" sz="2800" b="0" i="0" dirty="0">
                <a:solidFill>
                  <a:srgbClr val="000000"/>
                </a:solidFill>
                <a:effectLst/>
                <a:highlight>
                  <a:srgbClr val="FFFFFF"/>
                </a:highlight>
              </a:rPr>
              <a:t> adipocytes. For the first aim, we implemented a cluster preservation analysis algorithm, which randomly excludes nuclei and checks whether subtyped were preserved. For the second aim, we aggregated nuclei sequencing data per tissue, applied differential gene expression analysis between tissues, followed by functional enrichment analysis. The cluster preservation analysis indicated that the dataset had reached saturation, confirming sufficient sampling. The functional analysis revealed significant differences in metabolic and immune-related genes, with </a:t>
            </a:r>
            <a:r>
              <a:rPr lang="en-US" sz="2800" b="0" i="0" dirty="0" err="1">
                <a:solidFill>
                  <a:srgbClr val="000000"/>
                </a:solidFill>
                <a:effectLst/>
                <a:highlight>
                  <a:srgbClr val="FFFFFF"/>
                </a:highlight>
              </a:rPr>
              <a:t>hVAT</a:t>
            </a:r>
            <a:r>
              <a:rPr lang="en-US" sz="2800" b="0" i="0" dirty="0">
                <a:solidFill>
                  <a:srgbClr val="000000"/>
                </a:solidFill>
                <a:effectLst/>
                <a:highlight>
                  <a:srgbClr val="FFFFFF"/>
                </a:highlight>
              </a:rPr>
              <a:t> showing higher enrichment in these pathways.</a:t>
            </a:r>
            <a:endParaRPr lang="en-US" sz="2800" dirty="0"/>
          </a:p>
        </p:txBody>
      </p:sp>
      <p:grpSp>
        <p:nvGrpSpPr>
          <p:cNvPr id="20" name="Group 19">
            <a:extLst>
              <a:ext uri="{FF2B5EF4-FFF2-40B4-BE49-F238E27FC236}">
                <a16:creationId xmlns:a16="http://schemas.microsoft.com/office/drawing/2014/main" id="{F7837491-2246-4799-BC82-95C0500E0205}"/>
              </a:ext>
            </a:extLst>
          </p:cNvPr>
          <p:cNvGrpSpPr/>
          <p:nvPr/>
        </p:nvGrpSpPr>
        <p:grpSpPr>
          <a:xfrm>
            <a:off x="977416" y="4042593"/>
            <a:ext cx="30444457" cy="830997"/>
            <a:chOff x="1206062" y="3915593"/>
            <a:chExt cx="30444457" cy="830997"/>
          </a:xfrm>
        </p:grpSpPr>
        <p:sp>
          <p:nvSpPr>
            <p:cNvPr id="8" name="TextBox 7">
              <a:extLst>
                <a:ext uri="{FF2B5EF4-FFF2-40B4-BE49-F238E27FC236}">
                  <a16:creationId xmlns:a16="http://schemas.microsoft.com/office/drawing/2014/main" id="{4119C012-2759-4D81-9500-4841B215793D}"/>
                </a:ext>
              </a:extLst>
            </p:cNvPr>
            <p:cNvSpPr txBox="1"/>
            <p:nvPr/>
          </p:nvSpPr>
          <p:spPr>
            <a:xfrm>
              <a:off x="1206062" y="4284925"/>
              <a:ext cx="15378592" cy="461665"/>
            </a:xfrm>
            <a:prstGeom prst="rect">
              <a:avLst/>
            </a:prstGeom>
            <a:noFill/>
          </p:spPr>
          <p:txBody>
            <a:bodyPr wrap="square" numCol="1" spcCol="180000" rtlCol="0" anchor="ctr">
              <a:spAutoFit/>
            </a:bodyPr>
            <a:lstStyle/>
            <a:p>
              <a:pPr marL="514350" indent="-514350" defTabSz="2082205">
                <a:buFont typeface="+mj-lt"/>
                <a:buAutoNum type="arabicPeriod"/>
              </a:pPr>
              <a:endParaRPr lang="en-US" sz="2400" kern="0" dirty="0">
                <a:solidFill>
                  <a:prstClr val="black"/>
                </a:solidFill>
              </a:endParaRPr>
            </a:p>
          </p:txBody>
        </p:sp>
        <p:sp>
          <p:nvSpPr>
            <p:cNvPr id="17" name="TextBox 16">
              <a:extLst>
                <a:ext uri="{FF2B5EF4-FFF2-40B4-BE49-F238E27FC236}">
                  <a16:creationId xmlns:a16="http://schemas.microsoft.com/office/drawing/2014/main" id="{DBFC22D6-D5B7-4E2A-9CB9-C38D27836414}"/>
                </a:ext>
              </a:extLst>
            </p:cNvPr>
            <p:cNvSpPr txBox="1"/>
            <p:nvPr/>
          </p:nvSpPr>
          <p:spPr>
            <a:xfrm>
              <a:off x="16564402" y="3915593"/>
              <a:ext cx="15086117" cy="461665"/>
            </a:xfrm>
            <a:prstGeom prst="rect">
              <a:avLst/>
            </a:prstGeom>
            <a:noFill/>
          </p:spPr>
          <p:txBody>
            <a:bodyPr wrap="square" rtlCol="0">
              <a:spAutoFit/>
            </a:bodyPr>
            <a:lstStyle/>
            <a:p>
              <a:pPr defTabSz="2082205">
                <a:defRPr/>
              </a:pPr>
              <a:endParaRPr lang="en-US" sz="2400" kern="0" dirty="0">
                <a:solidFill>
                  <a:prstClr val="black"/>
                </a:solidFill>
              </a:endParaRPr>
            </a:p>
          </p:txBody>
        </p:sp>
      </p:grpSp>
      <p:graphicFrame>
        <p:nvGraphicFramePr>
          <p:cNvPr id="19" name="Google Shape;1018;p6">
            <a:extLst>
              <a:ext uri="{FF2B5EF4-FFF2-40B4-BE49-F238E27FC236}">
                <a16:creationId xmlns:a16="http://schemas.microsoft.com/office/drawing/2014/main" id="{58990B43-FF98-F9F4-CB8D-918B78882CA4}"/>
              </a:ext>
            </a:extLst>
          </p:cNvPr>
          <p:cNvGraphicFramePr/>
          <p:nvPr>
            <p:extLst>
              <p:ext uri="{D42A27DB-BD31-4B8C-83A1-F6EECF244321}">
                <p14:modId xmlns:p14="http://schemas.microsoft.com/office/powerpoint/2010/main" val="1073347213"/>
              </p:ext>
            </p:extLst>
          </p:nvPr>
        </p:nvGraphicFramePr>
        <p:xfrm>
          <a:off x="8916476" y="21895497"/>
          <a:ext cx="2269121" cy="277630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1" name="Google Shape;1019;p6">
            <a:extLst>
              <a:ext uri="{FF2B5EF4-FFF2-40B4-BE49-F238E27FC236}">
                <a16:creationId xmlns:a16="http://schemas.microsoft.com/office/drawing/2014/main" id="{BC41D12C-3639-283D-06A9-190B7FDA0776}"/>
              </a:ext>
            </a:extLst>
          </p:cNvPr>
          <p:cNvGraphicFramePr/>
          <p:nvPr>
            <p:extLst>
              <p:ext uri="{D42A27DB-BD31-4B8C-83A1-F6EECF244321}">
                <p14:modId xmlns:p14="http://schemas.microsoft.com/office/powerpoint/2010/main" val="2633687264"/>
              </p:ext>
            </p:extLst>
          </p:nvPr>
        </p:nvGraphicFramePr>
        <p:xfrm>
          <a:off x="19357636" y="23609152"/>
          <a:ext cx="1976362" cy="2153971"/>
        </p:xfrm>
        <a:graphic>
          <a:graphicData uri="http://schemas.openxmlformats.org/drawingml/2006/chart">
            <c:chart xmlns:c="http://schemas.openxmlformats.org/drawingml/2006/chart" xmlns:r="http://schemas.openxmlformats.org/officeDocument/2006/relationships" r:id="rId3"/>
          </a:graphicData>
        </a:graphic>
      </p:graphicFrame>
      <p:sp>
        <p:nvSpPr>
          <p:cNvPr id="34" name="Rectangle: Rounded Corners 2">
            <a:extLst>
              <a:ext uri="{FF2B5EF4-FFF2-40B4-BE49-F238E27FC236}">
                <a16:creationId xmlns:a16="http://schemas.microsoft.com/office/drawing/2014/main" id="{4686E0D4-16F0-43F7-844D-31B31464205E}"/>
              </a:ext>
            </a:extLst>
          </p:cNvPr>
          <p:cNvSpPr/>
          <p:nvPr/>
        </p:nvSpPr>
        <p:spPr>
          <a:xfrm>
            <a:off x="230729" y="23486139"/>
            <a:ext cx="15674198" cy="10760027"/>
          </a:xfrm>
          <a:prstGeom prst="roundRect">
            <a:avLst>
              <a:gd name="adj" fmla="val 2972"/>
            </a:avLst>
          </a:prstGeom>
          <a:noFill/>
          <a:ln w="76200" cap="flat" cmpd="sng" algn="ctr">
            <a:solidFill>
              <a:srgbClr val="F8C200"/>
            </a:solidFill>
            <a:prstDash val="solid"/>
          </a:ln>
          <a:effectLst/>
        </p:spPr>
        <p:txBody>
          <a:bodyPr rtlCol="0" anchor="ctr"/>
          <a:lstStyle/>
          <a:p>
            <a:pPr algn="ctr" defTabSz="2082205">
              <a:defRPr/>
            </a:pPr>
            <a:endParaRPr lang="en-US" sz="3600" kern="0" dirty="0">
              <a:solidFill>
                <a:prstClr val="white"/>
              </a:solidFill>
              <a:latin typeface="Calibri"/>
            </a:endParaRPr>
          </a:p>
        </p:txBody>
      </p:sp>
      <p:sp>
        <p:nvSpPr>
          <p:cNvPr id="14" name="TextBox 13">
            <a:extLst>
              <a:ext uri="{FF2B5EF4-FFF2-40B4-BE49-F238E27FC236}">
                <a16:creationId xmlns:a16="http://schemas.microsoft.com/office/drawing/2014/main" id="{F9BEF41E-E2C2-4864-A0FD-EAC951ECA677}"/>
              </a:ext>
            </a:extLst>
          </p:cNvPr>
          <p:cNvSpPr txBox="1"/>
          <p:nvPr/>
        </p:nvSpPr>
        <p:spPr>
          <a:xfrm>
            <a:off x="6382842" y="23586588"/>
            <a:ext cx="2661387" cy="553998"/>
          </a:xfrm>
          <a:prstGeom prst="rect">
            <a:avLst/>
          </a:prstGeom>
          <a:noFill/>
        </p:spPr>
        <p:txBody>
          <a:bodyPr wrap="square" rtlCol="0">
            <a:spAutoFit/>
          </a:bodyPr>
          <a:lstStyle/>
          <a:p>
            <a:r>
              <a:rPr lang="en-US" sz="3000" b="1" u="sng" dirty="0"/>
              <a:t>Methods</a:t>
            </a:r>
          </a:p>
        </p:txBody>
      </p:sp>
      <p:sp>
        <p:nvSpPr>
          <p:cNvPr id="35" name="TextBox 34">
            <a:extLst>
              <a:ext uri="{FF2B5EF4-FFF2-40B4-BE49-F238E27FC236}">
                <a16:creationId xmlns:a16="http://schemas.microsoft.com/office/drawing/2014/main" id="{7018BAD8-454B-4F69-BEAB-4CA508C6884A}"/>
              </a:ext>
            </a:extLst>
          </p:cNvPr>
          <p:cNvSpPr txBox="1"/>
          <p:nvPr/>
        </p:nvSpPr>
        <p:spPr>
          <a:xfrm>
            <a:off x="331441" y="20462811"/>
            <a:ext cx="15477253" cy="2523768"/>
          </a:xfrm>
          <a:prstGeom prst="rect">
            <a:avLst/>
          </a:prstGeom>
          <a:solidFill>
            <a:schemeClr val="bg1"/>
          </a:solidFill>
        </p:spPr>
        <p:txBody>
          <a:bodyPr wrap="square" rtlCol="0">
            <a:spAutoFit/>
          </a:bodyPr>
          <a:lstStyle/>
          <a:p>
            <a:pPr algn="ctr"/>
            <a:r>
              <a:rPr lang="en-US" sz="3000" b="1" u="sng" dirty="0"/>
              <a:t>Project aims</a:t>
            </a:r>
          </a:p>
          <a:p>
            <a:pPr algn="ctr"/>
            <a:endParaRPr lang="en-US" sz="3600" u="sng" dirty="0"/>
          </a:p>
          <a:p>
            <a:r>
              <a:rPr lang="en-US" sz="2800" u="sng" dirty="0"/>
              <a:t> Aim1 </a:t>
            </a:r>
            <a:r>
              <a:rPr lang="en-US" sz="2000" dirty="0"/>
              <a:t>-  </a:t>
            </a:r>
            <a:r>
              <a:rPr lang="en-US" sz="2400" dirty="0"/>
              <a:t>Assess whether sufficient sampling was preformed to identify all adipocyte subtypes</a:t>
            </a:r>
            <a:r>
              <a:rPr lang="en-US" sz="2000" dirty="0"/>
              <a:t>.</a:t>
            </a:r>
          </a:p>
          <a:p>
            <a:r>
              <a:rPr lang="en-US" sz="2800" u="sng" dirty="0"/>
              <a:t> Aim2</a:t>
            </a:r>
            <a:r>
              <a:rPr lang="en-US" sz="2000" u="sng" dirty="0"/>
              <a:t> </a:t>
            </a:r>
            <a:r>
              <a:rPr lang="en-US" sz="2000" dirty="0"/>
              <a:t>– </a:t>
            </a:r>
            <a:r>
              <a:rPr lang="en-US" sz="2400" dirty="0"/>
              <a:t>Explore functional differences between the adipose tissues.</a:t>
            </a:r>
            <a:endParaRPr lang="en-US" sz="2400" u="sng" dirty="0"/>
          </a:p>
          <a:p>
            <a:endParaRPr lang="en-US" sz="3600" u="sng" dirty="0"/>
          </a:p>
        </p:txBody>
      </p:sp>
      <p:sp>
        <p:nvSpPr>
          <p:cNvPr id="36" name="Rectangle: Rounded Corners 2">
            <a:extLst>
              <a:ext uri="{FF2B5EF4-FFF2-40B4-BE49-F238E27FC236}">
                <a16:creationId xmlns:a16="http://schemas.microsoft.com/office/drawing/2014/main" id="{C7CEE0CA-0767-4A4F-8533-2F9AFF33ADDB}"/>
              </a:ext>
            </a:extLst>
          </p:cNvPr>
          <p:cNvSpPr/>
          <p:nvPr/>
        </p:nvSpPr>
        <p:spPr>
          <a:xfrm>
            <a:off x="279776" y="20217379"/>
            <a:ext cx="15612836" cy="3089457"/>
          </a:xfrm>
          <a:prstGeom prst="roundRect">
            <a:avLst>
              <a:gd name="adj" fmla="val 5227"/>
            </a:avLst>
          </a:prstGeom>
          <a:noFill/>
          <a:ln w="76200" cap="flat" cmpd="sng" algn="ctr">
            <a:solidFill>
              <a:srgbClr val="F8C200"/>
            </a:solidFill>
            <a:prstDash val="solid"/>
          </a:ln>
          <a:effectLst/>
        </p:spPr>
        <p:txBody>
          <a:bodyPr rtlCol="0" anchor="ctr"/>
          <a:lstStyle/>
          <a:p>
            <a:pPr algn="ctr" defTabSz="2082205">
              <a:defRPr/>
            </a:pPr>
            <a:endParaRPr lang="en-US" sz="3600" kern="0" dirty="0">
              <a:solidFill>
                <a:prstClr val="white"/>
              </a:solidFill>
              <a:latin typeface="Calibri"/>
            </a:endParaRPr>
          </a:p>
        </p:txBody>
      </p:sp>
      <p:sp>
        <p:nvSpPr>
          <p:cNvPr id="31" name="Rectangle: Rounded Corners 2">
            <a:extLst>
              <a:ext uri="{FF2B5EF4-FFF2-40B4-BE49-F238E27FC236}">
                <a16:creationId xmlns:a16="http://schemas.microsoft.com/office/drawing/2014/main" id="{51047EE4-5F77-23C5-7DF8-07E850AF58FB}"/>
              </a:ext>
            </a:extLst>
          </p:cNvPr>
          <p:cNvSpPr/>
          <p:nvPr/>
        </p:nvSpPr>
        <p:spPr>
          <a:xfrm>
            <a:off x="16142878" y="11896143"/>
            <a:ext cx="15976634" cy="17104036"/>
          </a:xfrm>
          <a:prstGeom prst="roundRect">
            <a:avLst>
              <a:gd name="adj" fmla="val 1558"/>
            </a:avLst>
          </a:prstGeom>
          <a:noFill/>
          <a:ln w="76200" cap="flat" cmpd="sng" algn="ctr">
            <a:solidFill>
              <a:srgbClr val="F8C200"/>
            </a:solidFill>
            <a:prstDash val="solid"/>
          </a:ln>
          <a:effectLst/>
        </p:spPr>
        <p:txBody>
          <a:bodyPr rtlCol="0" anchor="ctr"/>
          <a:lstStyle/>
          <a:p>
            <a:pPr algn="ctr" defTabSz="2082205">
              <a:defRPr/>
            </a:pPr>
            <a:endParaRPr lang="en-US" sz="3600" kern="0" dirty="0">
              <a:solidFill>
                <a:prstClr val="white"/>
              </a:solidFill>
              <a:latin typeface="Calibri"/>
            </a:endParaRPr>
          </a:p>
        </p:txBody>
      </p:sp>
      <p:sp>
        <p:nvSpPr>
          <p:cNvPr id="99" name="Rectangle: Rounded Corners 2">
            <a:extLst>
              <a:ext uri="{FF2B5EF4-FFF2-40B4-BE49-F238E27FC236}">
                <a16:creationId xmlns:a16="http://schemas.microsoft.com/office/drawing/2014/main" id="{30FF296C-3DD7-78E9-7B36-6DB6BF9A159A}"/>
              </a:ext>
            </a:extLst>
          </p:cNvPr>
          <p:cNvSpPr/>
          <p:nvPr/>
        </p:nvSpPr>
        <p:spPr>
          <a:xfrm>
            <a:off x="16183705" y="29245580"/>
            <a:ext cx="15935807" cy="13752486"/>
          </a:xfrm>
          <a:prstGeom prst="roundRect">
            <a:avLst>
              <a:gd name="adj" fmla="val 2399"/>
            </a:avLst>
          </a:prstGeom>
          <a:noFill/>
          <a:ln w="76200" cap="flat" cmpd="sng" algn="ctr">
            <a:solidFill>
              <a:srgbClr val="F8C200"/>
            </a:solidFill>
            <a:prstDash val="solid"/>
          </a:ln>
          <a:effectLst/>
        </p:spPr>
        <p:txBody>
          <a:bodyPr rtlCol="0" anchor="ctr"/>
          <a:lstStyle/>
          <a:p>
            <a:pPr algn="ctr" defTabSz="2082205">
              <a:defRPr/>
            </a:pPr>
            <a:endParaRPr lang="en-US" sz="3600" kern="0" dirty="0">
              <a:solidFill>
                <a:prstClr val="white"/>
              </a:solidFill>
              <a:latin typeface="Calibri"/>
            </a:endParaRPr>
          </a:p>
        </p:txBody>
      </p:sp>
      <p:sp>
        <p:nvSpPr>
          <p:cNvPr id="101" name="TextBox 100">
            <a:extLst>
              <a:ext uri="{FF2B5EF4-FFF2-40B4-BE49-F238E27FC236}">
                <a16:creationId xmlns:a16="http://schemas.microsoft.com/office/drawing/2014/main" id="{D56F8474-6FFA-5350-61DD-CC0331A4B46C}"/>
              </a:ext>
            </a:extLst>
          </p:cNvPr>
          <p:cNvSpPr txBox="1"/>
          <p:nvPr/>
        </p:nvSpPr>
        <p:spPr>
          <a:xfrm>
            <a:off x="16315116" y="20733511"/>
            <a:ext cx="15095377" cy="1323439"/>
          </a:xfrm>
          <a:prstGeom prst="rect">
            <a:avLst/>
          </a:prstGeom>
          <a:noFill/>
        </p:spPr>
        <p:txBody>
          <a:bodyPr wrap="square" rtlCol="0">
            <a:spAutoFit/>
          </a:bodyPr>
          <a:lstStyle/>
          <a:p>
            <a:pPr algn="just"/>
            <a:endParaRPr lang="en-US" sz="2000" b="1" dirty="0"/>
          </a:p>
          <a:p>
            <a:pPr algn="just"/>
            <a:r>
              <a:rPr lang="en-US" sz="2000" b="1" dirty="0"/>
              <a:t>Visualization of the re-clustering. </a:t>
            </a:r>
            <a:r>
              <a:rPr lang="en-US" sz="2000" dirty="0"/>
              <a:t>Re-clustering process of cells in the </a:t>
            </a:r>
            <a:r>
              <a:rPr lang="en-US" sz="2000" dirty="0" err="1"/>
              <a:t>hVAT</a:t>
            </a:r>
            <a:r>
              <a:rPr lang="en-US" sz="2000" dirty="0"/>
              <a:t> and </a:t>
            </a:r>
            <a:r>
              <a:rPr lang="en-US" sz="2000" dirty="0" err="1"/>
              <a:t>hSAT</a:t>
            </a:r>
            <a:r>
              <a:rPr lang="en-US" sz="2000" dirty="0"/>
              <a:t> depots, the first, middle and last decreases of a total of 15 random decreases of 1000 nuclei in visceral and 12 random decreases in subcutaneous. As we can see, in lower number of nuclei, there is a decrease in the number of clusters found. </a:t>
            </a:r>
          </a:p>
        </p:txBody>
      </p:sp>
      <p:sp>
        <p:nvSpPr>
          <p:cNvPr id="103" name="Rectangle: Rounded Corners 2">
            <a:extLst>
              <a:ext uri="{FF2B5EF4-FFF2-40B4-BE49-F238E27FC236}">
                <a16:creationId xmlns:a16="http://schemas.microsoft.com/office/drawing/2014/main" id="{47533C49-5152-BB49-D05E-9AA965BB2D56}"/>
              </a:ext>
            </a:extLst>
          </p:cNvPr>
          <p:cNvSpPr/>
          <p:nvPr/>
        </p:nvSpPr>
        <p:spPr>
          <a:xfrm>
            <a:off x="230729" y="11865925"/>
            <a:ext cx="15693179" cy="8186007"/>
          </a:xfrm>
          <a:prstGeom prst="roundRect">
            <a:avLst>
              <a:gd name="adj" fmla="val 2972"/>
            </a:avLst>
          </a:prstGeom>
          <a:noFill/>
          <a:ln w="76200" cap="flat" cmpd="sng" algn="ctr">
            <a:solidFill>
              <a:srgbClr val="F8C200"/>
            </a:solidFill>
            <a:prstDash val="solid"/>
          </a:ln>
          <a:effectLst/>
        </p:spPr>
        <p:txBody>
          <a:bodyPr rtlCol="0" anchor="ctr"/>
          <a:lstStyle/>
          <a:p>
            <a:pPr algn="ctr" defTabSz="2082205">
              <a:defRPr/>
            </a:pPr>
            <a:endParaRPr lang="en-US" sz="3600" kern="0" dirty="0">
              <a:solidFill>
                <a:prstClr val="white"/>
              </a:solidFill>
              <a:latin typeface="Calibri"/>
            </a:endParaRPr>
          </a:p>
        </p:txBody>
      </p:sp>
      <p:sp>
        <p:nvSpPr>
          <p:cNvPr id="4" name="Rectangle 3">
            <a:extLst>
              <a:ext uri="{FF2B5EF4-FFF2-40B4-BE49-F238E27FC236}">
                <a16:creationId xmlns:a16="http://schemas.microsoft.com/office/drawing/2014/main" id="{D3711E5A-A82A-6934-1C94-1F439686F858}"/>
              </a:ext>
            </a:extLst>
          </p:cNvPr>
          <p:cNvSpPr/>
          <p:nvPr/>
        </p:nvSpPr>
        <p:spPr>
          <a:xfrm>
            <a:off x="351963" y="26879009"/>
            <a:ext cx="2770555" cy="1429792"/>
          </a:xfrm>
          <a:prstGeom prst="rect">
            <a:avLst/>
          </a:prstGeom>
        </p:spPr>
        <p:style>
          <a:lnRef idx="1">
            <a:schemeClr val="accent6"/>
          </a:lnRef>
          <a:fillRef idx="2">
            <a:schemeClr val="accent6"/>
          </a:fillRef>
          <a:effectRef idx="1">
            <a:schemeClr val="accent6"/>
          </a:effectRef>
          <a:fontRef idx="minor">
            <a:schemeClr val="dk1"/>
          </a:fontRef>
        </p:style>
        <p:txBody>
          <a:bodyPr rtlCol="1" anchor="ctr"/>
          <a:lstStyle/>
          <a:p>
            <a:pPr algn="ctr"/>
            <a:r>
              <a:rPr lang="en-US" dirty="0"/>
              <a:t>Division of the dataset into random subgroups of decreasing sizes.</a:t>
            </a:r>
            <a:endParaRPr lang="he-IL" dirty="0">
              <a:highlight>
                <a:srgbClr val="FFFF00"/>
              </a:highlight>
            </a:endParaRPr>
          </a:p>
        </p:txBody>
      </p:sp>
      <p:sp>
        <p:nvSpPr>
          <p:cNvPr id="29" name="Rectangle 28">
            <a:extLst>
              <a:ext uri="{FF2B5EF4-FFF2-40B4-BE49-F238E27FC236}">
                <a16:creationId xmlns:a16="http://schemas.microsoft.com/office/drawing/2014/main" id="{DAC03C95-0E66-424B-9FA1-DE6AED50EB8B}"/>
              </a:ext>
            </a:extLst>
          </p:cNvPr>
          <p:cNvSpPr/>
          <p:nvPr/>
        </p:nvSpPr>
        <p:spPr>
          <a:xfrm>
            <a:off x="3369221" y="26900784"/>
            <a:ext cx="2650465" cy="1437958"/>
          </a:xfrm>
          <a:prstGeom prst="rect">
            <a:avLst/>
          </a:prstGeom>
        </p:spPr>
        <p:style>
          <a:lnRef idx="1">
            <a:schemeClr val="accent6"/>
          </a:lnRef>
          <a:fillRef idx="2">
            <a:schemeClr val="accent6"/>
          </a:fillRef>
          <a:effectRef idx="1">
            <a:schemeClr val="accent6"/>
          </a:effectRef>
          <a:fontRef idx="minor">
            <a:schemeClr val="dk1"/>
          </a:fontRef>
        </p:style>
        <p:txBody>
          <a:bodyPr rtlCol="1" anchor="ctr"/>
          <a:lstStyle/>
          <a:p>
            <a:pPr algn="ctr"/>
            <a:r>
              <a:rPr lang="en-US" dirty="0"/>
              <a:t>Normalization, scaling, PCA and harmony integration, followed by clustering.</a:t>
            </a:r>
            <a:endParaRPr lang="he-IL" dirty="0"/>
          </a:p>
        </p:txBody>
      </p:sp>
      <p:sp>
        <p:nvSpPr>
          <p:cNvPr id="32" name="Rectangle 31">
            <a:extLst>
              <a:ext uri="{FF2B5EF4-FFF2-40B4-BE49-F238E27FC236}">
                <a16:creationId xmlns:a16="http://schemas.microsoft.com/office/drawing/2014/main" id="{109989C5-278A-46F8-46C0-9B35F7649094}"/>
              </a:ext>
            </a:extLst>
          </p:cNvPr>
          <p:cNvSpPr/>
          <p:nvPr/>
        </p:nvSpPr>
        <p:spPr>
          <a:xfrm>
            <a:off x="12624505" y="26886028"/>
            <a:ext cx="3057004" cy="1454825"/>
          </a:xfrm>
          <a:prstGeom prst="rect">
            <a:avLst/>
          </a:prstGeom>
        </p:spPr>
        <p:style>
          <a:lnRef idx="1">
            <a:schemeClr val="accent6"/>
          </a:lnRef>
          <a:fillRef idx="2">
            <a:schemeClr val="accent6"/>
          </a:fillRef>
          <a:effectRef idx="1">
            <a:schemeClr val="accent6"/>
          </a:effectRef>
          <a:fontRef idx="minor">
            <a:schemeClr val="dk1"/>
          </a:fontRef>
        </p:style>
        <p:txBody>
          <a:bodyPr rtlCol="1" anchor="ctr"/>
          <a:lstStyle/>
          <a:p>
            <a:pPr algn="ctr"/>
            <a:r>
              <a:rPr lang="en-US" dirty="0"/>
              <a:t>Cluster preservation calculation+ visualization</a:t>
            </a:r>
            <a:endParaRPr lang="he-IL" dirty="0"/>
          </a:p>
        </p:txBody>
      </p:sp>
      <p:sp>
        <p:nvSpPr>
          <p:cNvPr id="37" name="Rectangle 36">
            <a:extLst>
              <a:ext uri="{FF2B5EF4-FFF2-40B4-BE49-F238E27FC236}">
                <a16:creationId xmlns:a16="http://schemas.microsoft.com/office/drawing/2014/main" id="{698D07E9-DFB3-F6BF-2DB7-5C626358F250}"/>
              </a:ext>
            </a:extLst>
          </p:cNvPr>
          <p:cNvSpPr/>
          <p:nvPr/>
        </p:nvSpPr>
        <p:spPr>
          <a:xfrm>
            <a:off x="9509351" y="26894463"/>
            <a:ext cx="2973555" cy="1437957"/>
          </a:xfrm>
          <a:prstGeom prst="rect">
            <a:avLst/>
          </a:prstGeom>
        </p:spPr>
        <p:style>
          <a:lnRef idx="1">
            <a:schemeClr val="accent6"/>
          </a:lnRef>
          <a:fillRef idx="2">
            <a:schemeClr val="accent6"/>
          </a:fillRef>
          <a:effectRef idx="1">
            <a:schemeClr val="accent6"/>
          </a:effectRef>
          <a:fontRef idx="minor">
            <a:schemeClr val="dk1"/>
          </a:fontRef>
        </p:style>
        <p:txBody>
          <a:bodyPr rtlCol="1" anchor="ctr"/>
          <a:lstStyle/>
          <a:p>
            <a:pPr algn="ctr"/>
            <a:r>
              <a:rPr lang="en-US" dirty="0"/>
              <a:t>Merging nodes with an OOB error rate greater than 0.05, indicating poor cluster separation.</a:t>
            </a:r>
            <a:endParaRPr lang="he-IL" dirty="0"/>
          </a:p>
        </p:txBody>
      </p:sp>
      <p:sp>
        <p:nvSpPr>
          <p:cNvPr id="39" name="Rectangle 38">
            <a:extLst>
              <a:ext uri="{FF2B5EF4-FFF2-40B4-BE49-F238E27FC236}">
                <a16:creationId xmlns:a16="http://schemas.microsoft.com/office/drawing/2014/main" id="{A90A1FB1-1723-0E77-6DF3-4BEC40999423}"/>
              </a:ext>
            </a:extLst>
          </p:cNvPr>
          <p:cNvSpPr/>
          <p:nvPr/>
        </p:nvSpPr>
        <p:spPr>
          <a:xfrm>
            <a:off x="6164655" y="26879008"/>
            <a:ext cx="3143926" cy="1442617"/>
          </a:xfrm>
          <a:prstGeom prst="rect">
            <a:avLst/>
          </a:prstGeom>
        </p:spPr>
        <p:style>
          <a:lnRef idx="1">
            <a:schemeClr val="accent6"/>
          </a:lnRef>
          <a:fillRef idx="2">
            <a:schemeClr val="accent6"/>
          </a:fillRef>
          <a:effectRef idx="1">
            <a:schemeClr val="accent6"/>
          </a:effectRef>
          <a:fontRef idx="minor">
            <a:schemeClr val="dk1"/>
          </a:fontRef>
        </p:style>
        <p:txBody>
          <a:bodyPr rtlCol="1" anchor="ctr"/>
          <a:lstStyle/>
          <a:p>
            <a:pPr algn="ctr"/>
            <a:r>
              <a:rPr lang="en-US" dirty="0"/>
              <a:t>Assessing clustering by building a cluster tree and evaluating nodes in the tree, calculating the out-of-bag (OOB) error rate for each node. </a:t>
            </a:r>
            <a:endParaRPr lang="he-IL" dirty="0"/>
          </a:p>
        </p:txBody>
      </p:sp>
      <p:sp>
        <p:nvSpPr>
          <p:cNvPr id="56" name="TextBox 55">
            <a:extLst>
              <a:ext uri="{FF2B5EF4-FFF2-40B4-BE49-F238E27FC236}">
                <a16:creationId xmlns:a16="http://schemas.microsoft.com/office/drawing/2014/main" id="{D0ED6BBE-ACA9-7710-2DF1-93847F4E5B6A}"/>
              </a:ext>
            </a:extLst>
          </p:cNvPr>
          <p:cNvSpPr txBox="1"/>
          <p:nvPr/>
        </p:nvSpPr>
        <p:spPr>
          <a:xfrm>
            <a:off x="356870" y="24466498"/>
            <a:ext cx="9643411" cy="2492990"/>
          </a:xfrm>
          <a:prstGeom prst="rect">
            <a:avLst/>
          </a:prstGeom>
          <a:noFill/>
        </p:spPr>
        <p:txBody>
          <a:bodyPr wrap="square" rtlCol="0">
            <a:spAutoFit/>
          </a:bodyPr>
          <a:lstStyle/>
          <a:p>
            <a:r>
              <a:rPr lang="en-US" sz="2800" u="sng" dirty="0"/>
              <a:t>Aim1</a:t>
            </a:r>
            <a:r>
              <a:rPr lang="en-US" sz="2800" dirty="0"/>
              <a:t>- </a:t>
            </a:r>
          </a:p>
          <a:p>
            <a:pPr marL="342900" indent="-342900">
              <a:buFont typeface="Arial" panose="020B0604020202020204" pitchFamily="34" charset="0"/>
              <a:buChar char="•"/>
            </a:pPr>
            <a:r>
              <a:rPr lang="en-US" sz="2000" dirty="0"/>
              <a:t>We implemented a cluster preservation analysis algorithm based on </a:t>
            </a:r>
            <a:r>
              <a:rPr lang="en-US" sz="2000" dirty="0" err="1"/>
              <a:t>Bhaduri</a:t>
            </a:r>
            <a:r>
              <a:rPr lang="en-US" sz="2000" dirty="0"/>
              <a:t> et al., BMC Biology (2018) [2]</a:t>
            </a:r>
          </a:p>
          <a:p>
            <a:pPr marL="342900" indent="-342900">
              <a:buFont typeface="Arial" panose="020B0604020202020204" pitchFamily="34" charset="0"/>
              <a:buChar char="•"/>
            </a:pPr>
            <a:r>
              <a:rPr lang="en-US" sz="2000" dirty="0"/>
              <a:t>The algorithm assessed whether the numbers of sequenced nuclei allowed to reveal all major adipocyte subtypes in the tissues [1]</a:t>
            </a:r>
          </a:p>
          <a:p>
            <a:endParaRPr lang="en-US" sz="2000" dirty="0"/>
          </a:p>
          <a:p>
            <a:r>
              <a:rPr lang="en-US" sz="2800" u="sng" dirty="0"/>
              <a:t>Cluster preservation algorithm steps pe iteration</a:t>
            </a:r>
          </a:p>
        </p:txBody>
      </p:sp>
      <p:sp>
        <p:nvSpPr>
          <p:cNvPr id="62" name="TextBox 61">
            <a:extLst>
              <a:ext uri="{FF2B5EF4-FFF2-40B4-BE49-F238E27FC236}">
                <a16:creationId xmlns:a16="http://schemas.microsoft.com/office/drawing/2014/main" id="{62585A85-1DB2-7955-6432-BFA7E8B6D838}"/>
              </a:ext>
            </a:extLst>
          </p:cNvPr>
          <p:cNvSpPr txBox="1"/>
          <p:nvPr/>
        </p:nvSpPr>
        <p:spPr>
          <a:xfrm>
            <a:off x="412845" y="29691369"/>
            <a:ext cx="15575918" cy="2554545"/>
          </a:xfrm>
          <a:prstGeom prst="rect">
            <a:avLst/>
          </a:prstGeom>
          <a:noFill/>
        </p:spPr>
        <p:txBody>
          <a:bodyPr wrap="square" rtlCol="0">
            <a:spAutoFit/>
          </a:bodyPr>
          <a:lstStyle/>
          <a:p>
            <a:r>
              <a:rPr lang="en-US" sz="2800" u="sng" dirty="0"/>
              <a:t>Aim 2-</a:t>
            </a:r>
          </a:p>
          <a:p>
            <a:pPr marL="342900" indent="-342900">
              <a:buFont typeface="Arial" panose="020B0604020202020204" pitchFamily="34" charset="0"/>
              <a:buChar char="•"/>
            </a:pPr>
            <a:r>
              <a:rPr lang="en-US" sz="2000" dirty="0"/>
              <a:t>We preprocessed the data for easier analysis. Then we refined an algorithm for Pseudo-Bulk differential expression analysis based on </a:t>
            </a:r>
            <a:r>
              <a:rPr lang="en-US" sz="2000" dirty="0" err="1"/>
              <a:t>HBCTRaining</a:t>
            </a:r>
            <a:r>
              <a:rPr lang="en-US" sz="2000" dirty="0"/>
              <a:t> (2024) [3]</a:t>
            </a:r>
          </a:p>
          <a:p>
            <a:pPr marL="342900" indent="-342900">
              <a:buFont typeface="Arial" panose="020B0604020202020204" pitchFamily="34" charset="0"/>
              <a:buChar char="•"/>
            </a:pPr>
            <a:r>
              <a:rPr lang="en-US" sz="2000" dirty="0"/>
              <a:t>In the last step we used multiple gene enrichment analysis functions to identify which biological processes, pathways, or functions are enriched among the genes found in the differential expression analysis step</a:t>
            </a:r>
          </a:p>
          <a:p>
            <a:endParaRPr lang="en-US" sz="2400" u="sng" dirty="0"/>
          </a:p>
          <a:p>
            <a:r>
              <a:rPr lang="en-US" sz="2800" u="sng" dirty="0"/>
              <a:t>Aim2 steps</a:t>
            </a:r>
          </a:p>
        </p:txBody>
      </p:sp>
      <p:sp>
        <p:nvSpPr>
          <p:cNvPr id="77" name="Rectangle 76">
            <a:extLst>
              <a:ext uri="{FF2B5EF4-FFF2-40B4-BE49-F238E27FC236}">
                <a16:creationId xmlns:a16="http://schemas.microsoft.com/office/drawing/2014/main" id="{FF3B0B2A-BF87-2C70-90E0-49929F50C992}"/>
              </a:ext>
            </a:extLst>
          </p:cNvPr>
          <p:cNvSpPr/>
          <p:nvPr/>
        </p:nvSpPr>
        <p:spPr>
          <a:xfrm>
            <a:off x="1017615" y="32352898"/>
            <a:ext cx="2989991" cy="1450957"/>
          </a:xfrm>
          <a:prstGeom prst="rect">
            <a:avLst/>
          </a:prstGeom>
        </p:spPr>
        <p:style>
          <a:lnRef idx="1">
            <a:schemeClr val="accent4"/>
          </a:lnRef>
          <a:fillRef idx="2">
            <a:schemeClr val="accent4"/>
          </a:fillRef>
          <a:effectRef idx="1">
            <a:schemeClr val="accent4"/>
          </a:effectRef>
          <a:fontRef idx="minor">
            <a:schemeClr val="dk1"/>
          </a:fontRef>
        </p:style>
        <p:txBody>
          <a:bodyPr rtlCol="1" anchor="ctr"/>
          <a:lstStyle/>
          <a:p>
            <a:pPr algn="ctr"/>
            <a:r>
              <a:rPr lang="en-US" sz="1600" dirty="0"/>
              <a:t>Data preprocessing including merging and samples names giving</a:t>
            </a:r>
            <a:endParaRPr lang="he-IL" sz="1600" dirty="0"/>
          </a:p>
        </p:txBody>
      </p:sp>
      <p:sp>
        <p:nvSpPr>
          <p:cNvPr id="84" name="Rectangle 83">
            <a:extLst>
              <a:ext uri="{FF2B5EF4-FFF2-40B4-BE49-F238E27FC236}">
                <a16:creationId xmlns:a16="http://schemas.microsoft.com/office/drawing/2014/main" id="{086CF2EC-18D1-8002-9A43-F53BE3F03D42}"/>
              </a:ext>
            </a:extLst>
          </p:cNvPr>
          <p:cNvSpPr/>
          <p:nvPr/>
        </p:nvSpPr>
        <p:spPr>
          <a:xfrm>
            <a:off x="4618897" y="32333542"/>
            <a:ext cx="2864708" cy="1450957"/>
          </a:xfrm>
          <a:prstGeom prst="rect">
            <a:avLst/>
          </a:prstGeom>
        </p:spPr>
        <p:style>
          <a:lnRef idx="1">
            <a:schemeClr val="accent4"/>
          </a:lnRef>
          <a:fillRef idx="2">
            <a:schemeClr val="accent4"/>
          </a:fillRef>
          <a:effectRef idx="1">
            <a:schemeClr val="accent4"/>
          </a:effectRef>
          <a:fontRef idx="minor">
            <a:schemeClr val="dk1"/>
          </a:fontRef>
        </p:style>
        <p:txBody>
          <a:bodyPr rtlCol="1" anchor="ctr"/>
          <a:lstStyle/>
          <a:p>
            <a:pPr algn="ctr"/>
            <a:r>
              <a:rPr lang="en-US" sz="1600" dirty="0"/>
              <a:t>Pseudo-Bulk profile building:  Aggregation of data at the sample level and integration with metadata</a:t>
            </a:r>
            <a:endParaRPr lang="he-IL" sz="1600" dirty="0"/>
          </a:p>
        </p:txBody>
      </p:sp>
      <p:sp>
        <p:nvSpPr>
          <p:cNvPr id="90" name="Rectangle 89">
            <a:extLst>
              <a:ext uri="{FF2B5EF4-FFF2-40B4-BE49-F238E27FC236}">
                <a16:creationId xmlns:a16="http://schemas.microsoft.com/office/drawing/2014/main" id="{98E53C57-E177-AD28-C031-93B43DC65B56}"/>
              </a:ext>
            </a:extLst>
          </p:cNvPr>
          <p:cNvSpPr/>
          <p:nvPr/>
        </p:nvSpPr>
        <p:spPr>
          <a:xfrm>
            <a:off x="10883405" y="32354184"/>
            <a:ext cx="1691403" cy="1437148"/>
          </a:xfrm>
          <a:prstGeom prst="rect">
            <a:avLst/>
          </a:prstGeom>
        </p:spPr>
        <p:style>
          <a:lnRef idx="1">
            <a:schemeClr val="accent4"/>
          </a:lnRef>
          <a:fillRef idx="2">
            <a:schemeClr val="accent4"/>
          </a:fillRef>
          <a:effectRef idx="1">
            <a:schemeClr val="accent4"/>
          </a:effectRef>
          <a:fontRef idx="minor">
            <a:schemeClr val="dk1"/>
          </a:fontRef>
        </p:style>
        <p:txBody>
          <a:bodyPr rtlCol="1" anchor="ctr"/>
          <a:lstStyle/>
          <a:p>
            <a:pPr algn="ctr"/>
            <a:r>
              <a:rPr lang="en-US" dirty="0"/>
              <a:t>Differential expression analysis using DESeq2.</a:t>
            </a:r>
            <a:endParaRPr lang="he-IL" dirty="0"/>
          </a:p>
        </p:txBody>
      </p:sp>
      <p:sp>
        <p:nvSpPr>
          <p:cNvPr id="102" name="Rectangle 101">
            <a:extLst>
              <a:ext uri="{FF2B5EF4-FFF2-40B4-BE49-F238E27FC236}">
                <a16:creationId xmlns:a16="http://schemas.microsoft.com/office/drawing/2014/main" id="{85BEC259-E8FD-AF25-08C2-8E2993FA6416}"/>
              </a:ext>
            </a:extLst>
          </p:cNvPr>
          <p:cNvSpPr/>
          <p:nvPr/>
        </p:nvSpPr>
        <p:spPr>
          <a:xfrm>
            <a:off x="8014401" y="32352898"/>
            <a:ext cx="2269812" cy="1437148"/>
          </a:xfrm>
          <a:prstGeom prst="rect">
            <a:avLst/>
          </a:prstGeom>
        </p:spPr>
        <p:style>
          <a:lnRef idx="1">
            <a:schemeClr val="accent4"/>
          </a:lnRef>
          <a:fillRef idx="2">
            <a:schemeClr val="accent4"/>
          </a:fillRef>
          <a:effectRef idx="1">
            <a:schemeClr val="accent4"/>
          </a:effectRef>
          <a:fontRef idx="minor">
            <a:schemeClr val="dk1"/>
          </a:fontRef>
        </p:style>
        <p:txBody>
          <a:bodyPr rtlCol="1" anchor="ctr"/>
          <a:lstStyle/>
          <a:p>
            <a:pPr algn="ctr"/>
            <a:r>
              <a:rPr lang="en-US" dirty="0"/>
              <a:t>Quality control steps – PCA and Heatmap plots to explore similarity/differences between samples</a:t>
            </a:r>
            <a:endParaRPr lang="he-IL" dirty="0"/>
          </a:p>
        </p:txBody>
      </p:sp>
      <p:sp>
        <p:nvSpPr>
          <p:cNvPr id="104" name="Rectangle 103">
            <a:extLst>
              <a:ext uri="{FF2B5EF4-FFF2-40B4-BE49-F238E27FC236}">
                <a16:creationId xmlns:a16="http://schemas.microsoft.com/office/drawing/2014/main" id="{4DF5EE8A-2871-F6F9-2371-A6BB40830665}"/>
              </a:ext>
            </a:extLst>
          </p:cNvPr>
          <p:cNvSpPr/>
          <p:nvPr/>
        </p:nvSpPr>
        <p:spPr>
          <a:xfrm>
            <a:off x="13030834" y="32360431"/>
            <a:ext cx="2146115" cy="1435914"/>
          </a:xfrm>
          <a:prstGeom prst="rect">
            <a:avLst/>
          </a:prstGeom>
        </p:spPr>
        <p:style>
          <a:lnRef idx="1">
            <a:schemeClr val="accent4"/>
          </a:lnRef>
          <a:fillRef idx="2">
            <a:schemeClr val="accent4"/>
          </a:fillRef>
          <a:effectRef idx="1">
            <a:schemeClr val="accent4"/>
          </a:effectRef>
          <a:fontRef idx="minor">
            <a:schemeClr val="dk1"/>
          </a:fontRef>
        </p:style>
        <p:txBody>
          <a:bodyPr rtlCol="1" anchor="ctr"/>
          <a:lstStyle/>
          <a:p>
            <a:pPr algn="ctr"/>
            <a:r>
              <a:rPr lang="en-US" dirty="0"/>
              <a:t>Gene Enrichment Analysis using </a:t>
            </a:r>
            <a:r>
              <a:rPr lang="en-US" dirty="0" err="1"/>
              <a:t>gseGO</a:t>
            </a:r>
            <a:r>
              <a:rPr lang="en-US" dirty="0"/>
              <a:t> , </a:t>
            </a:r>
            <a:r>
              <a:rPr lang="en-US" dirty="0" err="1"/>
              <a:t>enrichGO</a:t>
            </a:r>
            <a:r>
              <a:rPr lang="en-US" dirty="0"/>
              <a:t> and </a:t>
            </a:r>
            <a:r>
              <a:rPr lang="en-US" dirty="0" err="1"/>
              <a:t>GOrilla</a:t>
            </a:r>
            <a:r>
              <a:rPr lang="en-US" dirty="0"/>
              <a:t> for visualization</a:t>
            </a:r>
            <a:endParaRPr lang="he-IL" dirty="0"/>
          </a:p>
        </p:txBody>
      </p:sp>
      <p:pic>
        <p:nvPicPr>
          <p:cNvPr id="115" name="Picture 114" descr="A group of dots in different colors&#10;&#10;Description automatically generated">
            <a:extLst>
              <a:ext uri="{FF2B5EF4-FFF2-40B4-BE49-F238E27FC236}">
                <a16:creationId xmlns:a16="http://schemas.microsoft.com/office/drawing/2014/main" id="{C269BBDB-61BA-EB86-F69A-B06B69D17D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59744" y="13732770"/>
            <a:ext cx="2814607" cy="2814607"/>
          </a:xfrm>
          <a:prstGeom prst="rect">
            <a:avLst/>
          </a:prstGeom>
        </p:spPr>
      </p:pic>
      <p:pic>
        <p:nvPicPr>
          <p:cNvPr id="121" name="Picture 120" descr="A map of different colored dots&#10;&#10;Description automatically generated">
            <a:extLst>
              <a:ext uri="{FF2B5EF4-FFF2-40B4-BE49-F238E27FC236}">
                <a16:creationId xmlns:a16="http://schemas.microsoft.com/office/drawing/2014/main" id="{521C6684-B4D2-EDA1-C3FB-34C985DCB0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120810" y="13670932"/>
            <a:ext cx="2958807" cy="2958807"/>
          </a:xfrm>
          <a:prstGeom prst="rect">
            <a:avLst/>
          </a:prstGeom>
        </p:spPr>
      </p:pic>
      <p:pic>
        <p:nvPicPr>
          <p:cNvPr id="123" name="Picture 122" descr="A map of the world&#10;&#10;Description automatically generated">
            <a:extLst>
              <a:ext uri="{FF2B5EF4-FFF2-40B4-BE49-F238E27FC236}">
                <a16:creationId xmlns:a16="http://schemas.microsoft.com/office/drawing/2014/main" id="{053E421F-B295-22D9-4820-0955A70D58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706429" y="13785773"/>
            <a:ext cx="2761604" cy="2761604"/>
          </a:xfrm>
          <a:prstGeom prst="rect">
            <a:avLst/>
          </a:prstGeom>
        </p:spPr>
      </p:pic>
      <p:pic>
        <p:nvPicPr>
          <p:cNvPr id="129" name="Picture 128" descr="A graph of a box plot&#10;&#10;Description automatically generated">
            <a:extLst>
              <a:ext uri="{FF2B5EF4-FFF2-40B4-BE49-F238E27FC236}">
                <a16:creationId xmlns:a16="http://schemas.microsoft.com/office/drawing/2014/main" id="{20825017-606E-DE13-0522-22C902C14A1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232716" y="22260636"/>
            <a:ext cx="4318001" cy="3238501"/>
          </a:xfrm>
          <a:prstGeom prst="rect">
            <a:avLst/>
          </a:prstGeom>
        </p:spPr>
      </p:pic>
      <p:pic>
        <p:nvPicPr>
          <p:cNvPr id="133" name="Picture 132">
            <a:extLst>
              <a:ext uri="{FF2B5EF4-FFF2-40B4-BE49-F238E27FC236}">
                <a16:creationId xmlns:a16="http://schemas.microsoft.com/office/drawing/2014/main" id="{A559074E-C9A0-B96B-7F6A-9E22FF1F8405}"/>
              </a:ext>
            </a:extLst>
          </p:cNvPr>
          <p:cNvPicPr>
            <a:picLocks noChangeAspect="1"/>
          </p:cNvPicPr>
          <p:nvPr/>
        </p:nvPicPr>
        <p:blipFill>
          <a:blip r:embed="rId8"/>
          <a:stretch>
            <a:fillRect/>
          </a:stretch>
        </p:blipFill>
        <p:spPr>
          <a:xfrm>
            <a:off x="25223159" y="22178127"/>
            <a:ext cx="4522884" cy="3392163"/>
          </a:xfrm>
          <a:prstGeom prst="rect">
            <a:avLst/>
          </a:prstGeom>
        </p:spPr>
      </p:pic>
      <p:pic>
        <p:nvPicPr>
          <p:cNvPr id="136" name="Picture 135">
            <a:extLst>
              <a:ext uri="{FF2B5EF4-FFF2-40B4-BE49-F238E27FC236}">
                <a16:creationId xmlns:a16="http://schemas.microsoft.com/office/drawing/2014/main" id="{CF750907-B576-A601-C326-47EC4CB4A9F6}"/>
              </a:ext>
            </a:extLst>
          </p:cNvPr>
          <p:cNvPicPr>
            <a:picLocks noChangeAspect="1"/>
          </p:cNvPicPr>
          <p:nvPr/>
        </p:nvPicPr>
        <p:blipFill>
          <a:blip r:embed="rId9"/>
          <a:stretch>
            <a:fillRect/>
          </a:stretch>
        </p:blipFill>
        <p:spPr>
          <a:xfrm>
            <a:off x="27687631" y="17903694"/>
            <a:ext cx="2664236" cy="2664236"/>
          </a:xfrm>
          <a:prstGeom prst="rect">
            <a:avLst/>
          </a:prstGeom>
        </p:spPr>
      </p:pic>
      <p:pic>
        <p:nvPicPr>
          <p:cNvPr id="137" name="Picture 136">
            <a:extLst>
              <a:ext uri="{FF2B5EF4-FFF2-40B4-BE49-F238E27FC236}">
                <a16:creationId xmlns:a16="http://schemas.microsoft.com/office/drawing/2014/main" id="{4C6AE2C2-6301-CF7C-7F1B-0189706C6268}"/>
              </a:ext>
            </a:extLst>
          </p:cNvPr>
          <p:cNvPicPr>
            <a:picLocks noChangeAspect="1"/>
          </p:cNvPicPr>
          <p:nvPr/>
        </p:nvPicPr>
        <p:blipFill>
          <a:blip r:embed="rId10"/>
          <a:stretch>
            <a:fillRect/>
          </a:stretch>
        </p:blipFill>
        <p:spPr>
          <a:xfrm>
            <a:off x="22145559" y="17796428"/>
            <a:ext cx="2958807" cy="2958807"/>
          </a:xfrm>
          <a:prstGeom prst="rect">
            <a:avLst/>
          </a:prstGeom>
        </p:spPr>
      </p:pic>
      <p:pic>
        <p:nvPicPr>
          <p:cNvPr id="138" name="Picture 137">
            <a:extLst>
              <a:ext uri="{FF2B5EF4-FFF2-40B4-BE49-F238E27FC236}">
                <a16:creationId xmlns:a16="http://schemas.microsoft.com/office/drawing/2014/main" id="{768F4F18-0CCC-1617-02D9-133E19C9703F}"/>
              </a:ext>
            </a:extLst>
          </p:cNvPr>
          <p:cNvPicPr>
            <a:picLocks noChangeAspect="1"/>
          </p:cNvPicPr>
          <p:nvPr/>
        </p:nvPicPr>
        <p:blipFill>
          <a:blip r:embed="rId11"/>
          <a:stretch>
            <a:fillRect/>
          </a:stretch>
        </p:blipFill>
        <p:spPr>
          <a:xfrm>
            <a:off x="16773214" y="17610115"/>
            <a:ext cx="2958808" cy="2958808"/>
          </a:xfrm>
          <a:prstGeom prst="rect">
            <a:avLst/>
          </a:prstGeom>
        </p:spPr>
      </p:pic>
      <p:sp>
        <p:nvSpPr>
          <p:cNvPr id="141" name="TextBox 140">
            <a:extLst>
              <a:ext uri="{FF2B5EF4-FFF2-40B4-BE49-F238E27FC236}">
                <a16:creationId xmlns:a16="http://schemas.microsoft.com/office/drawing/2014/main" id="{2B93BFF3-DEB8-1AC5-3F05-75F0BCB73A18}"/>
              </a:ext>
            </a:extLst>
          </p:cNvPr>
          <p:cNvSpPr txBox="1"/>
          <p:nvPr/>
        </p:nvSpPr>
        <p:spPr>
          <a:xfrm>
            <a:off x="17373949" y="21992880"/>
            <a:ext cx="723211" cy="400110"/>
          </a:xfrm>
          <a:prstGeom prst="rect">
            <a:avLst/>
          </a:prstGeom>
          <a:noFill/>
        </p:spPr>
        <p:txBody>
          <a:bodyPr wrap="none" rtlCol="0">
            <a:spAutoFit/>
          </a:bodyPr>
          <a:lstStyle/>
          <a:p>
            <a:r>
              <a:rPr lang="en-US" sz="2000" b="1" dirty="0" err="1"/>
              <a:t>hVAT</a:t>
            </a:r>
            <a:endParaRPr lang="en-IL" sz="2000" b="1" dirty="0"/>
          </a:p>
        </p:txBody>
      </p:sp>
      <p:sp>
        <p:nvSpPr>
          <p:cNvPr id="142" name="TextBox 141">
            <a:extLst>
              <a:ext uri="{FF2B5EF4-FFF2-40B4-BE49-F238E27FC236}">
                <a16:creationId xmlns:a16="http://schemas.microsoft.com/office/drawing/2014/main" id="{3ADBAC23-5295-2677-8BCC-A63A2E046A89}"/>
              </a:ext>
            </a:extLst>
          </p:cNvPr>
          <p:cNvSpPr txBox="1"/>
          <p:nvPr/>
        </p:nvSpPr>
        <p:spPr>
          <a:xfrm>
            <a:off x="25338496" y="22013523"/>
            <a:ext cx="703269" cy="400110"/>
          </a:xfrm>
          <a:prstGeom prst="rect">
            <a:avLst/>
          </a:prstGeom>
          <a:noFill/>
        </p:spPr>
        <p:txBody>
          <a:bodyPr wrap="none" rtlCol="0">
            <a:spAutoFit/>
          </a:bodyPr>
          <a:lstStyle/>
          <a:p>
            <a:r>
              <a:rPr lang="en-US" sz="2000" b="1" dirty="0" err="1"/>
              <a:t>hSAT</a:t>
            </a:r>
            <a:endParaRPr lang="en-IL" sz="2000" b="1" dirty="0"/>
          </a:p>
        </p:txBody>
      </p:sp>
      <p:sp>
        <p:nvSpPr>
          <p:cNvPr id="148" name="TextBox 147">
            <a:extLst>
              <a:ext uri="{FF2B5EF4-FFF2-40B4-BE49-F238E27FC236}">
                <a16:creationId xmlns:a16="http://schemas.microsoft.com/office/drawing/2014/main" id="{E99F6FDD-40AF-BE0B-40A7-550DA7841A13}"/>
              </a:ext>
            </a:extLst>
          </p:cNvPr>
          <p:cNvSpPr txBox="1"/>
          <p:nvPr/>
        </p:nvSpPr>
        <p:spPr>
          <a:xfrm>
            <a:off x="21536326" y="12034242"/>
            <a:ext cx="2174506" cy="553998"/>
          </a:xfrm>
          <a:prstGeom prst="rect">
            <a:avLst/>
          </a:prstGeom>
          <a:noFill/>
        </p:spPr>
        <p:txBody>
          <a:bodyPr wrap="none" rtlCol="0">
            <a:spAutoFit/>
          </a:bodyPr>
          <a:lstStyle/>
          <a:p>
            <a:r>
              <a:rPr lang="en-US" sz="3000" b="1" u="sng" dirty="0"/>
              <a:t>Aim1 results</a:t>
            </a:r>
          </a:p>
        </p:txBody>
      </p:sp>
      <p:sp>
        <p:nvSpPr>
          <p:cNvPr id="150" name="TextBox 149">
            <a:extLst>
              <a:ext uri="{FF2B5EF4-FFF2-40B4-BE49-F238E27FC236}">
                <a16:creationId xmlns:a16="http://schemas.microsoft.com/office/drawing/2014/main" id="{CA2432CA-9DC1-46FF-CC92-6E952164C6F4}"/>
              </a:ext>
            </a:extLst>
          </p:cNvPr>
          <p:cNvSpPr txBox="1"/>
          <p:nvPr/>
        </p:nvSpPr>
        <p:spPr>
          <a:xfrm>
            <a:off x="16689130" y="40461910"/>
            <a:ext cx="14950838" cy="1938992"/>
          </a:xfrm>
          <a:prstGeom prst="rect">
            <a:avLst/>
          </a:prstGeom>
          <a:noFill/>
        </p:spPr>
        <p:txBody>
          <a:bodyPr wrap="square" rtlCol="0">
            <a:spAutoFit/>
          </a:bodyPr>
          <a:lstStyle/>
          <a:p>
            <a:r>
              <a:rPr lang="en-US" sz="2000" b="1" dirty="0"/>
              <a:t>Gene Set Enrichment analysis. </a:t>
            </a:r>
            <a:r>
              <a:rPr lang="en-US" sz="2000" dirty="0"/>
              <a:t>Enriched metabolic related pathways in the </a:t>
            </a:r>
            <a:r>
              <a:rPr lang="en-US" sz="2000" dirty="0" err="1"/>
              <a:t>hVAT</a:t>
            </a:r>
            <a:r>
              <a:rPr lang="en-US" sz="2000" dirty="0"/>
              <a:t> depot. The enriched pathways are colored in </a:t>
            </a:r>
            <a:r>
              <a:rPr lang="en-US" sz="2000"/>
              <a:t>red.</a:t>
            </a:r>
            <a:endParaRPr lang="en-US" sz="2000" dirty="0"/>
          </a:p>
          <a:p>
            <a:pPr marL="342900" indent="-342900">
              <a:buFont typeface="Arial" panose="020B0604020202020204" pitchFamily="34" charset="0"/>
              <a:buChar char="•"/>
            </a:pPr>
            <a:r>
              <a:rPr lang="en-US" sz="2000" dirty="0"/>
              <a:t>Pseudo-bulk analysis facilitates Gene Set Enrichment Analysis by aggregating single-cell data into bulk-like profiles, enabling the identification of enriched biological pathways and processes. </a:t>
            </a:r>
          </a:p>
          <a:p>
            <a:pPr marL="342900" indent="-342900">
              <a:buFont typeface="Arial" panose="020B0604020202020204" pitchFamily="34" charset="0"/>
              <a:buChar char="•"/>
            </a:pPr>
            <a:r>
              <a:rPr lang="en-US" sz="2000" dirty="0"/>
              <a:t>From this analysis, we observed that </a:t>
            </a:r>
            <a:r>
              <a:rPr lang="en-US" sz="2000" dirty="0" err="1"/>
              <a:t>hVAT</a:t>
            </a:r>
            <a:r>
              <a:rPr lang="en-US" sz="2000" dirty="0"/>
              <a:t> adipocytes were enriched for mitochondrial processes, underscoring their unique metabolic functions. The figure above that was taken from Gorilla shows</a:t>
            </a:r>
          </a:p>
          <a:p>
            <a:pPr algn="just"/>
            <a:endParaRPr lang="en-US" sz="2000" dirty="0"/>
          </a:p>
        </p:txBody>
      </p:sp>
      <p:pic>
        <p:nvPicPr>
          <p:cNvPr id="159" name="Picture 158">
            <a:extLst>
              <a:ext uri="{FF2B5EF4-FFF2-40B4-BE49-F238E27FC236}">
                <a16:creationId xmlns:a16="http://schemas.microsoft.com/office/drawing/2014/main" id="{01988680-B03C-2CC3-4C33-7D311586DCB0}"/>
              </a:ext>
            </a:extLst>
          </p:cNvPr>
          <p:cNvPicPr>
            <a:picLocks noChangeAspect="1"/>
          </p:cNvPicPr>
          <p:nvPr/>
        </p:nvPicPr>
        <p:blipFill>
          <a:blip r:embed="rId12"/>
          <a:stretch>
            <a:fillRect/>
          </a:stretch>
        </p:blipFill>
        <p:spPr>
          <a:xfrm>
            <a:off x="0" y="0"/>
            <a:ext cx="32399288" cy="5310623"/>
          </a:xfrm>
          <a:prstGeom prst="rect">
            <a:avLst/>
          </a:prstGeom>
        </p:spPr>
      </p:pic>
      <p:sp>
        <p:nvSpPr>
          <p:cNvPr id="1033" name="TextBox 1032">
            <a:extLst>
              <a:ext uri="{FF2B5EF4-FFF2-40B4-BE49-F238E27FC236}">
                <a16:creationId xmlns:a16="http://schemas.microsoft.com/office/drawing/2014/main" id="{1A00E6C4-820A-26E5-9395-2BC3EA36D07A}"/>
              </a:ext>
            </a:extLst>
          </p:cNvPr>
          <p:cNvSpPr txBox="1"/>
          <p:nvPr/>
        </p:nvSpPr>
        <p:spPr>
          <a:xfrm>
            <a:off x="16297843" y="26155042"/>
            <a:ext cx="15095377" cy="1015663"/>
          </a:xfrm>
          <a:prstGeom prst="rect">
            <a:avLst/>
          </a:prstGeom>
          <a:noFill/>
        </p:spPr>
        <p:txBody>
          <a:bodyPr wrap="square" rtlCol="0">
            <a:spAutoFit/>
          </a:bodyPr>
          <a:lstStyle/>
          <a:p>
            <a:r>
              <a:rPr lang="en-US" sz="2000" b="1" dirty="0"/>
              <a:t>Cluster Preservation. </a:t>
            </a:r>
            <a:r>
              <a:rPr lang="en-US" sz="2000" dirty="0"/>
              <a:t>The cluster preservation analysis, as depicted in the boxplot, indicates that the cluster preservation value increases with sample size. The distribution of the cluster preservation value becomes more consistent and stabilized as the sample size grows, particularly from cluster sizes of 6000 and above. This trend is evident in both </a:t>
            </a:r>
            <a:r>
              <a:rPr lang="en-US" sz="2000" dirty="0" err="1"/>
              <a:t>hSAT</a:t>
            </a:r>
            <a:r>
              <a:rPr lang="en-US" sz="2000" dirty="0"/>
              <a:t> and </a:t>
            </a:r>
            <a:r>
              <a:rPr lang="en-US" sz="2000" dirty="0" err="1"/>
              <a:t>hVAT</a:t>
            </a:r>
            <a:r>
              <a:rPr lang="en-US" sz="2000" dirty="0"/>
              <a:t> datasets</a:t>
            </a:r>
            <a:r>
              <a:rPr lang="en-US" sz="2000" dirty="0">
                <a:solidFill>
                  <a:srgbClr val="FF0000"/>
                </a:solidFill>
              </a:rPr>
              <a:t>. </a:t>
            </a:r>
          </a:p>
        </p:txBody>
      </p:sp>
      <p:sp>
        <p:nvSpPr>
          <p:cNvPr id="2" name="תיבת טקסט 1">
            <a:extLst>
              <a:ext uri="{FF2B5EF4-FFF2-40B4-BE49-F238E27FC236}">
                <a16:creationId xmlns:a16="http://schemas.microsoft.com/office/drawing/2014/main" id="{B8B85809-4FE8-435A-285E-C634CE9D5914}"/>
              </a:ext>
            </a:extLst>
          </p:cNvPr>
          <p:cNvSpPr txBox="1"/>
          <p:nvPr/>
        </p:nvSpPr>
        <p:spPr>
          <a:xfrm rot="16200000">
            <a:off x="17550929" y="25279767"/>
            <a:ext cx="456016"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460</a:t>
            </a:r>
            <a:endParaRPr lang="he-IL" sz="1000" b="1" dirty="0"/>
          </a:p>
        </p:txBody>
      </p:sp>
      <p:sp>
        <p:nvSpPr>
          <p:cNvPr id="3" name="תיבת טקסט 2">
            <a:extLst>
              <a:ext uri="{FF2B5EF4-FFF2-40B4-BE49-F238E27FC236}">
                <a16:creationId xmlns:a16="http://schemas.microsoft.com/office/drawing/2014/main" id="{3955AE21-DAFB-AA66-E594-99578B32B87B}"/>
              </a:ext>
            </a:extLst>
          </p:cNvPr>
          <p:cNvSpPr txBox="1"/>
          <p:nvPr/>
        </p:nvSpPr>
        <p:spPr>
          <a:xfrm rot="16200000">
            <a:off x="17804844" y="25279763"/>
            <a:ext cx="456018"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1460</a:t>
            </a:r>
            <a:endParaRPr lang="he-IL" sz="1000" b="1" dirty="0"/>
          </a:p>
        </p:txBody>
      </p:sp>
      <p:sp>
        <p:nvSpPr>
          <p:cNvPr id="5" name="תיבת טקסט 4">
            <a:extLst>
              <a:ext uri="{FF2B5EF4-FFF2-40B4-BE49-F238E27FC236}">
                <a16:creationId xmlns:a16="http://schemas.microsoft.com/office/drawing/2014/main" id="{A23E4179-03A0-F42E-27D2-A3EE30F07B7F}"/>
              </a:ext>
            </a:extLst>
          </p:cNvPr>
          <p:cNvSpPr txBox="1"/>
          <p:nvPr/>
        </p:nvSpPr>
        <p:spPr>
          <a:xfrm rot="16200000">
            <a:off x="18058761" y="25279764"/>
            <a:ext cx="456016" cy="253916"/>
          </a:xfrm>
          <a:prstGeom prst="rect">
            <a:avLst/>
          </a:prstGeom>
          <a:ln/>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2460</a:t>
            </a:r>
            <a:endParaRPr lang="he-IL" sz="1000" b="1" dirty="0"/>
          </a:p>
        </p:txBody>
      </p:sp>
      <p:sp>
        <p:nvSpPr>
          <p:cNvPr id="6" name="תיבת טקסט 5">
            <a:extLst>
              <a:ext uri="{FF2B5EF4-FFF2-40B4-BE49-F238E27FC236}">
                <a16:creationId xmlns:a16="http://schemas.microsoft.com/office/drawing/2014/main" id="{19848BC5-2E54-21C3-F6F5-580AA3F1EFFB}"/>
              </a:ext>
            </a:extLst>
          </p:cNvPr>
          <p:cNvSpPr txBox="1"/>
          <p:nvPr/>
        </p:nvSpPr>
        <p:spPr>
          <a:xfrm rot="16200000">
            <a:off x="18308658" y="25279760"/>
            <a:ext cx="456017" cy="253917"/>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3460</a:t>
            </a:r>
            <a:endParaRPr lang="he-IL" sz="1000" b="1" dirty="0"/>
          </a:p>
        </p:txBody>
      </p:sp>
      <p:sp>
        <p:nvSpPr>
          <p:cNvPr id="7" name="תיבת טקסט 6">
            <a:extLst>
              <a:ext uri="{FF2B5EF4-FFF2-40B4-BE49-F238E27FC236}">
                <a16:creationId xmlns:a16="http://schemas.microsoft.com/office/drawing/2014/main" id="{9AB608F0-7F77-7B36-5500-2B3DC7519ABC}"/>
              </a:ext>
            </a:extLst>
          </p:cNvPr>
          <p:cNvSpPr txBox="1"/>
          <p:nvPr/>
        </p:nvSpPr>
        <p:spPr>
          <a:xfrm rot="16200000">
            <a:off x="18568537" y="25281854"/>
            <a:ext cx="460206"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4460</a:t>
            </a:r>
            <a:endParaRPr lang="he-IL" sz="1000" b="1" dirty="0"/>
          </a:p>
        </p:txBody>
      </p:sp>
      <p:sp>
        <p:nvSpPr>
          <p:cNvPr id="9" name="תיבת טקסט 8">
            <a:extLst>
              <a:ext uri="{FF2B5EF4-FFF2-40B4-BE49-F238E27FC236}">
                <a16:creationId xmlns:a16="http://schemas.microsoft.com/office/drawing/2014/main" id="{A6F4E090-2C1D-C262-7E82-9D3BA60E710F}"/>
              </a:ext>
            </a:extLst>
          </p:cNvPr>
          <p:cNvSpPr txBox="1"/>
          <p:nvPr/>
        </p:nvSpPr>
        <p:spPr>
          <a:xfrm rot="16200000">
            <a:off x="18833884" y="25281853"/>
            <a:ext cx="460206"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5460</a:t>
            </a:r>
            <a:endParaRPr lang="he-IL" sz="1000" b="1" dirty="0"/>
          </a:p>
        </p:txBody>
      </p:sp>
      <p:sp>
        <p:nvSpPr>
          <p:cNvPr id="10" name="תיבת טקסט 9">
            <a:extLst>
              <a:ext uri="{FF2B5EF4-FFF2-40B4-BE49-F238E27FC236}">
                <a16:creationId xmlns:a16="http://schemas.microsoft.com/office/drawing/2014/main" id="{823A4373-5DED-9388-3158-B78BCF6B55D6}"/>
              </a:ext>
            </a:extLst>
          </p:cNvPr>
          <p:cNvSpPr txBox="1"/>
          <p:nvPr/>
        </p:nvSpPr>
        <p:spPr>
          <a:xfrm rot="16200000">
            <a:off x="19064293" y="25281852"/>
            <a:ext cx="460206"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6460</a:t>
            </a:r>
            <a:endParaRPr lang="he-IL" sz="1000" b="1" dirty="0"/>
          </a:p>
        </p:txBody>
      </p:sp>
      <p:sp>
        <p:nvSpPr>
          <p:cNvPr id="11" name="תיבת טקסט 10">
            <a:extLst>
              <a:ext uri="{FF2B5EF4-FFF2-40B4-BE49-F238E27FC236}">
                <a16:creationId xmlns:a16="http://schemas.microsoft.com/office/drawing/2014/main" id="{523DE8CD-C195-3E15-E2E3-57CE1744FE83}"/>
              </a:ext>
            </a:extLst>
          </p:cNvPr>
          <p:cNvSpPr txBox="1"/>
          <p:nvPr/>
        </p:nvSpPr>
        <p:spPr>
          <a:xfrm rot="16200000">
            <a:off x="19326266" y="25276060"/>
            <a:ext cx="460206"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7460</a:t>
            </a:r>
            <a:endParaRPr lang="he-IL" sz="1000" b="1" dirty="0"/>
          </a:p>
        </p:txBody>
      </p:sp>
      <p:sp>
        <p:nvSpPr>
          <p:cNvPr id="12" name="תיבת טקסט 11">
            <a:extLst>
              <a:ext uri="{FF2B5EF4-FFF2-40B4-BE49-F238E27FC236}">
                <a16:creationId xmlns:a16="http://schemas.microsoft.com/office/drawing/2014/main" id="{A0061C47-6D2F-96C2-D0BB-31BD32C5912C}"/>
              </a:ext>
            </a:extLst>
          </p:cNvPr>
          <p:cNvSpPr txBox="1"/>
          <p:nvPr/>
        </p:nvSpPr>
        <p:spPr>
          <a:xfrm rot="16200000">
            <a:off x="19584221" y="25276059"/>
            <a:ext cx="460206"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8460</a:t>
            </a:r>
            <a:endParaRPr lang="he-IL" sz="1000" b="1" dirty="0"/>
          </a:p>
        </p:txBody>
      </p:sp>
      <p:sp>
        <p:nvSpPr>
          <p:cNvPr id="13" name="תיבת טקסט 12">
            <a:extLst>
              <a:ext uri="{FF2B5EF4-FFF2-40B4-BE49-F238E27FC236}">
                <a16:creationId xmlns:a16="http://schemas.microsoft.com/office/drawing/2014/main" id="{B7B31D49-3A9E-21B8-FA35-81209DDA6DF2}"/>
              </a:ext>
            </a:extLst>
          </p:cNvPr>
          <p:cNvSpPr txBox="1"/>
          <p:nvPr/>
        </p:nvSpPr>
        <p:spPr>
          <a:xfrm rot="16200000">
            <a:off x="19838332" y="25276057"/>
            <a:ext cx="460206"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9460</a:t>
            </a:r>
            <a:endParaRPr lang="he-IL" sz="1000" b="1" dirty="0"/>
          </a:p>
        </p:txBody>
      </p:sp>
      <p:sp>
        <p:nvSpPr>
          <p:cNvPr id="18" name="תיבת טקסט 17">
            <a:extLst>
              <a:ext uri="{FF2B5EF4-FFF2-40B4-BE49-F238E27FC236}">
                <a16:creationId xmlns:a16="http://schemas.microsoft.com/office/drawing/2014/main" id="{DF70576A-928A-AC39-50BB-7013B3498459}"/>
              </a:ext>
            </a:extLst>
          </p:cNvPr>
          <p:cNvSpPr txBox="1"/>
          <p:nvPr/>
        </p:nvSpPr>
        <p:spPr>
          <a:xfrm rot="16200000">
            <a:off x="20298029" y="25295042"/>
            <a:ext cx="460209" cy="215444"/>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800" b="1" dirty="0"/>
              <a:t>11460</a:t>
            </a:r>
            <a:endParaRPr lang="he-IL" sz="1000" b="1" dirty="0"/>
          </a:p>
        </p:txBody>
      </p:sp>
      <p:sp>
        <p:nvSpPr>
          <p:cNvPr id="22" name="תיבת טקסט 21">
            <a:extLst>
              <a:ext uri="{FF2B5EF4-FFF2-40B4-BE49-F238E27FC236}">
                <a16:creationId xmlns:a16="http://schemas.microsoft.com/office/drawing/2014/main" id="{AD931992-6D28-6A34-1E0C-63897B5B1314}"/>
              </a:ext>
            </a:extLst>
          </p:cNvPr>
          <p:cNvSpPr txBox="1"/>
          <p:nvPr/>
        </p:nvSpPr>
        <p:spPr>
          <a:xfrm rot="16200000">
            <a:off x="20737830" y="25295299"/>
            <a:ext cx="460209" cy="215444"/>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800" b="1" dirty="0"/>
              <a:t>13460</a:t>
            </a:r>
            <a:endParaRPr lang="he-IL" sz="1000" b="1" dirty="0"/>
          </a:p>
        </p:txBody>
      </p:sp>
      <p:sp>
        <p:nvSpPr>
          <p:cNvPr id="23" name="תיבת טקסט 22">
            <a:extLst>
              <a:ext uri="{FF2B5EF4-FFF2-40B4-BE49-F238E27FC236}">
                <a16:creationId xmlns:a16="http://schemas.microsoft.com/office/drawing/2014/main" id="{27220A7D-11D6-6580-B6D7-EE4B62D53ECB}"/>
              </a:ext>
            </a:extLst>
          </p:cNvPr>
          <p:cNvSpPr txBox="1"/>
          <p:nvPr/>
        </p:nvSpPr>
        <p:spPr>
          <a:xfrm rot="16200000">
            <a:off x="20962304" y="25295041"/>
            <a:ext cx="460209" cy="215444"/>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800" b="1" dirty="0"/>
              <a:t>14460</a:t>
            </a:r>
            <a:endParaRPr lang="he-IL" sz="1000" b="1" dirty="0"/>
          </a:p>
        </p:txBody>
      </p:sp>
      <p:sp>
        <p:nvSpPr>
          <p:cNvPr id="24" name="תיבת טקסט 23">
            <a:extLst>
              <a:ext uri="{FF2B5EF4-FFF2-40B4-BE49-F238E27FC236}">
                <a16:creationId xmlns:a16="http://schemas.microsoft.com/office/drawing/2014/main" id="{446D7FE9-D346-B6C8-D874-216A98062237}"/>
              </a:ext>
            </a:extLst>
          </p:cNvPr>
          <p:cNvSpPr txBox="1"/>
          <p:nvPr/>
        </p:nvSpPr>
        <p:spPr>
          <a:xfrm rot="16200000">
            <a:off x="20074754" y="25291515"/>
            <a:ext cx="460209" cy="215444"/>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800" b="1" dirty="0"/>
              <a:t>10460</a:t>
            </a:r>
            <a:endParaRPr lang="he-IL" sz="1000" b="1" dirty="0"/>
          </a:p>
        </p:txBody>
      </p:sp>
      <p:sp>
        <p:nvSpPr>
          <p:cNvPr id="25" name="תיבת טקסט 24">
            <a:extLst>
              <a:ext uri="{FF2B5EF4-FFF2-40B4-BE49-F238E27FC236}">
                <a16:creationId xmlns:a16="http://schemas.microsoft.com/office/drawing/2014/main" id="{68AD5C84-4D28-1864-FF3C-519AD79C44BD}"/>
              </a:ext>
            </a:extLst>
          </p:cNvPr>
          <p:cNvSpPr txBox="1"/>
          <p:nvPr/>
        </p:nvSpPr>
        <p:spPr>
          <a:xfrm rot="16200000">
            <a:off x="20518097" y="25291514"/>
            <a:ext cx="460209" cy="215444"/>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800" b="1" dirty="0"/>
              <a:t>12460</a:t>
            </a:r>
            <a:endParaRPr lang="he-IL" sz="1000" b="1" dirty="0"/>
          </a:p>
        </p:txBody>
      </p:sp>
      <p:sp>
        <p:nvSpPr>
          <p:cNvPr id="26" name="תיבת טקסט 25">
            <a:extLst>
              <a:ext uri="{FF2B5EF4-FFF2-40B4-BE49-F238E27FC236}">
                <a16:creationId xmlns:a16="http://schemas.microsoft.com/office/drawing/2014/main" id="{96AD0FFC-88BB-78BE-0FAE-7F3C28FBE524}"/>
              </a:ext>
            </a:extLst>
          </p:cNvPr>
          <p:cNvSpPr txBox="1"/>
          <p:nvPr/>
        </p:nvSpPr>
        <p:spPr>
          <a:xfrm rot="16200000">
            <a:off x="25631278" y="25341251"/>
            <a:ext cx="456016" cy="246221"/>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205</a:t>
            </a:r>
            <a:endParaRPr lang="he-IL" sz="1100" b="1" dirty="0"/>
          </a:p>
        </p:txBody>
      </p:sp>
      <p:sp>
        <p:nvSpPr>
          <p:cNvPr id="27" name="תיבת טקסט 26">
            <a:extLst>
              <a:ext uri="{FF2B5EF4-FFF2-40B4-BE49-F238E27FC236}">
                <a16:creationId xmlns:a16="http://schemas.microsoft.com/office/drawing/2014/main" id="{7DBEC590-1D55-5D55-A890-CB8547A0078C}"/>
              </a:ext>
            </a:extLst>
          </p:cNvPr>
          <p:cNvSpPr txBox="1"/>
          <p:nvPr/>
        </p:nvSpPr>
        <p:spPr>
          <a:xfrm rot="16200000">
            <a:off x="25935634" y="25343681"/>
            <a:ext cx="456018"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1205</a:t>
            </a:r>
            <a:endParaRPr lang="he-IL" sz="1000" b="1" dirty="0"/>
          </a:p>
        </p:txBody>
      </p:sp>
      <p:sp>
        <p:nvSpPr>
          <p:cNvPr id="28" name="תיבת טקסט 27">
            <a:extLst>
              <a:ext uri="{FF2B5EF4-FFF2-40B4-BE49-F238E27FC236}">
                <a16:creationId xmlns:a16="http://schemas.microsoft.com/office/drawing/2014/main" id="{14D9FD67-CC02-13D0-1069-A159D8F1A4BB}"/>
              </a:ext>
            </a:extLst>
          </p:cNvPr>
          <p:cNvSpPr txBox="1"/>
          <p:nvPr/>
        </p:nvSpPr>
        <p:spPr>
          <a:xfrm rot="16200000">
            <a:off x="26240353" y="25343682"/>
            <a:ext cx="456016" cy="253916"/>
          </a:xfrm>
          <a:prstGeom prst="rect">
            <a:avLst/>
          </a:prstGeom>
          <a:ln/>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2205</a:t>
            </a:r>
            <a:endParaRPr lang="he-IL" sz="1000" b="1" dirty="0"/>
          </a:p>
        </p:txBody>
      </p:sp>
      <p:sp>
        <p:nvSpPr>
          <p:cNvPr id="30" name="תיבת טקסט 29">
            <a:extLst>
              <a:ext uri="{FF2B5EF4-FFF2-40B4-BE49-F238E27FC236}">
                <a16:creationId xmlns:a16="http://schemas.microsoft.com/office/drawing/2014/main" id="{42A02EAB-80D2-54D8-7491-4C6323FE1725}"/>
              </a:ext>
            </a:extLst>
          </p:cNvPr>
          <p:cNvSpPr txBox="1"/>
          <p:nvPr/>
        </p:nvSpPr>
        <p:spPr>
          <a:xfrm rot="16200000">
            <a:off x="26557986" y="25343684"/>
            <a:ext cx="456017" cy="253917"/>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3205</a:t>
            </a:r>
            <a:endParaRPr lang="he-IL" sz="1000" b="1" dirty="0"/>
          </a:p>
        </p:txBody>
      </p:sp>
      <p:sp>
        <p:nvSpPr>
          <p:cNvPr id="38" name="תיבת טקסט 37">
            <a:extLst>
              <a:ext uri="{FF2B5EF4-FFF2-40B4-BE49-F238E27FC236}">
                <a16:creationId xmlns:a16="http://schemas.microsoft.com/office/drawing/2014/main" id="{791625FB-F298-1E3E-DF9D-E8BDF9B6A93E}"/>
              </a:ext>
            </a:extLst>
          </p:cNvPr>
          <p:cNvSpPr txBox="1"/>
          <p:nvPr/>
        </p:nvSpPr>
        <p:spPr>
          <a:xfrm rot="16200000">
            <a:off x="26851733" y="25345776"/>
            <a:ext cx="460206"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4205</a:t>
            </a:r>
            <a:endParaRPr lang="he-IL" sz="1000" b="1" dirty="0"/>
          </a:p>
        </p:txBody>
      </p:sp>
      <p:sp>
        <p:nvSpPr>
          <p:cNvPr id="40" name="תיבת טקסט 39">
            <a:extLst>
              <a:ext uri="{FF2B5EF4-FFF2-40B4-BE49-F238E27FC236}">
                <a16:creationId xmlns:a16="http://schemas.microsoft.com/office/drawing/2014/main" id="{1470611F-00B0-A6F9-EF05-A13E0EB33EF8}"/>
              </a:ext>
            </a:extLst>
          </p:cNvPr>
          <p:cNvSpPr txBox="1"/>
          <p:nvPr/>
        </p:nvSpPr>
        <p:spPr>
          <a:xfrm rot="16200000">
            <a:off x="27152751" y="25345764"/>
            <a:ext cx="460206"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5205</a:t>
            </a:r>
            <a:endParaRPr lang="he-IL" sz="1000" b="1" dirty="0"/>
          </a:p>
        </p:txBody>
      </p:sp>
      <p:sp>
        <p:nvSpPr>
          <p:cNvPr id="41" name="תיבת טקסט 40">
            <a:extLst>
              <a:ext uri="{FF2B5EF4-FFF2-40B4-BE49-F238E27FC236}">
                <a16:creationId xmlns:a16="http://schemas.microsoft.com/office/drawing/2014/main" id="{34506306-9DD5-0380-59C0-C69DB17C3A7F}"/>
              </a:ext>
            </a:extLst>
          </p:cNvPr>
          <p:cNvSpPr txBox="1"/>
          <p:nvPr/>
        </p:nvSpPr>
        <p:spPr>
          <a:xfrm rot="16200000">
            <a:off x="27783222" y="25345764"/>
            <a:ext cx="460206"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7205</a:t>
            </a:r>
            <a:endParaRPr lang="he-IL" sz="1000" b="1" dirty="0"/>
          </a:p>
        </p:txBody>
      </p:sp>
      <p:sp>
        <p:nvSpPr>
          <p:cNvPr id="42" name="תיבת טקסט 41">
            <a:extLst>
              <a:ext uri="{FF2B5EF4-FFF2-40B4-BE49-F238E27FC236}">
                <a16:creationId xmlns:a16="http://schemas.microsoft.com/office/drawing/2014/main" id="{4155CB7E-D2DD-6824-708E-38925256D663}"/>
              </a:ext>
            </a:extLst>
          </p:cNvPr>
          <p:cNvSpPr txBox="1"/>
          <p:nvPr/>
        </p:nvSpPr>
        <p:spPr>
          <a:xfrm rot="16200000">
            <a:off x="28096330" y="25345930"/>
            <a:ext cx="460206"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8205</a:t>
            </a:r>
            <a:endParaRPr lang="he-IL" sz="1000" b="1" dirty="0"/>
          </a:p>
        </p:txBody>
      </p:sp>
      <p:sp>
        <p:nvSpPr>
          <p:cNvPr id="43" name="תיבת טקסט 42">
            <a:extLst>
              <a:ext uri="{FF2B5EF4-FFF2-40B4-BE49-F238E27FC236}">
                <a16:creationId xmlns:a16="http://schemas.microsoft.com/office/drawing/2014/main" id="{954743C4-0B35-C36E-B320-258202093628}"/>
              </a:ext>
            </a:extLst>
          </p:cNvPr>
          <p:cNvSpPr txBox="1"/>
          <p:nvPr/>
        </p:nvSpPr>
        <p:spPr>
          <a:xfrm rot="16200000">
            <a:off x="28435627" y="25345929"/>
            <a:ext cx="460206"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9205</a:t>
            </a:r>
            <a:endParaRPr lang="he-IL" sz="1000" b="1" dirty="0"/>
          </a:p>
        </p:txBody>
      </p:sp>
      <p:sp>
        <p:nvSpPr>
          <p:cNvPr id="44" name="תיבת טקסט 43">
            <a:extLst>
              <a:ext uri="{FF2B5EF4-FFF2-40B4-BE49-F238E27FC236}">
                <a16:creationId xmlns:a16="http://schemas.microsoft.com/office/drawing/2014/main" id="{2550BF56-5C28-190B-1AED-54B58CB04C4B}"/>
              </a:ext>
            </a:extLst>
          </p:cNvPr>
          <p:cNvSpPr txBox="1"/>
          <p:nvPr/>
        </p:nvSpPr>
        <p:spPr>
          <a:xfrm rot="16200000">
            <a:off x="28723077" y="25365793"/>
            <a:ext cx="460207" cy="215444"/>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800" b="1" dirty="0"/>
              <a:t>10205</a:t>
            </a:r>
            <a:endParaRPr lang="he-IL" sz="900" b="1" dirty="0"/>
          </a:p>
        </p:txBody>
      </p:sp>
      <p:sp>
        <p:nvSpPr>
          <p:cNvPr id="45" name="תיבת טקסט 44">
            <a:extLst>
              <a:ext uri="{FF2B5EF4-FFF2-40B4-BE49-F238E27FC236}">
                <a16:creationId xmlns:a16="http://schemas.microsoft.com/office/drawing/2014/main" id="{E6A2CEDC-A01D-7D8B-2F2A-C00F1672E64C}"/>
              </a:ext>
            </a:extLst>
          </p:cNvPr>
          <p:cNvSpPr txBox="1"/>
          <p:nvPr/>
        </p:nvSpPr>
        <p:spPr>
          <a:xfrm rot="16200000">
            <a:off x="29027295" y="25365164"/>
            <a:ext cx="460207" cy="215444"/>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800" b="1" dirty="0"/>
              <a:t>11205</a:t>
            </a:r>
            <a:endParaRPr lang="he-IL" sz="900" b="1" dirty="0"/>
          </a:p>
        </p:txBody>
      </p:sp>
      <p:sp>
        <p:nvSpPr>
          <p:cNvPr id="46" name="תיבת טקסט 45">
            <a:extLst>
              <a:ext uri="{FF2B5EF4-FFF2-40B4-BE49-F238E27FC236}">
                <a16:creationId xmlns:a16="http://schemas.microsoft.com/office/drawing/2014/main" id="{2617B686-A996-4901-133C-D8D383A8CA53}"/>
              </a:ext>
            </a:extLst>
          </p:cNvPr>
          <p:cNvSpPr txBox="1"/>
          <p:nvPr/>
        </p:nvSpPr>
        <p:spPr>
          <a:xfrm rot="16200000">
            <a:off x="27472973" y="25351465"/>
            <a:ext cx="460206" cy="253916"/>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r>
              <a:rPr lang="en-US" sz="1000" b="1" dirty="0"/>
              <a:t>6205</a:t>
            </a:r>
            <a:endParaRPr lang="he-IL" sz="1000" b="1" dirty="0"/>
          </a:p>
        </p:txBody>
      </p:sp>
      <p:cxnSp>
        <p:nvCxnSpPr>
          <p:cNvPr id="48" name="מחבר חץ ישר 47">
            <a:extLst>
              <a:ext uri="{FF2B5EF4-FFF2-40B4-BE49-F238E27FC236}">
                <a16:creationId xmlns:a16="http://schemas.microsoft.com/office/drawing/2014/main" id="{F53BF75E-D3B6-903D-5018-E78E3579361F}"/>
              </a:ext>
            </a:extLst>
          </p:cNvPr>
          <p:cNvCxnSpPr>
            <a:cxnSpLocks/>
          </p:cNvCxnSpPr>
          <p:nvPr/>
        </p:nvCxnSpPr>
        <p:spPr>
          <a:xfrm>
            <a:off x="3184412" y="27504600"/>
            <a:ext cx="438291" cy="7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מחבר חץ ישר 50">
            <a:extLst>
              <a:ext uri="{FF2B5EF4-FFF2-40B4-BE49-F238E27FC236}">
                <a16:creationId xmlns:a16="http://schemas.microsoft.com/office/drawing/2014/main" id="{57F225C2-F79E-1784-C8A3-9056584069BD}"/>
              </a:ext>
            </a:extLst>
          </p:cNvPr>
          <p:cNvCxnSpPr>
            <a:cxnSpLocks/>
          </p:cNvCxnSpPr>
          <p:nvPr/>
        </p:nvCxnSpPr>
        <p:spPr>
          <a:xfrm>
            <a:off x="5876812" y="27555400"/>
            <a:ext cx="438291" cy="7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מחבר חץ ישר 51">
            <a:extLst>
              <a:ext uri="{FF2B5EF4-FFF2-40B4-BE49-F238E27FC236}">
                <a16:creationId xmlns:a16="http://schemas.microsoft.com/office/drawing/2014/main" id="{2E3D513B-CEF9-A2BE-FFDC-B5CDC1E6291C}"/>
              </a:ext>
            </a:extLst>
          </p:cNvPr>
          <p:cNvCxnSpPr>
            <a:cxnSpLocks/>
          </p:cNvCxnSpPr>
          <p:nvPr/>
        </p:nvCxnSpPr>
        <p:spPr>
          <a:xfrm>
            <a:off x="9229515" y="27555400"/>
            <a:ext cx="438291" cy="7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מחבר חץ ישר 52">
            <a:extLst>
              <a:ext uri="{FF2B5EF4-FFF2-40B4-BE49-F238E27FC236}">
                <a16:creationId xmlns:a16="http://schemas.microsoft.com/office/drawing/2014/main" id="{46FE3B13-0109-76EB-5003-F3D10BC7833D}"/>
              </a:ext>
            </a:extLst>
          </p:cNvPr>
          <p:cNvCxnSpPr>
            <a:cxnSpLocks/>
          </p:cNvCxnSpPr>
          <p:nvPr/>
        </p:nvCxnSpPr>
        <p:spPr>
          <a:xfrm>
            <a:off x="12299360" y="27640153"/>
            <a:ext cx="438291" cy="7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מחבר חץ ישר 58">
            <a:extLst>
              <a:ext uri="{FF2B5EF4-FFF2-40B4-BE49-F238E27FC236}">
                <a16:creationId xmlns:a16="http://schemas.microsoft.com/office/drawing/2014/main" id="{BD6C24D4-69C2-7BB4-FBDF-7DAF0E9E964E}"/>
              </a:ext>
            </a:extLst>
          </p:cNvPr>
          <p:cNvCxnSpPr>
            <a:cxnSpLocks/>
          </p:cNvCxnSpPr>
          <p:nvPr/>
        </p:nvCxnSpPr>
        <p:spPr>
          <a:xfrm>
            <a:off x="4180606" y="33003060"/>
            <a:ext cx="438291" cy="7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מחבר חץ ישר 60">
            <a:extLst>
              <a:ext uri="{FF2B5EF4-FFF2-40B4-BE49-F238E27FC236}">
                <a16:creationId xmlns:a16="http://schemas.microsoft.com/office/drawing/2014/main" id="{9C037163-A831-DAD9-5D67-A811BE1F5F33}"/>
              </a:ext>
            </a:extLst>
          </p:cNvPr>
          <p:cNvCxnSpPr>
            <a:cxnSpLocks/>
          </p:cNvCxnSpPr>
          <p:nvPr/>
        </p:nvCxnSpPr>
        <p:spPr>
          <a:xfrm>
            <a:off x="7569710" y="32985416"/>
            <a:ext cx="425046" cy="37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מחבר חץ ישר 64">
            <a:extLst>
              <a:ext uri="{FF2B5EF4-FFF2-40B4-BE49-F238E27FC236}">
                <a16:creationId xmlns:a16="http://schemas.microsoft.com/office/drawing/2014/main" id="{F015FD11-0F98-1FB7-3B58-E73671B7E9A4}"/>
              </a:ext>
            </a:extLst>
          </p:cNvPr>
          <p:cNvCxnSpPr>
            <a:cxnSpLocks/>
          </p:cNvCxnSpPr>
          <p:nvPr/>
        </p:nvCxnSpPr>
        <p:spPr>
          <a:xfrm>
            <a:off x="10325542" y="33021794"/>
            <a:ext cx="581271" cy="87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מחבר חץ ישר 65">
            <a:extLst>
              <a:ext uri="{FF2B5EF4-FFF2-40B4-BE49-F238E27FC236}">
                <a16:creationId xmlns:a16="http://schemas.microsoft.com/office/drawing/2014/main" id="{3A3B945C-78C3-B10E-3EBB-779D7688841B}"/>
              </a:ext>
            </a:extLst>
          </p:cNvPr>
          <p:cNvCxnSpPr>
            <a:cxnSpLocks/>
          </p:cNvCxnSpPr>
          <p:nvPr/>
        </p:nvCxnSpPr>
        <p:spPr>
          <a:xfrm>
            <a:off x="12587944" y="33051487"/>
            <a:ext cx="438291" cy="7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Rectangle: Rounded Corners 2">
            <a:extLst>
              <a:ext uri="{FF2B5EF4-FFF2-40B4-BE49-F238E27FC236}">
                <a16:creationId xmlns:a16="http://schemas.microsoft.com/office/drawing/2014/main" id="{AD731712-454B-CFCD-C7C1-C2B755C94BD1}"/>
              </a:ext>
            </a:extLst>
          </p:cNvPr>
          <p:cNvSpPr/>
          <p:nvPr/>
        </p:nvSpPr>
        <p:spPr>
          <a:xfrm>
            <a:off x="412845" y="37658976"/>
            <a:ext cx="15433424" cy="5357718"/>
          </a:xfrm>
          <a:prstGeom prst="roundRect">
            <a:avLst>
              <a:gd name="adj" fmla="val 2399"/>
            </a:avLst>
          </a:prstGeom>
          <a:noFill/>
          <a:ln w="76200" cap="flat" cmpd="sng" algn="ctr">
            <a:solidFill>
              <a:srgbClr val="F8C200"/>
            </a:solidFill>
            <a:prstDash val="solid"/>
          </a:ln>
          <a:effectLst/>
        </p:spPr>
        <p:txBody>
          <a:bodyPr rtlCol="0" anchor="ctr"/>
          <a:lstStyle/>
          <a:p>
            <a:pPr algn="ctr" defTabSz="2082205">
              <a:defRPr/>
            </a:pPr>
            <a:endParaRPr lang="en-US" sz="3600" kern="0" dirty="0">
              <a:solidFill>
                <a:prstClr val="white"/>
              </a:solidFill>
              <a:latin typeface="Calibri"/>
            </a:endParaRPr>
          </a:p>
        </p:txBody>
      </p:sp>
      <p:pic>
        <p:nvPicPr>
          <p:cNvPr id="57" name="Picture 154" descr="A graph with blue and red dots&#10;&#10;Description automatically generated">
            <a:extLst>
              <a:ext uri="{FF2B5EF4-FFF2-40B4-BE49-F238E27FC236}">
                <a16:creationId xmlns:a16="http://schemas.microsoft.com/office/drawing/2014/main" id="{9534CC76-2037-B5C3-B21E-A8EE852971B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4532895" y="30656417"/>
            <a:ext cx="5386081" cy="4039562"/>
          </a:xfrm>
          <a:prstGeom prst="rect">
            <a:avLst/>
          </a:prstGeom>
        </p:spPr>
      </p:pic>
      <p:pic>
        <p:nvPicPr>
          <p:cNvPr id="63" name="Picture 8" descr="A screen shot of a computer screen&#10;&#10;Description automatically generated">
            <a:extLst>
              <a:ext uri="{FF2B5EF4-FFF2-40B4-BE49-F238E27FC236}">
                <a16:creationId xmlns:a16="http://schemas.microsoft.com/office/drawing/2014/main" id="{47BA1711-DE70-0823-F731-267ACCC4907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7651978" y="30764081"/>
            <a:ext cx="5212583" cy="3415424"/>
          </a:xfrm>
          <a:prstGeom prst="rect">
            <a:avLst/>
          </a:prstGeom>
        </p:spPr>
      </p:pic>
      <p:sp>
        <p:nvSpPr>
          <p:cNvPr id="64" name="TextBox 149">
            <a:extLst>
              <a:ext uri="{FF2B5EF4-FFF2-40B4-BE49-F238E27FC236}">
                <a16:creationId xmlns:a16="http://schemas.microsoft.com/office/drawing/2014/main" id="{F69EE060-E61D-7042-7263-0F28BF1AE170}"/>
              </a:ext>
            </a:extLst>
          </p:cNvPr>
          <p:cNvSpPr txBox="1"/>
          <p:nvPr/>
        </p:nvSpPr>
        <p:spPr>
          <a:xfrm>
            <a:off x="16615320" y="34259533"/>
            <a:ext cx="14950838" cy="2246769"/>
          </a:xfrm>
          <a:prstGeom prst="rect">
            <a:avLst/>
          </a:prstGeom>
          <a:noFill/>
        </p:spPr>
        <p:txBody>
          <a:bodyPr wrap="square" rtlCol="0">
            <a:spAutoFit/>
          </a:bodyPr>
          <a:lstStyle/>
          <a:p>
            <a:r>
              <a:rPr lang="en-US" sz="2000" b="1" dirty="0"/>
              <a:t>Pseudo-Bulk	Differential Expression Results for </a:t>
            </a:r>
            <a:r>
              <a:rPr lang="en-US" sz="2000" b="1" dirty="0" err="1"/>
              <a:t>hVAT</a:t>
            </a:r>
            <a:r>
              <a:rPr lang="en-US" sz="2000" b="1" dirty="0"/>
              <a:t> vs </a:t>
            </a:r>
            <a:r>
              <a:rPr lang="en-US" sz="2000" b="1" dirty="0" err="1"/>
              <a:t>hSAT</a:t>
            </a:r>
            <a:r>
              <a:rPr lang="en-US" sz="2000" b="1" dirty="0"/>
              <a:t>. </a:t>
            </a:r>
            <a:br>
              <a:rPr lang="en-US" sz="2000" b="1" dirty="0"/>
            </a:br>
            <a:r>
              <a:rPr lang="en-US" sz="2000" dirty="0"/>
              <a:t>A. The heatmap of the significant genes- adjusted probability value&lt;0.05 and absolute value of log2 fold change &gt;2. </a:t>
            </a:r>
          </a:p>
          <a:p>
            <a:pPr algn="just"/>
            <a:r>
              <a:rPr lang="en-US" sz="2000" dirty="0"/>
              <a:t>B. The PCA plot of the differential gene expression between </a:t>
            </a:r>
            <a:r>
              <a:rPr lang="en-US" sz="2000" dirty="0" err="1"/>
              <a:t>hVAT</a:t>
            </a:r>
            <a:r>
              <a:rPr lang="en-US" sz="2000" dirty="0"/>
              <a:t> and </a:t>
            </a:r>
            <a:r>
              <a:rPr lang="en-US" sz="2000" dirty="0" err="1"/>
              <a:t>hSAT</a:t>
            </a:r>
            <a:r>
              <a:rPr lang="en-US" sz="2000" dirty="0"/>
              <a:t>. </a:t>
            </a:r>
          </a:p>
          <a:p>
            <a:pPr marL="342900" indent="-342900" algn="just">
              <a:buFont typeface="Arial" panose="020B0604020202020204" pitchFamily="34" charset="0"/>
              <a:buChar char="•"/>
            </a:pPr>
            <a:r>
              <a:rPr lang="en-US" sz="2000" dirty="0"/>
              <a:t>These analyses clearly demonstrate distinct gene expression profiles between </a:t>
            </a:r>
            <a:r>
              <a:rPr lang="en-US" sz="2000" dirty="0" err="1"/>
              <a:t>hVAT</a:t>
            </a:r>
            <a:r>
              <a:rPr lang="en-US" sz="2000" dirty="0"/>
              <a:t> and </a:t>
            </a:r>
            <a:r>
              <a:rPr lang="en-US" sz="2000" dirty="0" err="1"/>
              <a:t>hSAT</a:t>
            </a:r>
            <a:r>
              <a:rPr lang="en-US" sz="2000" dirty="0"/>
              <a:t>, highlighting the physiological differences between the two tissue types</a:t>
            </a:r>
          </a:p>
          <a:p>
            <a:pPr marL="342900" indent="-342900" algn="just">
              <a:buFont typeface="Arial" panose="020B0604020202020204" pitchFamily="34" charset="0"/>
              <a:buChar char="•"/>
            </a:pPr>
            <a:r>
              <a:rPr lang="en-US" sz="2000" dirty="0"/>
              <a:t> We can see in the PCA a separation on </a:t>
            </a:r>
            <a:r>
              <a:rPr lang="en-US" sz="2000" b="0" i="0" dirty="0">
                <a:effectLst/>
              </a:rPr>
              <a:t>PC1 by our condition of interest,</a:t>
            </a:r>
            <a:r>
              <a:rPr lang="en-US" sz="2000" dirty="0"/>
              <a:t> and it suggests that the main</a:t>
            </a:r>
            <a:r>
              <a:rPr lang="en-US" sz="2000" b="0" i="0" dirty="0">
                <a:solidFill>
                  <a:srgbClr val="606C71"/>
                </a:solidFill>
                <a:effectLst/>
                <a:latin typeface="Open Sans" panose="020B0606030504020204" pitchFamily="34" charset="0"/>
              </a:rPr>
              <a:t> </a:t>
            </a:r>
            <a:r>
              <a:rPr lang="en-US" sz="2000" b="0" i="0" dirty="0">
                <a:effectLst/>
              </a:rPr>
              <a:t>source of variation in our dataset is the condition of interest(</a:t>
            </a:r>
            <a:r>
              <a:rPr lang="en-US" sz="2000" b="0" i="0" dirty="0" err="1">
                <a:effectLst/>
              </a:rPr>
              <a:t>hVAT</a:t>
            </a:r>
            <a:r>
              <a:rPr lang="en-US" sz="2000" b="0" i="0" dirty="0">
                <a:effectLst/>
              </a:rPr>
              <a:t> vs </a:t>
            </a:r>
            <a:r>
              <a:rPr lang="en-US" sz="2000" b="0" i="0" dirty="0" err="1">
                <a:effectLst/>
              </a:rPr>
              <a:t>hSAT</a:t>
            </a:r>
            <a:r>
              <a:rPr lang="en-US" sz="2000" b="0" i="0" dirty="0">
                <a:effectLst/>
              </a:rPr>
              <a:t>)</a:t>
            </a:r>
            <a:endParaRPr lang="en-US" sz="2000" dirty="0">
              <a:solidFill>
                <a:srgbClr val="FF0000"/>
              </a:solidFill>
            </a:endParaRPr>
          </a:p>
        </p:txBody>
      </p:sp>
      <p:sp>
        <p:nvSpPr>
          <p:cNvPr id="67" name="TextBox 112">
            <a:extLst>
              <a:ext uri="{FF2B5EF4-FFF2-40B4-BE49-F238E27FC236}">
                <a16:creationId xmlns:a16="http://schemas.microsoft.com/office/drawing/2014/main" id="{C63BA4B0-DFF3-AC07-93D4-F6845E436D95}"/>
              </a:ext>
            </a:extLst>
          </p:cNvPr>
          <p:cNvSpPr txBox="1"/>
          <p:nvPr/>
        </p:nvSpPr>
        <p:spPr>
          <a:xfrm>
            <a:off x="22471696" y="29861643"/>
            <a:ext cx="8766033" cy="553998"/>
          </a:xfrm>
          <a:prstGeom prst="rect">
            <a:avLst/>
          </a:prstGeom>
          <a:noFill/>
        </p:spPr>
        <p:txBody>
          <a:bodyPr wrap="square" rtlCol="0">
            <a:spAutoFit/>
          </a:bodyPr>
          <a:lstStyle/>
          <a:p>
            <a:r>
              <a:rPr lang="en-US" sz="3000" b="1" u="sng" dirty="0"/>
              <a:t>Aim2 Results</a:t>
            </a:r>
          </a:p>
        </p:txBody>
      </p:sp>
      <p:sp>
        <p:nvSpPr>
          <p:cNvPr id="71" name="TextBox 112">
            <a:extLst>
              <a:ext uri="{FF2B5EF4-FFF2-40B4-BE49-F238E27FC236}">
                <a16:creationId xmlns:a16="http://schemas.microsoft.com/office/drawing/2014/main" id="{F7F8666B-1E90-46A7-B29C-716CB3030947}"/>
              </a:ext>
            </a:extLst>
          </p:cNvPr>
          <p:cNvSpPr txBox="1"/>
          <p:nvPr/>
        </p:nvSpPr>
        <p:spPr>
          <a:xfrm>
            <a:off x="6757541" y="37727995"/>
            <a:ext cx="2940977" cy="553998"/>
          </a:xfrm>
          <a:prstGeom prst="rect">
            <a:avLst/>
          </a:prstGeom>
          <a:noFill/>
        </p:spPr>
        <p:txBody>
          <a:bodyPr wrap="square" rtlCol="0">
            <a:spAutoFit/>
          </a:bodyPr>
          <a:lstStyle/>
          <a:p>
            <a:r>
              <a:rPr lang="en-US" sz="3000" b="1" u="sng" dirty="0"/>
              <a:t>References</a:t>
            </a:r>
          </a:p>
        </p:txBody>
      </p:sp>
      <p:sp>
        <p:nvSpPr>
          <p:cNvPr id="72" name="TextBox 149">
            <a:extLst>
              <a:ext uri="{FF2B5EF4-FFF2-40B4-BE49-F238E27FC236}">
                <a16:creationId xmlns:a16="http://schemas.microsoft.com/office/drawing/2014/main" id="{315050A6-07B0-9D6A-03E6-237F5DF3B7F8}"/>
              </a:ext>
            </a:extLst>
          </p:cNvPr>
          <p:cNvSpPr txBox="1"/>
          <p:nvPr/>
        </p:nvSpPr>
        <p:spPr>
          <a:xfrm>
            <a:off x="610966" y="38681893"/>
            <a:ext cx="14875468" cy="4093428"/>
          </a:xfrm>
          <a:prstGeom prst="rect">
            <a:avLst/>
          </a:prstGeom>
          <a:noFill/>
        </p:spPr>
        <p:txBody>
          <a:bodyPr wrap="square" rtlCol="0">
            <a:spAutoFit/>
          </a:bodyPr>
          <a:lstStyle/>
          <a:p>
            <a:r>
              <a:rPr lang="en-US" sz="2000" dirty="0"/>
              <a:t>[1] Or </a:t>
            </a:r>
            <a:r>
              <a:rPr lang="en-US" sz="2000" dirty="0" err="1"/>
              <a:t>Lazarescu</a:t>
            </a:r>
            <a:r>
              <a:rPr lang="en-US" sz="2000" dirty="0"/>
              <a:t>, Maya Ziv-Agam, Yulia Haim, </a:t>
            </a:r>
            <a:r>
              <a:rPr lang="en-US" sz="2000" dirty="0" err="1"/>
              <a:t>Idan</a:t>
            </a:r>
            <a:r>
              <a:rPr lang="en-US" sz="2000" dirty="0"/>
              <a:t> </a:t>
            </a:r>
            <a:r>
              <a:rPr lang="en-US" sz="2000" dirty="0" err="1"/>
              <a:t>Hekselman</a:t>
            </a:r>
            <a:r>
              <a:rPr lang="en-US" sz="2000" dirty="0"/>
              <a:t>, </a:t>
            </a:r>
            <a:r>
              <a:rPr lang="en-US" sz="2000" dirty="0" err="1"/>
              <a:t>Juman</a:t>
            </a:r>
            <a:r>
              <a:rPr lang="en-US" sz="2000" dirty="0"/>
              <a:t> </a:t>
            </a:r>
            <a:r>
              <a:rPr lang="en-US" sz="2000" dirty="0" err="1"/>
              <a:t>Jubran</a:t>
            </a:r>
            <a:r>
              <a:rPr lang="en-US" sz="2000" dirty="0"/>
              <a:t>, Ariel </a:t>
            </a:r>
            <a:r>
              <a:rPr lang="en-US" sz="2000" dirty="0" err="1"/>
              <a:t>Shneyour</a:t>
            </a:r>
            <a:r>
              <a:rPr lang="en-US" sz="2000" dirty="0"/>
              <a:t>, Danny </a:t>
            </a:r>
            <a:r>
              <a:rPr lang="en-US" sz="2000" dirty="0" err="1"/>
              <a:t>Kitsberg</a:t>
            </a:r>
            <a:r>
              <a:rPr lang="en-US" sz="2000" dirty="0"/>
              <a:t>, </a:t>
            </a:r>
            <a:r>
              <a:rPr lang="en-US" sz="2000" dirty="0" err="1"/>
              <a:t>Liron</a:t>
            </a:r>
            <a:r>
              <a:rPr lang="en-US" sz="2000" dirty="0"/>
              <a:t> Levin, </a:t>
            </a:r>
            <a:r>
              <a:rPr lang="en-US" sz="2000" dirty="0" err="1"/>
              <a:t>Idit</a:t>
            </a:r>
            <a:r>
              <a:rPr lang="en-US" sz="2000" dirty="0"/>
              <a:t> F Liberty, Uri </a:t>
            </a:r>
            <a:r>
              <a:rPr lang="en-US" sz="2000" dirty="0" err="1"/>
              <a:t>Yoel</a:t>
            </a:r>
            <a:r>
              <a:rPr lang="en-US" sz="2000" dirty="0"/>
              <a:t>, Oleg </a:t>
            </a:r>
            <a:r>
              <a:rPr lang="en-US" sz="2000" dirty="0" err="1"/>
              <a:t>Dukhno</a:t>
            </a:r>
            <a:r>
              <a:rPr lang="en-US" sz="2000" dirty="0"/>
              <a:t>, Miriam Adam, Antje </a:t>
            </a:r>
            <a:r>
              <a:rPr lang="en-US" sz="2000" dirty="0" err="1"/>
              <a:t>K¨orner</a:t>
            </a:r>
            <a:r>
              <a:rPr lang="en-US" sz="2000" dirty="0"/>
              <a:t>, Rinki Murphy, Matthias </a:t>
            </a:r>
            <a:r>
              <a:rPr lang="en-US" sz="2000" dirty="0" err="1"/>
              <a:t>Bl¨uher</a:t>
            </a:r>
            <a:r>
              <a:rPr lang="en-US" sz="2000" dirty="0"/>
              <a:t>, Naomi Habib, Assaf </a:t>
            </a:r>
            <a:r>
              <a:rPr lang="en-US" sz="2000" dirty="0" err="1"/>
              <a:t>Rudich</a:t>
            </a:r>
            <a:r>
              <a:rPr lang="en-US" sz="2000" dirty="0"/>
              <a:t>, and Esti. Yeger-</a:t>
            </a:r>
            <a:r>
              <a:rPr lang="en-US" sz="2000" dirty="0" err="1"/>
              <a:t>Lotem</a:t>
            </a:r>
            <a:r>
              <a:rPr lang="en-US" sz="2000" dirty="0"/>
              <a:t>. subcutaneous and visceral adipocyte atlases uncover classical and specialized adipocytes and depot-specific patterns. </a:t>
            </a:r>
            <a:r>
              <a:rPr lang="en-US" sz="2000" dirty="0" err="1"/>
              <a:t>BioRxiv</a:t>
            </a:r>
            <a:r>
              <a:rPr lang="en-US" sz="2000" dirty="0"/>
              <a:t>, 2023.</a:t>
            </a:r>
          </a:p>
          <a:p>
            <a:pPr algn="just"/>
            <a:endParaRPr lang="en-US" sz="2000" dirty="0"/>
          </a:p>
          <a:p>
            <a:pPr algn="just"/>
            <a:r>
              <a:rPr lang="en-US" sz="2000" dirty="0"/>
              <a:t>[2] A. </a:t>
            </a:r>
            <a:r>
              <a:rPr lang="en-US" sz="2000" dirty="0" err="1"/>
              <a:t>Bhaduri</a:t>
            </a:r>
            <a:r>
              <a:rPr lang="en-US" sz="2000" dirty="0"/>
              <a:t>, T.J. Nowakowski, A.A. Pollen, and A.R. Krieg stein. Identification of cell types in a mouse brain single-cell atlas using low sampling coverage. BMC Biology, 16(1):113, 2018</a:t>
            </a:r>
            <a:endParaRPr lang="he-IL" sz="2000" dirty="0"/>
          </a:p>
          <a:p>
            <a:pPr algn="just"/>
            <a:endParaRPr lang="en-US" sz="2000" dirty="0"/>
          </a:p>
          <a:p>
            <a:pPr algn="just"/>
            <a:r>
              <a:rPr lang="en-US" sz="2000" dirty="0"/>
              <a:t>[3] </a:t>
            </a:r>
            <a:r>
              <a:rPr lang="en-US" sz="2000" dirty="0" err="1"/>
              <a:t>HBCTRaining</a:t>
            </a:r>
            <a:r>
              <a:rPr lang="en-US" sz="2000" dirty="0"/>
              <a:t>. Pseudo bulk deseq2 for single-cell </a:t>
            </a:r>
            <a:r>
              <a:rPr lang="en-US" sz="2000" dirty="0" err="1"/>
              <a:t>rna</a:t>
            </a:r>
            <a:r>
              <a:rPr lang="en-US" sz="2000" dirty="0"/>
              <a:t>-seq. https://hbctraining. github.io/</a:t>
            </a:r>
            <a:r>
              <a:rPr lang="en-US" sz="2000" dirty="0" err="1"/>
              <a:t>scRNA-seq_online</a:t>
            </a:r>
            <a:r>
              <a:rPr lang="en-US" sz="2000" dirty="0"/>
              <a:t>/lessons/pseudobulk_DESeq2_scrnaseq.html, 2024. Accessed: 2024-05-26.</a:t>
            </a:r>
          </a:p>
          <a:p>
            <a:pPr algn="just"/>
            <a:endParaRPr lang="en-US" sz="2000" dirty="0"/>
          </a:p>
          <a:p>
            <a:pPr algn="just"/>
            <a:r>
              <a:rPr lang="en-US" sz="2000" dirty="0"/>
              <a:t>[4] Yu G, Wang L, Han Y, He Q (2012). “</a:t>
            </a:r>
            <a:r>
              <a:rPr lang="en-US" sz="2000" dirty="0" err="1"/>
              <a:t>clusterProfiler</a:t>
            </a:r>
            <a:r>
              <a:rPr lang="en-US" sz="2000" dirty="0"/>
              <a:t>: an R package for comparing biological themes among gene clusters.” OMICS: A Journal of Integrative Biology, 16(5), 284-287. doi:10.1089/omi.2011.0118.</a:t>
            </a:r>
          </a:p>
          <a:p>
            <a:pPr algn="just"/>
            <a:endParaRPr lang="en-US" sz="2000" dirty="0"/>
          </a:p>
        </p:txBody>
      </p:sp>
      <p:pic>
        <p:nvPicPr>
          <p:cNvPr id="58" name="Picture 57">
            <a:extLst>
              <a:ext uri="{FF2B5EF4-FFF2-40B4-BE49-F238E27FC236}">
                <a16:creationId xmlns:a16="http://schemas.microsoft.com/office/drawing/2014/main" id="{8A093A83-D7E7-E93E-5291-D18C42E8169B}"/>
              </a:ext>
            </a:extLst>
          </p:cNvPr>
          <p:cNvPicPr>
            <a:picLocks noChangeAspect="1"/>
          </p:cNvPicPr>
          <p:nvPr/>
        </p:nvPicPr>
        <p:blipFill>
          <a:blip r:embed="rId15"/>
          <a:stretch>
            <a:fillRect/>
          </a:stretch>
        </p:blipFill>
        <p:spPr>
          <a:xfrm>
            <a:off x="10483087" y="23879620"/>
            <a:ext cx="4509129" cy="2626875"/>
          </a:xfrm>
          <a:prstGeom prst="rect">
            <a:avLst/>
          </a:prstGeom>
        </p:spPr>
      </p:pic>
      <p:pic>
        <p:nvPicPr>
          <p:cNvPr id="74" name="Picture 73">
            <a:extLst>
              <a:ext uri="{FF2B5EF4-FFF2-40B4-BE49-F238E27FC236}">
                <a16:creationId xmlns:a16="http://schemas.microsoft.com/office/drawing/2014/main" id="{31A506EE-F165-0CA3-3B5B-F8426830598C}"/>
              </a:ext>
            </a:extLst>
          </p:cNvPr>
          <p:cNvPicPr>
            <a:picLocks noChangeAspect="1"/>
          </p:cNvPicPr>
          <p:nvPr/>
        </p:nvPicPr>
        <p:blipFill>
          <a:blip r:embed="rId16"/>
          <a:stretch>
            <a:fillRect/>
          </a:stretch>
        </p:blipFill>
        <p:spPr>
          <a:xfrm>
            <a:off x="1803187" y="12736277"/>
            <a:ext cx="12948016" cy="5512373"/>
          </a:xfrm>
          <a:prstGeom prst="rect">
            <a:avLst/>
          </a:prstGeom>
        </p:spPr>
      </p:pic>
      <p:sp>
        <p:nvSpPr>
          <p:cNvPr id="75" name="TextBox 74">
            <a:extLst>
              <a:ext uri="{FF2B5EF4-FFF2-40B4-BE49-F238E27FC236}">
                <a16:creationId xmlns:a16="http://schemas.microsoft.com/office/drawing/2014/main" id="{51FD61E1-FA1C-000E-6D34-E1A2B6A9E3C6}"/>
              </a:ext>
            </a:extLst>
          </p:cNvPr>
          <p:cNvSpPr txBox="1"/>
          <p:nvPr/>
        </p:nvSpPr>
        <p:spPr>
          <a:xfrm>
            <a:off x="6123097" y="12114630"/>
            <a:ext cx="9723172" cy="553998"/>
          </a:xfrm>
          <a:prstGeom prst="rect">
            <a:avLst/>
          </a:prstGeom>
          <a:noFill/>
        </p:spPr>
        <p:txBody>
          <a:bodyPr wrap="square" rtlCol="1">
            <a:spAutoFit/>
          </a:bodyPr>
          <a:lstStyle/>
          <a:p>
            <a:r>
              <a:rPr lang="en-US" sz="3000" b="1" u="sng" dirty="0"/>
              <a:t>Introduction</a:t>
            </a:r>
            <a:endParaRPr lang="he-IL" sz="3000" b="1" u="sng" dirty="0"/>
          </a:p>
        </p:txBody>
      </p:sp>
      <p:sp>
        <p:nvSpPr>
          <p:cNvPr id="76" name="TextBox 75">
            <a:extLst>
              <a:ext uri="{FF2B5EF4-FFF2-40B4-BE49-F238E27FC236}">
                <a16:creationId xmlns:a16="http://schemas.microsoft.com/office/drawing/2014/main" id="{39614FDA-D0C5-9863-9BD7-B00F788275F5}"/>
              </a:ext>
            </a:extLst>
          </p:cNvPr>
          <p:cNvSpPr txBox="1"/>
          <p:nvPr/>
        </p:nvSpPr>
        <p:spPr>
          <a:xfrm>
            <a:off x="883120" y="18264029"/>
            <a:ext cx="14725334" cy="1631216"/>
          </a:xfrm>
          <a:prstGeom prst="rect">
            <a:avLst/>
          </a:prstGeom>
          <a:noFill/>
        </p:spPr>
        <p:txBody>
          <a:bodyPr wrap="square" rtlCol="1">
            <a:spAutoFit/>
          </a:bodyPr>
          <a:lstStyle/>
          <a:p>
            <a:r>
              <a:rPr lang="en-US" sz="2000" b="1" i="0" dirty="0">
                <a:solidFill>
                  <a:srgbClr val="000000"/>
                </a:solidFill>
                <a:effectLst/>
                <a:highlight>
                  <a:srgbClr val="FFFFFF"/>
                </a:highlight>
              </a:rPr>
              <a:t>UMAP representations of human </a:t>
            </a:r>
            <a:r>
              <a:rPr lang="en-US" sz="2000" b="1" i="0" dirty="0" err="1">
                <a:solidFill>
                  <a:srgbClr val="000000"/>
                </a:solidFill>
                <a:effectLst/>
                <a:highlight>
                  <a:srgbClr val="FFFFFF"/>
                </a:highlight>
              </a:rPr>
              <a:t>hSAT</a:t>
            </a:r>
            <a:r>
              <a:rPr lang="en-US" sz="2000" b="1" i="0" dirty="0">
                <a:solidFill>
                  <a:srgbClr val="000000"/>
                </a:solidFill>
                <a:effectLst/>
                <a:highlight>
                  <a:srgbClr val="FFFFFF"/>
                </a:highlight>
              </a:rPr>
              <a:t> and </a:t>
            </a:r>
            <a:r>
              <a:rPr lang="en-US" sz="2000" b="1" i="0" dirty="0" err="1">
                <a:solidFill>
                  <a:srgbClr val="000000"/>
                </a:solidFill>
                <a:effectLst/>
                <a:highlight>
                  <a:srgbClr val="FFFFFF"/>
                </a:highlight>
              </a:rPr>
              <a:t>hVAT</a:t>
            </a:r>
            <a:r>
              <a:rPr lang="en-US" sz="2000" b="1" i="0" dirty="0">
                <a:solidFill>
                  <a:srgbClr val="000000"/>
                </a:solidFill>
                <a:effectLst/>
                <a:highlight>
                  <a:srgbClr val="FFFFFF"/>
                </a:highlight>
              </a:rPr>
              <a:t> adipocyte atlases, and pie charts showing the relative abundance of adipocyte subtypes.</a:t>
            </a:r>
          </a:p>
          <a:p>
            <a:pPr marL="285750" indent="-285750">
              <a:buFont typeface="Arial" panose="020B0604020202020204" pitchFamily="34" charset="0"/>
              <a:buChar char="•"/>
            </a:pPr>
            <a:r>
              <a:rPr lang="en-US" sz="2000" b="0" i="0" dirty="0">
                <a:solidFill>
                  <a:srgbClr val="000000"/>
                </a:solidFill>
                <a:effectLst/>
                <a:highlight>
                  <a:srgbClr val="FFFFFF"/>
                </a:highlight>
              </a:rPr>
              <a:t>The Yeger-</a:t>
            </a:r>
            <a:r>
              <a:rPr lang="en-US" sz="2000" b="0" i="0" dirty="0" err="1">
                <a:solidFill>
                  <a:srgbClr val="000000"/>
                </a:solidFill>
                <a:effectLst/>
                <a:highlight>
                  <a:srgbClr val="FFFFFF"/>
                </a:highlight>
              </a:rPr>
              <a:t>Lotem</a:t>
            </a:r>
            <a:r>
              <a:rPr lang="en-US" sz="2000" b="0" i="0" dirty="0">
                <a:solidFill>
                  <a:srgbClr val="000000"/>
                </a:solidFill>
                <a:effectLst/>
                <a:highlight>
                  <a:srgbClr val="FFFFFF"/>
                </a:highlight>
              </a:rPr>
              <a:t>, </a:t>
            </a:r>
            <a:r>
              <a:rPr lang="en-US" sz="2000" b="0" i="0" dirty="0" err="1">
                <a:solidFill>
                  <a:srgbClr val="000000"/>
                </a:solidFill>
                <a:effectLst/>
                <a:highlight>
                  <a:srgbClr val="FFFFFF"/>
                </a:highlight>
              </a:rPr>
              <a:t>Ruding</a:t>
            </a:r>
            <a:r>
              <a:rPr lang="en-US" sz="2000" b="0" i="0" dirty="0">
                <a:solidFill>
                  <a:srgbClr val="000000"/>
                </a:solidFill>
                <a:effectLst/>
                <a:highlight>
                  <a:srgbClr val="FFFFFF"/>
                </a:highlight>
              </a:rPr>
              <a:t>, and additional labs profiled 5 and 10 samples of human XX tissues, </a:t>
            </a:r>
          </a:p>
          <a:p>
            <a:r>
              <a:rPr lang="en-US" sz="2000" b="0" i="0" dirty="0">
                <a:solidFill>
                  <a:srgbClr val="000000"/>
                </a:solidFill>
                <a:effectLst/>
                <a:highlight>
                  <a:srgbClr val="FFFFFF"/>
                </a:highlight>
              </a:rPr>
              <a:t>respectively (</a:t>
            </a:r>
            <a:r>
              <a:rPr lang="en-US" sz="2000" b="0" i="0" dirty="0" err="1">
                <a:solidFill>
                  <a:srgbClr val="000000"/>
                </a:solidFill>
                <a:effectLst/>
                <a:highlight>
                  <a:srgbClr val="FFFFFF"/>
                </a:highlight>
              </a:rPr>
              <a:t>Lazaescu</a:t>
            </a:r>
            <a:r>
              <a:rPr lang="en-US" sz="2000" b="0" i="0" dirty="0">
                <a:solidFill>
                  <a:srgbClr val="000000"/>
                </a:solidFill>
                <a:effectLst/>
                <a:highlight>
                  <a:srgbClr val="FFFFFF"/>
                </a:highlight>
              </a:rPr>
              <a:t>, Ziv-Agam, et al, </a:t>
            </a:r>
            <a:r>
              <a:rPr lang="en-US" sz="2000" b="0" i="0" dirty="0" err="1">
                <a:solidFill>
                  <a:srgbClr val="000000"/>
                </a:solidFill>
                <a:effectLst/>
                <a:highlight>
                  <a:srgbClr val="FFFFFF"/>
                </a:highlight>
              </a:rPr>
              <a:t>bioRxiv</a:t>
            </a:r>
            <a:r>
              <a:rPr lang="en-US" sz="2000" b="0" i="0" dirty="0">
                <a:solidFill>
                  <a:srgbClr val="000000"/>
                </a:solidFill>
                <a:effectLst/>
                <a:highlight>
                  <a:srgbClr val="FFFFFF"/>
                </a:highlight>
              </a:rPr>
              <a:t> 2023, [1])</a:t>
            </a:r>
            <a:endParaRPr lang="en-US" sz="2000" b="1" i="0" dirty="0">
              <a:solidFill>
                <a:srgbClr val="000000"/>
              </a:solidFill>
              <a:effectLst/>
              <a:highlight>
                <a:srgbClr val="FFFFFF"/>
              </a:highlight>
            </a:endParaRPr>
          </a:p>
          <a:p>
            <a:pPr marL="342900" indent="-342900">
              <a:buFont typeface="Arial" panose="020B0604020202020204" pitchFamily="34" charset="0"/>
              <a:buChar char="•"/>
            </a:pPr>
            <a:r>
              <a:rPr lang="en-US" sz="2000" b="0" i="0" dirty="0">
                <a:solidFill>
                  <a:srgbClr val="000000"/>
                </a:solidFill>
                <a:effectLst/>
                <a:highlight>
                  <a:srgbClr val="FFFFFF"/>
                </a:highlight>
              </a:rPr>
              <a:t>They found 8 and 7 clusters which represent different adipocytes subtypes with unique functionalities in visceral and</a:t>
            </a:r>
          </a:p>
          <a:p>
            <a:r>
              <a:rPr lang="en-US" sz="2000" b="0" i="0" dirty="0">
                <a:solidFill>
                  <a:srgbClr val="000000"/>
                </a:solidFill>
                <a:effectLst/>
                <a:highlight>
                  <a:srgbClr val="FFFFFF"/>
                </a:highlight>
              </a:rPr>
              <a:t> subcutaneous depots, respectively </a:t>
            </a:r>
          </a:p>
        </p:txBody>
      </p:sp>
      <p:sp>
        <p:nvSpPr>
          <p:cNvPr id="79" name="TextBox 78">
            <a:extLst>
              <a:ext uri="{FF2B5EF4-FFF2-40B4-BE49-F238E27FC236}">
                <a16:creationId xmlns:a16="http://schemas.microsoft.com/office/drawing/2014/main" id="{D9673C28-1197-56BB-15F9-6DB13BFA1E02}"/>
              </a:ext>
            </a:extLst>
          </p:cNvPr>
          <p:cNvSpPr txBox="1"/>
          <p:nvPr/>
        </p:nvSpPr>
        <p:spPr>
          <a:xfrm>
            <a:off x="399949" y="28453259"/>
            <a:ext cx="14228144" cy="1200329"/>
          </a:xfrm>
          <a:prstGeom prst="rect">
            <a:avLst/>
          </a:prstGeom>
          <a:noFill/>
        </p:spPr>
        <p:txBody>
          <a:bodyPr wrap="square" rtlCol="1">
            <a:spAutoFit/>
          </a:bodyPr>
          <a:lstStyle/>
          <a:p>
            <a:pPr marL="285750" indent="-285750">
              <a:buFont typeface="Arial" panose="020B0604020202020204" pitchFamily="34" charset="0"/>
              <a:buChar char="•"/>
            </a:pPr>
            <a:r>
              <a:rPr lang="en-US" dirty="0"/>
              <a:t>We decreased 1000 randomly-selected nuclei in each iteration of the algorithm to produce smaller subgroups. We stopped decreasing when we reached less than 1000 nuclei in a subgroup</a:t>
            </a:r>
          </a:p>
          <a:p>
            <a:pPr marL="285750" indent="-285750">
              <a:buFont typeface="Arial" panose="020B0604020202020204" pitchFamily="34" charset="0"/>
              <a:buChar char="•"/>
            </a:pPr>
            <a:r>
              <a:rPr lang="en-US" dirty="0"/>
              <a:t>10 repetitions were done and gone through the cluster preservation analysis algorithm</a:t>
            </a:r>
          </a:p>
          <a:p>
            <a:pPr marL="285750" indent="-285750">
              <a:buFont typeface="Arial" panose="020B0604020202020204" pitchFamily="34" charset="0"/>
              <a:buChar char="•"/>
            </a:pPr>
            <a:r>
              <a:rPr lang="en-US" dirty="0"/>
              <a:t>The final cluster preservation results is the integration of all the repetitions</a:t>
            </a:r>
            <a:endParaRPr lang="he-IL" dirty="0"/>
          </a:p>
        </p:txBody>
      </p:sp>
      <p:sp>
        <p:nvSpPr>
          <p:cNvPr id="91" name="TextBox 90">
            <a:extLst>
              <a:ext uri="{FF2B5EF4-FFF2-40B4-BE49-F238E27FC236}">
                <a16:creationId xmlns:a16="http://schemas.microsoft.com/office/drawing/2014/main" id="{4091EADF-3762-4C99-9F8C-663A70567491}"/>
              </a:ext>
            </a:extLst>
          </p:cNvPr>
          <p:cNvSpPr txBox="1"/>
          <p:nvPr/>
        </p:nvSpPr>
        <p:spPr>
          <a:xfrm>
            <a:off x="22147554" y="13268729"/>
            <a:ext cx="1870256" cy="400110"/>
          </a:xfrm>
          <a:prstGeom prst="rect">
            <a:avLst/>
          </a:prstGeom>
          <a:noFill/>
        </p:spPr>
        <p:txBody>
          <a:bodyPr wrap="none" rtlCol="0">
            <a:spAutoFit/>
          </a:bodyPr>
          <a:lstStyle/>
          <a:p>
            <a:r>
              <a:rPr lang="en-US" sz="2000" u="sng" dirty="0"/>
              <a:t>Middle iteration</a:t>
            </a:r>
            <a:endParaRPr lang="en-IL" sz="2000" u="sng" dirty="0"/>
          </a:p>
        </p:txBody>
      </p:sp>
      <p:sp>
        <p:nvSpPr>
          <p:cNvPr id="92" name="TextBox 91">
            <a:extLst>
              <a:ext uri="{FF2B5EF4-FFF2-40B4-BE49-F238E27FC236}">
                <a16:creationId xmlns:a16="http://schemas.microsoft.com/office/drawing/2014/main" id="{0276622C-355B-0D8C-0263-33DBDE3D42F4}"/>
              </a:ext>
            </a:extLst>
          </p:cNvPr>
          <p:cNvSpPr txBox="1"/>
          <p:nvPr/>
        </p:nvSpPr>
        <p:spPr>
          <a:xfrm>
            <a:off x="28138074" y="13296575"/>
            <a:ext cx="1597040" cy="400110"/>
          </a:xfrm>
          <a:prstGeom prst="rect">
            <a:avLst/>
          </a:prstGeom>
          <a:noFill/>
        </p:spPr>
        <p:txBody>
          <a:bodyPr wrap="none" rtlCol="0">
            <a:spAutoFit/>
          </a:bodyPr>
          <a:lstStyle/>
          <a:p>
            <a:r>
              <a:rPr lang="en-US" sz="2000" u="sng" dirty="0"/>
              <a:t>Last decrease</a:t>
            </a:r>
            <a:endParaRPr lang="en-IL" sz="2000" u="sng" dirty="0"/>
          </a:p>
        </p:txBody>
      </p:sp>
      <p:sp>
        <p:nvSpPr>
          <p:cNvPr id="93" name="TextBox 142">
            <a:extLst>
              <a:ext uri="{FF2B5EF4-FFF2-40B4-BE49-F238E27FC236}">
                <a16:creationId xmlns:a16="http://schemas.microsoft.com/office/drawing/2014/main" id="{049B7401-8698-49E3-A592-EC8C09DFCEB2}"/>
              </a:ext>
            </a:extLst>
          </p:cNvPr>
          <p:cNvSpPr txBox="1"/>
          <p:nvPr/>
        </p:nvSpPr>
        <p:spPr>
          <a:xfrm>
            <a:off x="17230537" y="13299630"/>
            <a:ext cx="1640193" cy="400110"/>
          </a:xfrm>
          <a:prstGeom prst="rect">
            <a:avLst/>
          </a:prstGeom>
          <a:noFill/>
        </p:spPr>
        <p:txBody>
          <a:bodyPr wrap="none" rtlCol="0">
            <a:spAutoFit/>
          </a:bodyPr>
          <a:lstStyle/>
          <a:p>
            <a:r>
              <a:rPr lang="en-US" sz="2000" u="sng" dirty="0"/>
              <a:t>First iteration </a:t>
            </a:r>
            <a:endParaRPr lang="en-IL" sz="2000" u="sng" dirty="0"/>
          </a:p>
        </p:txBody>
      </p:sp>
      <p:sp>
        <p:nvSpPr>
          <p:cNvPr id="94" name="TextBox 93">
            <a:extLst>
              <a:ext uri="{FF2B5EF4-FFF2-40B4-BE49-F238E27FC236}">
                <a16:creationId xmlns:a16="http://schemas.microsoft.com/office/drawing/2014/main" id="{234C866D-8DDC-1256-9E5F-F473BC66CCB2}"/>
              </a:ext>
            </a:extLst>
          </p:cNvPr>
          <p:cNvSpPr txBox="1"/>
          <p:nvPr/>
        </p:nvSpPr>
        <p:spPr>
          <a:xfrm>
            <a:off x="16328666" y="12842209"/>
            <a:ext cx="780919" cy="400110"/>
          </a:xfrm>
          <a:prstGeom prst="rect">
            <a:avLst/>
          </a:prstGeom>
          <a:noFill/>
        </p:spPr>
        <p:txBody>
          <a:bodyPr wrap="none" rtlCol="0">
            <a:spAutoFit/>
          </a:bodyPr>
          <a:lstStyle/>
          <a:p>
            <a:r>
              <a:rPr lang="en-US" sz="2000" b="1" u="sng" dirty="0" err="1"/>
              <a:t>hVAT</a:t>
            </a:r>
            <a:r>
              <a:rPr lang="en-US" sz="2000" dirty="0"/>
              <a:t> </a:t>
            </a:r>
            <a:endParaRPr lang="en-IL" sz="2000" dirty="0"/>
          </a:p>
        </p:txBody>
      </p:sp>
      <p:sp>
        <p:nvSpPr>
          <p:cNvPr id="95" name="TextBox 94">
            <a:extLst>
              <a:ext uri="{FF2B5EF4-FFF2-40B4-BE49-F238E27FC236}">
                <a16:creationId xmlns:a16="http://schemas.microsoft.com/office/drawing/2014/main" id="{F3B8DBA2-F984-1655-4495-18B3E76F28EF}"/>
              </a:ext>
            </a:extLst>
          </p:cNvPr>
          <p:cNvSpPr txBox="1"/>
          <p:nvPr/>
        </p:nvSpPr>
        <p:spPr>
          <a:xfrm>
            <a:off x="16335756" y="17014639"/>
            <a:ext cx="760978" cy="400110"/>
          </a:xfrm>
          <a:prstGeom prst="rect">
            <a:avLst/>
          </a:prstGeom>
          <a:noFill/>
        </p:spPr>
        <p:txBody>
          <a:bodyPr wrap="none" rtlCol="0">
            <a:spAutoFit/>
          </a:bodyPr>
          <a:lstStyle/>
          <a:p>
            <a:r>
              <a:rPr lang="en-US" sz="2000" b="1" u="sng" dirty="0" err="1"/>
              <a:t>hSAT</a:t>
            </a:r>
            <a:r>
              <a:rPr lang="en-US" sz="2000" dirty="0"/>
              <a:t> </a:t>
            </a:r>
            <a:endParaRPr lang="en-IL" sz="2000" dirty="0"/>
          </a:p>
        </p:txBody>
      </p:sp>
      <p:cxnSp>
        <p:nvCxnSpPr>
          <p:cNvPr id="96" name="Straight Arrow Connector 95">
            <a:extLst>
              <a:ext uri="{FF2B5EF4-FFF2-40B4-BE49-F238E27FC236}">
                <a16:creationId xmlns:a16="http://schemas.microsoft.com/office/drawing/2014/main" id="{1A52D9FA-CE94-95E6-1512-05714E286589}"/>
              </a:ext>
            </a:extLst>
          </p:cNvPr>
          <p:cNvCxnSpPr>
            <a:cxnSpLocks/>
          </p:cNvCxnSpPr>
          <p:nvPr/>
        </p:nvCxnSpPr>
        <p:spPr>
          <a:xfrm>
            <a:off x="21508720" y="14897980"/>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7" name="Straight Arrow Connector 124">
            <a:extLst>
              <a:ext uri="{FF2B5EF4-FFF2-40B4-BE49-F238E27FC236}">
                <a16:creationId xmlns:a16="http://schemas.microsoft.com/office/drawing/2014/main" id="{85EBA27C-02D6-9060-8F14-7B74AD083FC7}"/>
              </a:ext>
            </a:extLst>
          </p:cNvPr>
          <p:cNvCxnSpPr>
            <a:cxnSpLocks/>
          </p:cNvCxnSpPr>
          <p:nvPr/>
        </p:nvCxnSpPr>
        <p:spPr>
          <a:xfrm>
            <a:off x="21107400" y="14897980"/>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124">
            <a:extLst>
              <a:ext uri="{FF2B5EF4-FFF2-40B4-BE49-F238E27FC236}">
                <a16:creationId xmlns:a16="http://schemas.microsoft.com/office/drawing/2014/main" id="{401541B3-ACF8-0782-01DB-67D4B42962D8}"/>
              </a:ext>
            </a:extLst>
          </p:cNvPr>
          <p:cNvCxnSpPr>
            <a:cxnSpLocks/>
          </p:cNvCxnSpPr>
          <p:nvPr/>
        </p:nvCxnSpPr>
        <p:spPr>
          <a:xfrm>
            <a:off x="20746720" y="14892900"/>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24">
            <a:extLst>
              <a:ext uri="{FF2B5EF4-FFF2-40B4-BE49-F238E27FC236}">
                <a16:creationId xmlns:a16="http://schemas.microsoft.com/office/drawing/2014/main" id="{F0E3D4D7-5E7A-B4E8-70BA-4F9687827DAC}"/>
              </a:ext>
            </a:extLst>
          </p:cNvPr>
          <p:cNvCxnSpPr>
            <a:cxnSpLocks/>
          </p:cNvCxnSpPr>
          <p:nvPr/>
        </p:nvCxnSpPr>
        <p:spPr>
          <a:xfrm>
            <a:off x="20360640" y="14887820"/>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24">
            <a:extLst>
              <a:ext uri="{FF2B5EF4-FFF2-40B4-BE49-F238E27FC236}">
                <a16:creationId xmlns:a16="http://schemas.microsoft.com/office/drawing/2014/main" id="{E65658B5-0A1D-2DB2-DD57-043B40591465}"/>
              </a:ext>
            </a:extLst>
          </p:cNvPr>
          <p:cNvCxnSpPr>
            <a:cxnSpLocks/>
          </p:cNvCxnSpPr>
          <p:nvPr/>
        </p:nvCxnSpPr>
        <p:spPr>
          <a:xfrm>
            <a:off x="19944080" y="14887820"/>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24">
            <a:extLst>
              <a:ext uri="{FF2B5EF4-FFF2-40B4-BE49-F238E27FC236}">
                <a16:creationId xmlns:a16="http://schemas.microsoft.com/office/drawing/2014/main" id="{BC7B7E82-08B1-A774-5134-5FB52169F84A}"/>
              </a:ext>
            </a:extLst>
          </p:cNvPr>
          <p:cNvCxnSpPr>
            <a:cxnSpLocks/>
          </p:cNvCxnSpPr>
          <p:nvPr/>
        </p:nvCxnSpPr>
        <p:spPr>
          <a:xfrm>
            <a:off x="26949400" y="14908140"/>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24">
            <a:extLst>
              <a:ext uri="{FF2B5EF4-FFF2-40B4-BE49-F238E27FC236}">
                <a16:creationId xmlns:a16="http://schemas.microsoft.com/office/drawing/2014/main" id="{812093CB-3D87-E1A7-CE11-2BDFEB886A63}"/>
              </a:ext>
            </a:extLst>
          </p:cNvPr>
          <p:cNvCxnSpPr>
            <a:cxnSpLocks/>
          </p:cNvCxnSpPr>
          <p:nvPr/>
        </p:nvCxnSpPr>
        <p:spPr>
          <a:xfrm>
            <a:off x="26548080" y="14908140"/>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24">
            <a:extLst>
              <a:ext uri="{FF2B5EF4-FFF2-40B4-BE49-F238E27FC236}">
                <a16:creationId xmlns:a16="http://schemas.microsoft.com/office/drawing/2014/main" id="{733DCF51-6987-9FBF-D62A-A81B6464D272}"/>
              </a:ext>
            </a:extLst>
          </p:cNvPr>
          <p:cNvCxnSpPr>
            <a:cxnSpLocks/>
          </p:cNvCxnSpPr>
          <p:nvPr/>
        </p:nvCxnSpPr>
        <p:spPr>
          <a:xfrm>
            <a:off x="26187400" y="14903060"/>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24">
            <a:extLst>
              <a:ext uri="{FF2B5EF4-FFF2-40B4-BE49-F238E27FC236}">
                <a16:creationId xmlns:a16="http://schemas.microsoft.com/office/drawing/2014/main" id="{ACA18E40-4FAC-4D3B-026C-77FBC6B90770}"/>
              </a:ext>
            </a:extLst>
          </p:cNvPr>
          <p:cNvCxnSpPr>
            <a:cxnSpLocks/>
          </p:cNvCxnSpPr>
          <p:nvPr/>
        </p:nvCxnSpPr>
        <p:spPr>
          <a:xfrm>
            <a:off x="25801320" y="14897980"/>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24">
            <a:extLst>
              <a:ext uri="{FF2B5EF4-FFF2-40B4-BE49-F238E27FC236}">
                <a16:creationId xmlns:a16="http://schemas.microsoft.com/office/drawing/2014/main" id="{D7ED8EB8-7652-C5FB-C559-4F8AB04159AC}"/>
              </a:ext>
            </a:extLst>
          </p:cNvPr>
          <p:cNvCxnSpPr>
            <a:cxnSpLocks/>
          </p:cNvCxnSpPr>
          <p:nvPr/>
        </p:nvCxnSpPr>
        <p:spPr>
          <a:xfrm>
            <a:off x="25384760" y="14897980"/>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24">
            <a:extLst>
              <a:ext uri="{FF2B5EF4-FFF2-40B4-BE49-F238E27FC236}">
                <a16:creationId xmlns:a16="http://schemas.microsoft.com/office/drawing/2014/main" id="{6EC812C8-FAC2-B9DA-6624-BCD297648B77}"/>
              </a:ext>
            </a:extLst>
          </p:cNvPr>
          <p:cNvCxnSpPr>
            <a:cxnSpLocks/>
          </p:cNvCxnSpPr>
          <p:nvPr/>
        </p:nvCxnSpPr>
        <p:spPr>
          <a:xfrm>
            <a:off x="21562870" y="19235875"/>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24">
            <a:extLst>
              <a:ext uri="{FF2B5EF4-FFF2-40B4-BE49-F238E27FC236}">
                <a16:creationId xmlns:a16="http://schemas.microsoft.com/office/drawing/2014/main" id="{B16D862C-FD24-EF86-7B20-261E807416AB}"/>
              </a:ext>
            </a:extLst>
          </p:cNvPr>
          <p:cNvCxnSpPr>
            <a:cxnSpLocks/>
          </p:cNvCxnSpPr>
          <p:nvPr/>
        </p:nvCxnSpPr>
        <p:spPr>
          <a:xfrm>
            <a:off x="21161550" y="19235875"/>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Straight Arrow Connector 124">
            <a:extLst>
              <a:ext uri="{FF2B5EF4-FFF2-40B4-BE49-F238E27FC236}">
                <a16:creationId xmlns:a16="http://schemas.microsoft.com/office/drawing/2014/main" id="{B491A5EF-2C8A-E8C6-CC6C-F6E487ADD43F}"/>
              </a:ext>
            </a:extLst>
          </p:cNvPr>
          <p:cNvCxnSpPr>
            <a:cxnSpLocks/>
          </p:cNvCxnSpPr>
          <p:nvPr/>
        </p:nvCxnSpPr>
        <p:spPr>
          <a:xfrm>
            <a:off x="20800870" y="19230795"/>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8" name="Straight Arrow Connector 124">
            <a:extLst>
              <a:ext uri="{FF2B5EF4-FFF2-40B4-BE49-F238E27FC236}">
                <a16:creationId xmlns:a16="http://schemas.microsoft.com/office/drawing/2014/main" id="{0A6E607D-71D7-84D0-66A2-F8BDFA1D7177}"/>
              </a:ext>
            </a:extLst>
          </p:cNvPr>
          <p:cNvCxnSpPr>
            <a:cxnSpLocks/>
          </p:cNvCxnSpPr>
          <p:nvPr/>
        </p:nvCxnSpPr>
        <p:spPr>
          <a:xfrm>
            <a:off x="20414790" y="19225715"/>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Straight Arrow Connector 124">
            <a:extLst>
              <a:ext uri="{FF2B5EF4-FFF2-40B4-BE49-F238E27FC236}">
                <a16:creationId xmlns:a16="http://schemas.microsoft.com/office/drawing/2014/main" id="{8A20D065-A188-8756-E707-3A6C4DCF200B}"/>
              </a:ext>
            </a:extLst>
          </p:cNvPr>
          <p:cNvCxnSpPr>
            <a:cxnSpLocks/>
          </p:cNvCxnSpPr>
          <p:nvPr/>
        </p:nvCxnSpPr>
        <p:spPr>
          <a:xfrm>
            <a:off x="19998230" y="19225715"/>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0" name="Straight Arrow Connector 124">
            <a:extLst>
              <a:ext uri="{FF2B5EF4-FFF2-40B4-BE49-F238E27FC236}">
                <a16:creationId xmlns:a16="http://schemas.microsoft.com/office/drawing/2014/main" id="{7EB03804-3CA6-96D5-49F6-C926C3959FE3}"/>
              </a:ext>
            </a:extLst>
          </p:cNvPr>
          <p:cNvCxnSpPr>
            <a:cxnSpLocks/>
          </p:cNvCxnSpPr>
          <p:nvPr/>
        </p:nvCxnSpPr>
        <p:spPr>
          <a:xfrm>
            <a:off x="27091511" y="19322235"/>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Straight Arrow Connector 124">
            <a:extLst>
              <a:ext uri="{FF2B5EF4-FFF2-40B4-BE49-F238E27FC236}">
                <a16:creationId xmlns:a16="http://schemas.microsoft.com/office/drawing/2014/main" id="{54807A89-8275-E7D6-57DF-7D9725D1F15C}"/>
              </a:ext>
            </a:extLst>
          </p:cNvPr>
          <p:cNvCxnSpPr>
            <a:cxnSpLocks/>
          </p:cNvCxnSpPr>
          <p:nvPr/>
        </p:nvCxnSpPr>
        <p:spPr>
          <a:xfrm>
            <a:off x="26690191" y="19322235"/>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4" name="Straight Arrow Connector 124">
            <a:extLst>
              <a:ext uri="{FF2B5EF4-FFF2-40B4-BE49-F238E27FC236}">
                <a16:creationId xmlns:a16="http://schemas.microsoft.com/office/drawing/2014/main" id="{A36FE258-CDE3-0EB3-152A-6B9A08DFF0DC}"/>
              </a:ext>
            </a:extLst>
          </p:cNvPr>
          <p:cNvCxnSpPr>
            <a:cxnSpLocks/>
          </p:cNvCxnSpPr>
          <p:nvPr/>
        </p:nvCxnSpPr>
        <p:spPr>
          <a:xfrm>
            <a:off x="26329511" y="19317155"/>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 name="Straight Arrow Connector 124">
            <a:extLst>
              <a:ext uri="{FF2B5EF4-FFF2-40B4-BE49-F238E27FC236}">
                <a16:creationId xmlns:a16="http://schemas.microsoft.com/office/drawing/2014/main" id="{5160383E-41AD-E940-7EE3-6E1AC7C04A84}"/>
              </a:ext>
            </a:extLst>
          </p:cNvPr>
          <p:cNvCxnSpPr>
            <a:cxnSpLocks/>
          </p:cNvCxnSpPr>
          <p:nvPr/>
        </p:nvCxnSpPr>
        <p:spPr>
          <a:xfrm>
            <a:off x="25943431" y="19312075"/>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4" name="Straight Arrow Connector 124">
            <a:extLst>
              <a:ext uri="{FF2B5EF4-FFF2-40B4-BE49-F238E27FC236}">
                <a16:creationId xmlns:a16="http://schemas.microsoft.com/office/drawing/2014/main" id="{3F3E8780-AEDE-26FC-EDCA-99683E693D93}"/>
              </a:ext>
            </a:extLst>
          </p:cNvPr>
          <p:cNvCxnSpPr>
            <a:cxnSpLocks/>
          </p:cNvCxnSpPr>
          <p:nvPr/>
        </p:nvCxnSpPr>
        <p:spPr>
          <a:xfrm>
            <a:off x="25526871" y="19312075"/>
            <a:ext cx="306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5" name="Rectangle: Rounded Corners 2">
            <a:extLst>
              <a:ext uri="{FF2B5EF4-FFF2-40B4-BE49-F238E27FC236}">
                <a16:creationId xmlns:a16="http://schemas.microsoft.com/office/drawing/2014/main" id="{4BF45082-F8A8-B02B-3907-3889A669C590}"/>
              </a:ext>
            </a:extLst>
          </p:cNvPr>
          <p:cNvSpPr/>
          <p:nvPr/>
        </p:nvSpPr>
        <p:spPr>
          <a:xfrm>
            <a:off x="279775" y="34453087"/>
            <a:ext cx="15625152" cy="3033535"/>
          </a:xfrm>
          <a:prstGeom prst="roundRect">
            <a:avLst>
              <a:gd name="adj" fmla="val 5227"/>
            </a:avLst>
          </a:prstGeom>
          <a:noFill/>
          <a:ln w="76200" cap="flat" cmpd="sng" algn="ctr">
            <a:solidFill>
              <a:srgbClr val="F8C200"/>
            </a:solidFill>
            <a:prstDash val="solid"/>
          </a:ln>
          <a:effectLst/>
        </p:spPr>
        <p:txBody>
          <a:bodyPr rtlCol="0" anchor="ctr"/>
          <a:lstStyle/>
          <a:p>
            <a:pPr algn="ctr" defTabSz="2082205">
              <a:defRPr/>
            </a:pPr>
            <a:endParaRPr lang="en-US" sz="3600" kern="0" dirty="0">
              <a:solidFill>
                <a:prstClr val="white"/>
              </a:solidFill>
              <a:latin typeface="Calibri"/>
            </a:endParaRPr>
          </a:p>
        </p:txBody>
      </p:sp>
      <p:sp>
        <p:nvSpPr>
          <p:cNvPr id="139" name="TextBox 1032">
            <a:extLst>
              <a:ext uri="{FF2B5EF4-FFF2-40B4-BE49-F238E27FC236}">
                <a16:creationId xmlns:a16="http://schemas.microsoft.com/office/drawing/2014/main" id="{B6994B5E-8870-1CAC-20BA-A8A0EB53C693}"/>
              </a:ext>
            </a:extLst>
          </p:cNvPr>
          <p:cNvSpPr txBox="1"/>
          <p:nvPr/>
        </p:nvSpPr>
        <p:spPr>
          <a:xfrm>
            <a:off x="6658041" y="34477829"/>
            <a:ext cx="2386187" cy="553998"/>
          </a:xfrm>
          <a:prstGeom prst="rect">
            <a:avLst/>
          </a:prstGeom>
          <a:noFill/>
        </p:spPr>
        <p:txBody>
          <a:bodyPr wrap="square" rtlCol="0">
            <a:spAutoFit/>
          </a:bodyPr>
          <a:lstStyle/>
          <a:p>
            <a:pPr algn="just"/>
            <a:r>
              <a:rPr lang="en-US" sz="3000" b="1" u="sng" dirty="0"/>
              <a:t>Conclusions</a:t>
            </a:r>
          </a:p>
        </p:txBody>
      </p:sp>
      <p:sp>
        <p:nvSpPr>
          <p:cNvPr id="140" name="תיבת טקסט 113">
            <a:extLst>
              <a:ext uri="{FF2B5EF4-FFF2-40B4-BE49-F238E27FC236}">
                <a16:creationId xmlns:a16="http://schemas.microsoft.com/office/drawing/2014/main" id="{D65BAF2C-9AAB-12B2-52AD-CE6050F6C422}"/>
              </a:ext>
            </a:extLst>
          </p:cNvPr>
          <p:cNvSpPr txBox="1"/>
          <p:nvPr/>
        </p:nvSpPr>
        <p:spPr>
          <a:xfrm>
            <a:off x="421530" y="34360683"/>
            <a:ext cx="15231379" cy="4031873"/>
          </a:xfrm>
          <a:prstGeom prst="rect">
            <a:avLst/>
          </a:prstGeom>
          <a:noFill/>
        </p:spPr>
        <p:txBody>
          <a:bodyPr wrap="square">
            <a:spAutoFit/>
          </a:bodyPr>
          <a:lstStyle/>
          <a:p>
            <a:endParaRPr lang="en-US" dirty="0"/>
          </a:p>
          <a:p>
            <a:r>
              <a:rPr lang="en-US" sz="2000" u="sng" dirty="0"/>
              <a:t>Aim1 results: </a:t>
            </a:r>
          </a:p>
          <a:p>
            <a:pPr marL="342900" indent="-342900">
              <a:buFont typeface="Arial" panose="020B0604020202020204" pitchFamily="34" charset="0"/>
              <a:buChar char="•"/>
            </a:pPr>
            <a:r>
              <a:rPr lang="en-US" sz="2000" dirty="0"/>
              <a:t>Increasing the sample size improves cluster preservation until it plateaus</a:t>
            </a:r>
          </a:p>
          <a:p>
            <a:pPr marL="342900" indent="-342900">
              <a:buFont typeface="Arial" panose="020B0604020202020204" pitchFamily="34" charset="0"/>
              <a:buChar char="•"/>
            </a:pPr>
            <a:r>
              <a:rPr lang="en-US" sz="2000" dirty="0"/>
              <a:t>Preservation plateaus at around 6000 nuclei in both visceral and subcutaneous datasets</a:t>
            </a:r>
          </a:p>
          <a:p>
            <a:pPr marL="342900" indent="-342900">
              <a:buFont typeface="Arial" panose="020B0604020202020204" pitchFamily="34" charset="0"/>
              <a:buChar char="•"/>
            </a:pPr>
            <a:r>
              <a:rPr lang="en-US" sz="2000" dirty="0"/>
              <a:t>The actual sample size, more than double the plateau number, indicates more than adequate sampling, suggesting fewer nuclei could still achieve comprehensive adipocyte subtype representation</a:t>
            </a:r>
          </a:p>
          <a:p>
            <a:r>
              <a:rPr lang="en-US" sz="2000" u="sng" dirty="0"/>
              <a:t>Aim2 results:</a:t>
            </a:r>
          </a:p>
          <a:p>
            <a:pPr marL="342900" indent="-342900">
              <a:buFont typeface="Arial" panose="020B0604020202020204" pitchFamily="34" charset="0"/>
              <a:buChar char="•"/>
            </a:pPr>
            <a:r>
              <a:rPr lang="en-US" sz="2000" dirty="0" err="1"/>
              <a:t>hVAT</a:t>
            </a:r>
            <a:r>
              <a:rPr lang="en-US" sz="2000" dirty="0"/>
              <a:t> and </a:t>
            </a:r>
            <a:r>
              <a:rPr lang="en-US" sz="2000" dirty="0" err="1"/>
              <a:t>hSAT</a:t>
            </a:r>
            <a:r>
              <a:rPr lang="en-US" sz="2000" dirty="0"/>
              <a:t> adipocytes differ in functionalities</a:t>
            </a:r>
          </a:p>
          <a:p>
            <a:pPr marL="342900" indent="-342900">
              <a:buFont typeface="Arial" panose="020B0604020202020204" pitchFamily="34" charset="0"/>
              <a:buChar char="•"/>
            </a:pPr>
            <a:r>
              <a:rPr lang="en-US" sz="2000" dirty="0" err="1"/>
              <a:t>hVAT</a:t>
            </a:r>
            <a:r>
              <a:rPr lang="en-US" sz="2000" dirty="0"/>
              <a:t> adipocytes are enriched for mitochondrial processes compared to </a:t>
            </a:r>
            <a:r>
              <a:rPr lang="en-US" sz="2000" dirty="0" err="1"/>
              <a:t>hSAT</a:t>
            </a:r>
            <a:r>
              <a:rPr lang="en-US" sz="2000" dirty="0"/>
              <a:t> adipocytes</a:t>
            </a:r>
          </a:p>
          <a:p>
            <a:pPr marL="342900" indent="-342900">
              <a:buFont typeface="Arial" panose="020B0604020202020204" pitchFamily="34" charset="0"/>
              <a:buChar char="•"/>
            </a:pPr>
            <a:r>
              <a:rPr lang="en-US" sz="2000" dirty="0"/>
              <a:t>Reinforces single-cell differential expression analysis by providing an additional perspective.</a:t>
            </a:r>
          </a:p>
          <a:p>
            <a:endParaRPr lang="en-US" sz="2000" dirty="0"/>
          </a:p>
          <a:p>
            <a:endParaRPr lang="en-US" sz="2000" dirty="0"/>
          </a:p>
          <a:p>
            <a:endParaRPr lang="he-IL" dirty="0"/>
          </a:p>
        </p:txBody>
      </p:sp>
      <p:pic>
        <p:nvPicPr>
          <p:cNvPr id="149" name="Picture 148">
            <a:extLst>
              <a:ext uri="{FF2B5EF4-FFF2-40B4-BE49-F238E27FC236}">
                <a16:creationId xmlns:a16="http://schemas.microsoft.com/office/drawing/2014/main" id="{0B05537B-B9AE-9019-6FA0-20AD325555F3}"/>
              </a:ext>
            </a:extLst>
          </p:cNvPr>
          <p:cNvPicPr>
            <a:picLocks noChangeAspect="1"/>
          </p:cNvPicPr>
          <p:nvPr/>
        </p:nvPicPr>
        <p:blipFill>
          <a:blip r:embed="rId17"/>
          <a:stretch>
            <a:fillRect/>
          </a:stretch>
        </p:blipFill>
        <p:spPr>
          <a:xfrm>
            <a:off x="20662661" y="36633828"/>
            <a:ext cx="6720193" cy="3275644"/>
          </a:xfrm>
          <a:prstGeom prst="rect">
            <a:avLst/>
          </a:prstGeom>
        </p:spPr>
      </p:pic>
      <p:pic>
        <p:nvPicPr>
          <p:cNvPr id="156" name="Picture 155">
            <a:extLst>
              <a:ext uri="{FF2B5EF4-FFF2-40B4-BE49-F238E27FC236}">
                <a16:creationId xmlns:a16="http://schemas.microsoft.com/office/drawing/2014/main" id="{76C94A2D-60FB-E0CB-1376-2C8E1E277ED4}"/>
              </a:ext>
            </a:extLst>
          </p:cNvPr>
          <p:cNvPicPr>
            <a:picLocks noChangeAspect="1"/>
          </p:cNvPicPr>
          <p:nvPr/>
        </p:nvPicPr>
        <p:blipFill>
          <a:blip r:embed="rId18"/>
          <a:stretch>
            <a:fillRect/>
          </a:stretch>
        </p:blipFill>
        <p:spPr>
          <a:xfrm>
            <a:off x="0" y="21293"/>
            <a:ext cx="32399287" cy="6315268"/>
          </a:xfrm>
          <a:prstGeom prst="rect">
            <a:avLst/>
          </a:prstGeom>
        </p:spPr>
      </p:pic>
      <p:sp>
        <p:nvSpPr>
          <p:cNvPr id="157" name="TextBox 156">
            <a:extLst>
              <a:ext uri="{FF2B5EF4-FFF2-40B4-BE49-F238E27FC236}">
                <a16:creationId xmlns:a16="http://schemas.microsoft.com/office/drawing/2014/main" id="{A4CD7B00-71D0-ACFF-6940-7803D75B2468}"/>
              </a:ext>
            </a:extLst>
          </p:cNvPr>
          <p:cNvSpPr txBox="1"/>
          <p:nvPr/>
        </p:nvSpPr>
        <p:spPr>
          <a:xfrm>
            <a:off x="17511921" y="30421614"/>
            <a:ext cx="340158" cy="400110"/>
          </a:xfrm>
          <a:prstGeom prst="rect">
            <a:avLst/>
          </a:prstGeom>
          <a:noFill/>
        </p:spPr>
        <p:txBody>
          <a:bodyPr wrap="none" rtlCol="1">
            <a:spAutoFit/>
          </a:bodyPr>
          <a:lstStyle/>
          <a:p>
            <a:r>
              <a:rPr lang="en-US" sz="2000" b="1" dirty="0"/>
              <a:t>A</a:t>
            </a:r>
            <a:endParaRPr lang="he-IL" sz="2000" b="1" dirty="0"/>
          </a:p>
        </p:txBody>
      </p:sp>
      <p:sp>
        <p:nvSpPr>
          <p:cNvPr id="158" name="TextBox 157">
            <a:extLst>
              <a:ext uri="{FF2B5EF4-FFF2-40B4-BE49-F238E27FC236}">
                <a16:creationId xmlns:a16="http://schemas.microsoft.com/office/drawing/2014/main" id="{C0A51480-B5D1-75CD-C636-B4EEEB468F6E}"/>
              </a:ext>
            </a:extLst>
          </p:cNvPr>
          <p:cNvSpPr txBox="1"/>
          <p:nvPr/>
        </p:nvSpPr>
        <p:spPr>
          <a:xfrm>
            <a:off x="24532895" y="30523521"/>
            <a:ext cx="340158" cy="400110"/>
          </a:xfrm>
          <a:prstGeom prst="rect">
            <a:avLst/>
          </a:prstGeom>
          <a:noFill/>
        </p:spPr>
        <p:txBody>
          <a:bodyPr wrap="none" rtlCol="1">
            <a:spAutoFit/>
          </a:bodyPr>
          <a:lstStyle/>
          <a:p>
            <a:r>
              <a:rPr lang="en-US" sz="2000" b="1" dirty="0"/>
              <a:t>B</a:t>
            </a:r>
            <a:endParaRPr lang="he-IL" sz="2000" b="1" dirty="0"/>
          </a:p>
        </p:txBody>
      </p:sp>
      <p:sp>
        <p:nvSpPr>
          <p:cNvPr id="33" name="TextBox 32">
            <a:extLst>
              <a:ext uri="{FF2B5EF4-FFF2-40B4-BE49-F238E27FC236}">
                <a16:creationId xmlns:a16="http://schemas.microsoft.com/office/drawing/2014/main" id="{48F41B6E-26F0-3ACE-5FA5-4FAFBFBCBA73}"/>
              </a:ext>
            </a:extLst>
          </p:cNvPr>
          <p:cNvSpPr txBox="1"/>
          <p:nvPr/>
        </p:nvSpPr>
        <p:spPr>
          <a:xfrm>
            <a:off x="5178575" y="13001258"/>
            <a:ext cx="1595309" cy="400110"/>
          </a:xfrm>
          <a:prstGeom prst="rect">
            <a:avLst/>
          </a:prstGeom>
          <a:noFill/>
        </p:spPr>
        <p:txBody>
          <a:bodyPr wrap="none" rtlCol="1">
            <a:spAutoFit/>
          </a:bodyPr>
          <a:lstStyle/>
          <a:p>
            <a:r>
              <a:rPr lang="en-US" sz="2000" b="1" dirty="0"/>
              <a:t>12,205 nuclei</a:t>
            </a:r>
            <a:endParaRPr lang="he-IL" sz="2000" b="1" dirty="0"/>
          </a:p>
        </p:txBody>
      </p:sp>
      <p:sp>
        <p:nvSpPr>
          <p:cNvPr id="47" name="TextBox 46">
            <a:extLst>
              <a:ext uri="{FF2B5EF4-FFF2-40B4-BE49-F238E27FC236}">
                <a16:creationId xmlns:a16="http://schemas.microsoft.com/office/drawing/2014/main" id="{DBB07A5D-D2B5-D129-0A82-D8C9C983B5B5}"/>
              </a:ext>
            </a:extLst>
          </p:cNvPr>
          <p:cNvSpPr txBox="1"/>
          <p:nvPr/>
        </p:nvSpPr>
        <p:spPr>
          <a:xfrm>
            <a:off x="11558910" y="12974315"/>
            <a:ext cx="1580882" cy="400110"/>
          </a:xfrm>
          <a:prstGeom prst="rect">
            <a:avLst/>
          </a:prstGeom>
          <a:noFill/>
        </p:spPr>
        <p:txBody>
          <a:bodyPr wrap="none" rtlCol="1">
            <a:spAutoFit/>
          </a:bodyPr>
          <a:lstStyle/>
          <a:p>
            <a:r>
              <a:rPr lang="en-US" sz="2000" b="1" dirty="0"/>
              <a:t>15,460 nuclei</a:t>
            </a:r>
            <a:endParaRPr lang="he-IL" sz="2000" b="1" dirty="0"/>
          </a:p>
        </p:txBody>
      </p:sp>
      <p:pic>
        <p:nvPicPr>
          <p:cNvPr id="50" name="Picture 49">
            <a:extLst>
              <a:ext uri="{FF2B5EF4-FFF2-40B4-BE49-F238E27FC236}">
                <a16:creationId xmlns:a16="http://schemas.microsoft.com/office/drawing/2014/main" id="{AFD48A79-F385-9524-D3BA-9D58FB94920E}"/>
              </a:ext>
            </a:extLst>
          </p:cNvPr>
          <p:cNvPicPr>
            <a:picLocks noChangeAspect="1"/>
          </p:cNvPicPr>
          <p:nvPr/>
        </p:nvPicPr>
        <p:blipFill>
          <a:blip r:embed="rId19"/>
          <a:stretch>
            <a:fillRect/>
          </a:stretch>
        </p:blipFill>
        <p:spPr>
          <a:xfrm>
            <a:off x="-1" y="17508"/>
            <a:ext cx="32399289" cy="6335838"/>
          </a:xfrm>
          <a:prstGeom prst="rect">
            <a:avLst/>
          </a:prstGeom>
        </p:spPr>
      </p:pic>
      <p:pic>
        <p:nvPicPr>
          <p:cNvPr id="60" name="Picture 59">
            <a:extLst>
              <a:ext uri="{FF2B5EF4-FFF2-40B4-BE49-F238E27FC236}">
                <a16:creationId xmlns:a16="http://schemas.microsoft.com/office/drawing/2014/main" id="{1668E34B-4852-7486-F450-9474E5415AD0}"/>
              </a:ext>
            </a:extLst>
          </p:cNvPr>
          <p:cNvPicPr>
            <a:picLocks noChangeAspect="1"/>
          </p:cNvPicPr>
          <p:nvPr/>
        </p:nvPicPr>
        <p:blipFill>
          <a:blip r:embed="rId20"/>
          <a:stretch>
            <a:fillRect/>
          </a:stretch>
        </p:blipFill>
        <p:spPr>
          <a:xfrm>
            <a:off x="-1" y="-55158"/>
            <a:ext cx="32399288" cy="6355899"/>
          </a:xfrm>
          <a:prstGeom prst="rect">
            <a:avLst/>
          </a:prstGeom>
        </p:spPr>
      </p:pic>
    </p:spTree>
    <p:extLst>
      <p:ext uri="{BB962C8B-B14F-4D97-AF65-F5344CB8AC3E}">
        <p14:creationId xmlns:p14="http://schemas.microsoft.com/office/powerpoint/2010/main" val="23901423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מסמך" ma:contentTypeID="0x010100818D718ABFA14F4298D80C8FB98964BC" ma:contentTypeVersion="3" ma:contentTypeDescription="צור מסמך חדש." ma:contentTypeScope="" ma:versionID="c117aa30dcf0212e526b81a61b776a77">
  <xsd:schema xmlns:xsd="http://www.w3.org/2001/XMLSchema" xmlns:xs="http://www.w3.org/2001/XMLSchema" xmlns:p="http://schemas.microsoft.com/office/2006/metadata/properties" xmlns:ns3="b648f0d5-d1b0-49bf-8c1d-1f9c8671303c" targetNamespace="http://schemas.microsoft.com/office/2006/metadata/properties" ma:root="true" ma:fieldsID="c8566914a3bad77844844bc6e3afc633" ns3:_="">
    <xsd:import namespace="b648f0d5-d1b0-49bf-8c1d-1f9c8671303c"/>
    <xsd:element name="properties">
      <xsd:complexType>
        <xsd:sequence>
          <xsd:element name="documentManagement">
            <xsd:complexType>
              <xsd:all>
                <xsd:element ref="ns3:MediaServiceMetadata" minOccurs="0"/>
                <xsd:element ref="ns3:MediaServiceFastMetadata"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48f0d5-d1b0-49bf-8c1d-1f9c867130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סוג תוכן"/>
        <xsd:element ref="dc:title" minOccurs="0" maxOccurs="1" ma:index="4" ma:displayName="כותר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1E00D8-D240-44F2-8FF9-A12313DACF5D}">
  <ds:schemaRefs>
    <ds:schemaRef ds:uri="http://schemas.microsoft.com/sharepoint/v3/contenttype/forms"/>
  </ds:schemaRefs>
</ds:datastoreItem>
</file>

<file path=customXml/itemProps2.xml><?xml version="1.0" encoding="utf-8"?>
<ds:datastoreItem xmlns:ds="http://schemas.openxmlformats.org/officeDocument/2006/customXml" ds:itemID="{DEB8208D-6D77-4417-874A-ECDA95574F65}">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b648f0d5-d1b0-49bf-8c1d-1f9c8671303c"/>
    <ds:schemaRef ds:uri="http://www.w3.org/XML/1998/namespace"/>
    <ds:schemaRef ds:uri="http://purl.org/dc/dcmitype/"/>
  </ds:schemaRefs>
</ds:datastoreItem>
</file>

<file path=customXml/itemProps3.xml><?xml version="1.0" encoding="utf-8"?>
<ds:datastoreItem xmlns:ds="http://schemas.openxmlformats.org/officeDocument/2006/customXml" ds:itemID="{4A3E5EA1-CE1A-4F3C-8F9B-5FC5E20777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48f0d5-d1b0-49bf-8c1d-1f9c8671303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7225</TotalTime>
  <Words>1293</Words>
  <Application>Microsoft Office PowerPoint</Application>
  <PresentationFormat>Custom</PresentationFormat>
  <Paragraphs>106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Open Sans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אור לזרסקו</dc:creator>
  <cp:lastModifiedBy>tom ulanovski</cp:lastModifiedBy>
  <cp:revision>82</cp:revision>
  <dcterms:created xsi:type="dcterms:W3CDTF">2022-04-07T12:37:05Z</dcterms:created>
  <dcterms:modified xsi:type="dcterms:W3CDTF">2024-07-15T06:21:38Z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0x010100818D718ABFA14F4298D80C8FB98964BC</vt:lpwstr>
  </property>
</Properties>
</file>