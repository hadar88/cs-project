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T Sans Narrow"/>
      <p:regular r:id="rId16"/>
      <p:bold r:id="rId17"/>
    </p:embeddedFont>
    <p:embeddedFont>
      <p:font typeface="Assistant"/>
      <p:regular r:id="rId18"/>
      <p:bold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TSansNarrow-bold.fntdata"/><Relationship Id="rId16" Type="http://schemas.openxmlformats.org/officeDocument/2006/relationships/font" Target="fonts/PTSansNarrow-regular.fntdata"/><Relationship Id="rId19" Type="http://schemas.openxmlformats.org/officeDocument/2006/relationships/font" Target="fonts/Assistant-bold.fntdata"/><Relationship Id="rId18" Type="http://schemas.openxmlformats.org/officeDocument/2006/relationships/font" Target="fonts/Assistan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4f62e67f6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4f62e67f6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initial 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Doesn’t matter hard they are, or how smart the people - </a:t>
            </a:r>
            <a:r>
              <a:rPr lang="en">
                <a:solidFill>
                  <a:schemeClr val="dk1"/>
                </a:solidFill>
              </a:rPr>
              <a:t>Solutions are non-trivial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Probability can contradict our common conception of how things 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Boy or girl “paradox”, monty hall, two envelopes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1127780e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1127780e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תרחישים / תסריט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1988853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51988853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51127780e1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51127780e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514ba72d3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514ba72d3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e3e2efaf8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e3e2efaf8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דוגמה נוספת להכללה של הרעיון: תוכנית בה אנחנו רוצים לקבל הסתברויות עבור פרמטרים לאו דווקא ידועים מראש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14ba72d3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14ba72d3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הבעיה העיקרית היא בקנה המידה - כל משתנה מקרי של sync הוא טבלה בגודל מספר האירועים, כפול מספר threads, כפול מצבים בכל thread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אנחנו רוצים להיות מסוגלים לבנות מודל יותר מותאם לבעיה, במקום תרגום כללי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3e2efaf8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e3e2efaf8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Probabilistic programming allows us to condition the model on certain events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3e2efaf8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e3e2efaf8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Probabilistic Modeling and Nested Inference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2000">
                <a:latin typeface="Assistant"/>
                <a:ea typeface="Assistant"/>
                <a:cs typeface="Assistant"/>
                <a:sym typeface="Assistant"/>
              </a:rPr>
              <a:t>Jules Zisser</a:t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b="1" lang="en" sz="2000">
                <a:latin typeface="Assistant"/>
                <a:ea typeface="Assistant"/>
                <a:cs typeface="Assistant"/>
                <a:sym typeface="Assistant"/>
              </a:rPr>
              <a:t>Advisors: Prof. Gera Weiss</a:t>
            </a:r>
            <a:endParaRPr b="1" sz="2000"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M</a:t>
            </a:r>
            <a:r>
              <a:rPr lang="en">
                <a:latin typeface="Assistant"/>
                <a:ea typeface="Assistant"/>
                <a:cs typeface="Assistant"/>
                <a:sym typeface="Assistant"/>
              </a:rPr>
              <a:t>otivation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3000"/>
              </a:spcAft>
              <a:buClr>
                <a:srgbClr val="999999"/>
              </a:buClr>
              <a:buSzPts val="22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People often make mistakes about probabilistic problems.</a:t>
            </a:r>
            <a:endParaRPr b="1" sz="2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750" y="3247450"/>
            <a:ext cx="3228526" cy="152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4">
            <a:alphaModFix/>
          </a:blip>
          <a:srcRect b="8366" l="3605" r="1274" t="6178"/>
          <a:stretch/>
        </p:blipFill>
        <p:spPr>
          <a:xfrm>
            <a:off x="5624275" y="1822088"/>
            <a:ext cx="2703200" cy="13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125" y="2029463"/>
            <a:ext cx="1744475" cy="17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Proposed Solution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2100"/>
              <a:buFont typeface="Assistant"/>
              <a:buChar char="➔"/>
            </a:pP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Use an intuitive way to describe probabilistic problems in order to model them</a:t>
            </a: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b="1" sz="21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999999"/>
              </a:buClr>
              <a:buSzPts val="2100"/>
              <a:buFont typeface="Assistant"/>
              <a:buChar char="➔"/>
            </a:pP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Scenario-based specification of </a:t>
            </a:r>
            <a:r>
              <a:rPr b="1" lang="en" sz="2100">
                <a:solidFill>
                  <a:srgbClr val="1155CC"/>
                </a:solidFill>
                <a:latin typeface="Assistant"/>
                <a:ea typeface="Assistant"/>
                <a:cs typeface="Assistant"/>
                <a:sym typeface="Assistant"/>
              </a:rPr>
              <a:t>must</a:t>
            </a: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b="1" lang="en" sz="2100">
                <a:solidFill>
                  <a:schemeClr val="accent5"/>
                </a:solidFill>
                <a:latin typeface="Assistant"/>
                <a:ea typeface="Assistant"/>
                <a:cs typeface="Assistant"/>
                <a:sym typeface="Assistant"/>
              </a:rPr>
              <a:t>may</a:t>
            </a: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b="1" lang="en" sz="2100">
                <a:solidFill>
                  <a:srgbClr val="FF0000"/>
                </a:solidFill>
                <a:latin typeface="Assistant"/>
                <a:ea typeface="Assistant"/>
                <a:cs typeface="Assistant"/>
                <a:sym typeface="Assistant"/>
              </a:rPr>
              <a:t>may-not</a:t>
            </a: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 occur and probabilities.</a:t>
            </a:r>
            <a:endParaRPr b="1" sz="21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61950" lvl="0" marL="457200" rtl="0" algn="l">
              <a:lnSpc>
                <a:spcPct val="90000"/>
              </a:lnSpc>
              <a:spcBef>
                <a:spcPts val="3000"/>
              </a:spcBef>
              <a:spcAft>
                <a:spcPts val="3000"/>
              </a:spcAft>
              <a:buClr>
                <a:srgbClr val="999999"/>
              </a:buClr>
              <a:buSzPts val="2100"/>
              <a:buFont typeface="Assistant"/>
              <a:buChar char="➔"/>
            </a:pPr>
            <a:r>
              <a:rPr b="1" lang="en" sz="21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The program utilises probabilistic programming to infer the answer given the model.</a:t>
            </a:r>
            <a:endParaRPr b="1" sz="21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311700" y="527425"/>
            <a:ext cx="787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rPr>
              <a:t>Typical Model Trade-off</a:t>
            </a:r>
            <a:endParaRPr b="1" sz="3600">
              <a:solidFill>
                <a:schemeClr val="accen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3770255" y="2356053"/>
            <a:ext cx="1470300" cy="431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224" y="1751150"/>
            <a:ext cx="1470299" cy="109647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41151" y="2784950"/>
            <a:ext cx="3344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Generic catch-all model</a:t>
            </a:r>
            <a:endParaRPr b="1"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+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Easy to use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-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Easy to use incorrectly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-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Requires lots of data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5703" y="1785161"/>
            <a:ext cx="1162591" cy="102844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4700075" y="2784950"/>
            <a:ext cx="3879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Specialized model</a:t>
            </a:r>
            <a:endParaRPr b="1"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+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Less data required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9144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+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Versatile use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5600" lvl="0" marL="45720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Assistant"/>
              <a:buChar char="-"/>
            </a:pPr>
            <a:r>
              <a:rPr lang="en" sz="20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Difficult and time consuming</a:t>
            </a:r>
            <a:endParaRPr sz="20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Method</a:t>
            </a:r>
            <a:r>
              <a:rPr lang="en">
                <a:latin typeface="Assistant"/>
                <a:ea typeface="Assistant"/>
                <a:cs typeface="Assistant"/>
                <a:sym typeface="Assistant"/>
              </a:rPr>
              <a:t> - Behavioral Programming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6901" y="1596249"/>
            <a:ext cx="3296251" cy="16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25"/>
            <a:ext cx="55116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Multiple threads to describe the scenario.</a:t>
            </a:r>
            <a:endParaRPr b="1" sz="2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rgbClr val="999999"/>
              </a:buClr>
              <a:buSzPts val="22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Each one acts like an automaton, with special sync nodes to communicate between threads.</a:t>
            </a:r>
            <a:endParaRPr b="1" sz="2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4887" y="3532325"/>
            <a:ext cx="4381174" cy="11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3649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Problem Example - Monty Hall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723753" y="1993447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req:</a:t>
            </a: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hide_1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hide_2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hide_3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1996497" y="1993447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eq: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guess_1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guess_2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guess_3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3269240" y="1993447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eq: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open_1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open_2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open_3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6431" y="2830601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wait</a:t>
            </a: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hide_1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hide_2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hide_3</a:t>
            </a:r>
            <a:endParaRPr sz="8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0" name="Google Shape;110;p18"/>
          <p:cNvCxnSpPr>
            <a:stCxn id="106" idx="6"/>
            <a:endCxn id="107" idx="2"/>
          </p:cNvCxnSpPr>
          <p:nvPr/>
        </p:nvCxnSpPr>
        <p:spPr>
          <a:xfrm>
            <a:off x="1594653" y="2330497"/>
            <a:ext cx="401700" cy="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p18"/>
          <p:cNvCxnSpPr>
            <a:stCxn id="107" idx="6"/>
            <a:endCxn id="108" idx="2"/>
          </p:cNvCxnSpPr>
          <p:nvPr/>
        </p:nvCxnSpPr>
        <p:spPr>
          <a:xfrm>
            <a:off x="2867397" y="2330497"/>
            <a:ext cx="401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12" name="Google Shape;112;p18"/>
          <p:cNvSpPr/>
          <p:nvPr/>
        </p:nvSpPr>
        <p:spPr>
          <a:xfrm>
            <a:off x="1870591" y="2830601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open_1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2783366" y="2830601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open_2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738225" y="3485513"/>
            <a:ext cx="5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hide_1</a:t>
            </a:r>
            <a:endParaRPr sz="10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668576" y="3485513"/>
            <a:ext cx="5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hide_2</a:t>
            </a:r>
            <a:endParaRPr sz="10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3577986" y="3485513"/>
            <a:ext cx="573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hide_3</a:t>
            </a:r>
            <a:endParaRPr sz="1000">
              <a:solidFill>
                <a:srgbClr val="98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696142" y="2830601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open_3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8" name="Google Shape;118;p18"/>
          <p:cNvCxnSpPr>
            <a:stCxn id="109" idx="4"/>
          </p:cNvCxnSpPr>
          <p:nvPr/>
        </p:nvCxnSpPr>
        <p:spPr>
          <a:xfrm flipH="1" rot="-5400000">
            <a:off x="2386631" y="2009951"/>
            <a:ext cx="260100" cy="3249600"/>
          </a:xfrm>
          <a:prstGeom prst="bentConnector2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8"/>
          <p:cNvCxnSpPr>
            <a:endCxn id="112" idx="4"/>
          </p:cNvCxnSpPr>
          <p:nvPr/>
        </p:nvCxnSpPr>
        <p:spPr>
          <a:xfrm rot="10800000">
            <a:off x="2306041" y="3504701"/>
            <a:ext cx="3600" cy="2601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" name="Google Shape;120;p18"/>
          <p:cNvCxnSpPr/>
          <p:nvPr/>
        </p:nvCxnSpPr>
        <p:spPr>
          <a:xfrm rot="10800000">
            <a:off x="3220027" y="3508552"/>
            <a:ext cx="2400" cy="2487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1" name="Google Shape;121;p18"/>
          <p:cNvCxnSpPr/>
          <p:nvPr/>
        </p:nvCxnSpPr>
        <p:spPr>
          <a:xfrm rot="10800000">
            <a:off x="4128903" y="3504855"/>
            <a:ext cx="6300" cy="2676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" name="Google Shape;122;p18"/>
          <p:cNvSpPr txBox="1"/>
          <p:nvPr/>
        </p:nvSpPr>
        <p:spPr>
          <a:xfrm>
            <a:off x="1709650" y="4495963"/>
            <a:ext cx="6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guess_1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61391" y="3841049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wait</a:t>
            </a: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: </a:t>
            </a: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guess_1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guess_2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guess_3</a:t>
            </a:r>
            <a:endParaRPr sz="8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2620350" y="4495963"/>
            <a:ext cx="6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guess_2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1875551" y="3841049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open_1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788327" y="3841049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open_2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3484525" y="4495963"/>
            <a:ext cx="6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guess_3</a:t>
            </a:r>
            <a:endParaRPr sz="10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3701102" y="3841049"/>
            <a:ext cx="870900" cy="6741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block: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  <a:latin typeface="Roboto Mono"/>
                <a:ea typeface="Roboto Mono"/>
                <a:cs typeface="Roboto Mono"/>
                <a:sym typeface="Roboto Mono"/>
              </a:rPr>
              <a:t>open_3</a:t>
            </a:r>
            <a:endParaRPr sz="800">
              <a:solidFill>
                <a:srgbClr val="666666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29" name="Google Shape;129;p18"/>
          <p:cNvCxnSpPr>
            <a:stCxn id="123" idx="4"/>
          </p:cNvCxnSpPr>
          <p:nvPr/>
        </p:nvCxnSpPr>
        <p:spPr>
          <a:xfrm flipH="1" rot="-5400000">
            <a:off x="2391591" y="3020399"/>
            <a:ext cx="260100" cy="3249600"/>
          </a:xfrm>
          <a:prstGeom prst="bentConnector2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8"/>
          <p:cNvCxnSpPr>
            <a:endCxn id="125" idx="4"/>
          </p:cNvCxnSpPr>
          <p:nvPr/>
        </p:nvCxnSpPr>
        <p:spPr>
          <a:xfrm rot="10800000">
            <a:off x="2311001" y="4515149"/>
            <a:ext cx="3600" cy="2601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" name="Google Shape;131;p18"/>
          <p:cNvCxnSpPr>
            <a:endCxn id="126" idx="4"/>
          </p:cNvCxnSpPr>
          <p:nvPr/>
        </p:nvCxnSpPr>
        <p:spPr>
          <a:xfrm rot="10800000">
            <a:off x="3223777" y="4515149"/>
            <a:ext cx="3600" cy="25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" name="Google Shape;132;p18"/>
          <p:cNvCxnSpPr>
            <a:endCxn id="128" idx="4"/>
          </p:cNvCxnSpPr>
          <p:nvPr/>
        </p:nvCxnSpPr>
        <p:spPr>
          <a:xfrm rot="10800000">
            <a:off x="4136552" y="4515149"/>
            <a:ext cx="3600" cy="267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3" name="Google Shape;133;p18"/>
          <p:cNvSpPr/>
          <p:nvPr/>
        </p:nvSpPr>
        <p:spPr>
          <a:xfrm>
            <a:off x="5308685" y="1072251"/>
            <a:ext cx="3212700" cy="372300"/>
          </a:xfrm>
          <a:prstGeom prst="chevron">
            <a:avLst>
              <a:gd fmla="val 50000" name="adj"/>
            </a:avLst>
          </a:prstGeom>
          <a:solidFill>
            <a:srgbClr val="D83829"/>
          </a:solidFill>
          <a:ln>
            <a:noFill/>
          </a:ln>
        </p:spPr>
        <p:txBody>
          <a:bodyPr anchorCtr="0" anchor="ctr" bIns="323950" lIns="323950" spcFirstLastPara="1" rIns="323950" wrap="square" tIns="32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Open</a:t>
            </a:r>
            <a:endParaRPr b="1" sz="22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5729263" y="1444610"/>
            <a:ext cx="2642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3950" lIns="323950" spcFirstLastPara="1" rIns="32395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Host opens a different one, revealing a goat</a:t>
            </a:r>
            <a:endParaRPr b="1" sz="1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0" y="1072315"/>
            <a:ext cx="3212700" cy="372300"/>
          </a:xfrm>
          <a:prstGeom prst="homePlate">
            <a:avLst>
              <a:gd fmla="val 50000" name="adj"/>
            </a:avLst>
          </a:prstGeom>
          <a:solidFill>
            <a:srgbClr val="802017"/>
          </a:solidFill>
          <a:ln>
            <a:noFill/>
          </a:ln>
        </p:spPr>
        <p:txBody>
          <a:bodyPr anchorCtr="0" anchor="ctr" bIns="323950" lIns="323950" spcFirstLastPara="1" rIns="323950" wrap="square" tIns="32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Setup</a:t>
            </a:r>
            <a:endParaRPr b="1" sz="22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49469" y="1444610"/>
            <a:ext cx="25083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3950" lIns="323950" spcFirstLastPara="1" rIns="32395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 3 doors, hiding a prize and 2 goats</a:t>
            </a:r>
            <a:endParaRPr b="1" sz="1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2648468" y="1072251"/>
            <a:ext cx="3212700" cy="372300"/>
          </a:xfrm>
          <a:prstGeom prst="chevron">
            <a:avLst>
              <a:gd fmla="val 50000" name="adj"/>
            </a:avLst>
          </a:prstGeom>
          <a:solidFill>
            <a:srgbClr val="B02C20"/>
          </a:solidFill>
          <a:ln>
            <a:noFill/>
          </a:ln>
        </p:spPr>
        <p:txBody>
          <a:bodyPr anchorCtr="0" anchor="ctr" bIns="323950" lIns="323950" spcFirstLastPara="1" rIns="323950" wrap="square" tIns="323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Guess</a:t>
            </a:r>
            <a:endParaRPr b="1" sz="22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30663" y="1444610"/>
            <a:ext cx="2642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3950" lIns="323950" spcFirstLastPara="1" rIns="32395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Guest picks a random door</a:t>
            </a:r>
            <a:endParaRPr b="1" sz="1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161925" y="1914525"/>
            <a:ext cx="4791000" cy="298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525" y="1977151"/>
            <a:ext cx="2865175" cy="285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311700" y="3649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Problem Example - Page Click-through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50" y="1300150"/>
            <a:ext cx="2720048" cy="3343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2925" y="1787853"/>
            <a:ext cx="3733801" cy="225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Previous Attempt by Or Kiraly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311700" y="1152425"/>
            <a:ext cx="4006200" cy="35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2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99999"/>
              </a:buClr>
              <a:buSzPct val="1000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Model the state of each b-thread and the chosen event as random variable</a:t>
            </a:r>
            <a:endParaRPr b="1" sz="14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7822" lvl="0" marL="457200" rtl="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999999"/>
              </a:buClr>
              <a:buSzPct val="1000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Use this Bayesian Network (BN) structure to formalize the connections between the variables</a:t>
            </a:r>
            <a:endParaRPr b="1" sz="2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57822" lvl="0" marL="457200" rtl="0" algn="l">
              <a:lnSpc>
                <a:spcPct val="100000"/>
              </a:lnSpc>
              <a:spcBef>
                <a:spcPts val="3000"/>
              </a:spcBef>
              <a:spcAft>
                <a:spcPts val="3000"/>
              </a:spcAft>
              <a:buClr>
                <a:srgbClr val="999999"/>
              </a:buClr>
              <a:buSzPct val="100000"/>
              <a:buFont typeface="Assistant"/>
              <a:buChar char="➔"/>
            </a:pPr>
            <a:r>
              <a:rPr b="1" lang="en" sz="220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Python implementation updated to now work with any script</a:t>
            </a:r>
            <a:endParaRPr b="1" sz="220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54" name="Google Shape;154;p20"/>
          <p:cNvPicPr preferRelativeResize="0"/>
          <p:nvPr/>
        </p:nvPicPr>
        <p:blipFill rotWithShape="1">
          <a:blip r:embed="rId3">
            <a:alphaModFix/>
          </a:blip>
          <a:srcRect b="428" l="0" r="0" t="0"/>
          <a:stretch/>
        </p:blipFill>
        <p:spPr>
          <a:xfrm>
            <a:off x="6700075" y="292627"/>
            <a:ext cx="2051450" cy="401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6375" y="811221"/>
            <a:ext cx="668825" cy="837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20"/>
          <p:cNvCxnSpPr>
            <a:stCxn id="155" idx="0"/>
          </p:cNvCxnSpPr>
          <p:nvPr/>
        </p:nvCxnSpPr>
        <p:spPr>
          <a:xfrm flipH="1" rot="10800000">
            <a:off x="6260787" y="504921"/>
            <a:ext cx="4638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0"/>
          <p:cNvCxnSpPr>
            <a:stCxn id="155" idx="3"/>
          </p:cNvCxnSpPr>
          <p:nvPr/>
        </p:nvCxnSpPr>
        <p:spPr>
          <a:xfrm flipH="1" rot="10800000">
            <a:off x="6595200" y="619083"/>
            <a:ext cx="300900" cy="6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3775" y="3682975"/>
            <a:ext cx="2565649" cy="1142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0"/>
          <p:cNvCxnSpPr/>
          <p:nvPr/>
        </p:nvCxnSpPr>
        <p:spPr>
          <a:xfrm flipH="1">
            <a:off x="5848399" y="3505975"/>
            <a:ext cx="1398600" cy="18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0"/>
          <p:cNvCxnSpPr/>
          <p:nvPr/>
        </p:nvCxnSpPr>
        <p:spPr>
          <a:xfrm flipH="1" rot="10800000">
            <a:off x="7124700" y="3667125"/>
            <a:ext cx="371400" cy="114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1" name="Google Shape;16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7241" y="2266162"/>
            <a:ext cx="2631658" cy="62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0"/>
          <p:cNvCxnSpPr>
            <a:endCxn id="161" idx="0"/>
          </p:cNvCxnSpPr>
          <p:nvPr/>
        </p:nvCxnSpPr>
        <p:spPr>
          <a:xfrm flipH="1">
            <a:off x="5723071" y="1724062"/>
            <a:ext cx="1020600" cy="54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0"/>
          <p:cNvCxnSpPr/>
          <p:nvPr/>
        </p:nvCxnSpPr>
        <p:spPr>
          <a:xfrm>
            <a:off x="6924825" y="1847738"/>
            <a:ext cx="114300" cy="43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Nested Inference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175" y="1526425"/>
            <a:ext cx="1891649" cy="1785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1"/>
          <p:cNvSpPr txBox="1"/>
          <p:nvPr>
            <p:ph idx="1" type="body"/>
          </p:nvPr>
        </p:nvSpPr>
        <p:spPr>
          <a:xfrm>
            <a:off x="616175" y="1000025"/>
            <a:ext cx="7852800" cy="3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74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Char char="➔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Explores the network to assign probabilities to each event at a given step.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39" lvl="0" marL="22860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AutoNum type="arabicPeriod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Start at initial state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39" lvl="0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AutoNum type="arabicPeriod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Collect possible events from the current thread states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39" lvl="0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AutoNum type="arabicPeriod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Choose one as having occurred and update each thread accordingly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39" lvl="0" marL="2286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AutoNum type="arabicPeriod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Repeat until there are no more requested events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Char char="➔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Implemented in WebPPL which is a JavaScript library for probabilistic programming.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999999"/>
              </a:buClr>
              <a:buSzPts val="1640"/>
              <a:buFont typeface="Assistant"/>
              <a:buChar char="➔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The calculation can be done either</a:t>
            </a: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 analytically or by random sampling.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32740" lvl="0" marL="457200" rtl="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999999"/>
              </a:buClr>
              <a:buSzPts val="1640"/>
              <a:buFont typeface="Assistant"/>
              <a:buChar char="➔"/>
            </a:pPr>
            <a:r>
              <a:rPr b="1" lang="en" sz="164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Limited to only the possible events as opposed to pre-calculating everything.</a:t>
            </a:r>
            <a:endParaRPr b="1" sz="164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ssistant"/>
                <a:ea typeface="Assistant"/>
                <a:cs typeface="Assistant"/>
                <a:sym typeface="Assistant"/>
              </a:rPr>
              <a:t>Results</a:t>
            </a: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11700" y="1152425"/>
            <a:ext cx="5460600" cy="16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72110" lvl="0" marL="457200" rtl="0" algn="l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Clr>
                <a:srgbClr val="999999"/>
              </a:buClr>
              <a:buSzPts val="2260"/>
              <a:buFont typeface="Assistant"/>
              <a:buChar char="➔"/>
            </a:pPr>
            <a:r>
              <a:rPr b="1" lang="en" sz="2260">
                <a:solidFill>
                  <a:srgbClr val="999999"/>
                </a:solidFill>
                <a:latin typeface="Assistant"/>
                <a:ea typeface="Assistant"/>
                <a:cs typeface="Assistant"/>
                <a:sym typeface="Assistant"/>
              </a:rPr>
              <a:t>Intuitive and fast to use program which can answer probabilistic questions, in addition to scaling well for large number of states.</a:t>
            </a:r>
            <a:endParaRPr b="1" sz="2260">
              <a:solidFill>
                <a:srgbClr val="99999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cxnSp>
        <p:nvCxnSpPr>
          <p:cNvPr id="177" name="Google Shape;177;p22"/>
          <p:cNvCxnSpPr/>
          <p:nvPr/>
        </p:nvCxnSpPr>
        <p:spPr>
          <a:xfrm>
            <a:off x="7344984" y="2438394"/>
            <a:ext cx="0" cy="201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675" y="2835775"/>
            <a:ext cx="4401600" cy="18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6143" y="353943"/>
            <a:ext cx="2550600" cy="20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6116" y="2677625"/>
            <a:ext cx="2550634" cy="20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