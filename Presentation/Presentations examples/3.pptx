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7" r:id="rId3"/>
    <p:sldId id="269" r:id="rId4"/>
    <p:sldId id="264" r:id="rId5"/>
    <p:sldId id="270" r:id="rId6"/>
    <p:sldId id="271" r:id="rId7"/>
    <p:sldId id="284" r:id="rId8"/>
    <p:sldId id="285" r:id="rId9"/>
    <p:sldId id="286" r:id="rId10"/>
    <p:sldId id="281" r:id="rId11"/>
    <p:sldId id="275" r:id="rId12"/>
    <p:sldId id="278" r:id="rId13"/>
    <p:sldId id="279" r:id="rId14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49" autoAdjust="0"/>
    <p:restoredTop sz="94610"/>
  </p:normalViewPr>
  <p:slideViewPr>
    <p:cSldViewPr snapToGrid="0" snapToObjects="1">
      <p:cViewPr>
        <p:scale>
          <a:sx n="33" d="100"/>
          <a:sy n="33" d="100"/>
        </p:scale>
        <p:origin x="3984" y="19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3051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036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7746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899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6710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0789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7763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3506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201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gif"/><Relationship Id="rId3" Type="http://schemas.openxmlformats.org/officeDocument/2006/relationships/image" Target="../media/image1.png"/><Relationship Id="rId7" Type="http://schemas.openxmlformats.org/officeDocument/2006/relationships/image" Target="../media/image7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gif"/><Relationship Id="rId5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9.gi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gif"/><Relationship Id="rId13" Type="http://schemas.openxmlformats.org/officeDocument/2006/relationships/image" Target="../media/image14.png"/><Relationship Id="rId3" Type="http://schemas.openxmlformats.org/officeDocument/2006/relationships/image" Target="../media/image6.gif"/><Relationship Id="rId7" Type="http://schemas.openxmlformats.org/officeDocument/2006/relationships/image" Target="../media/image8.gif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gif"/><Relationship Id="rId11" Type="http://schemas.openxmlformats.org/officeDocument/2006/relationships/image" Target="../media/image12.png"/><Relationship Id="rId5" Type="http://schemas.openxmlformats.org/officeDocument/2006/relationships/image" Target="../media/image4.png"/><Relationship Id="rId10" Type="http://schemas.openxmlformats.org/officeDocument/2006/relationships/image" Target="../media/image11.png"/><Relationship Id="rId4" Type="http://schemas.openxmlformats.org/officeDocument/2006/relationships/image" Target="../media/image1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5.png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5.pn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.png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0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תמונה 22" descr="תמונה שמכילה עיגול&#10;&#10;התיאור נוצר באופן אוטומטי">
            <a:extLst>
              <a:ext uri="{FF2B5EF4-FFF2-40B4-BE49-F238E27FC236}">
                <a16:creationId xmlns:a16="http://schemas.microsoft.com/office/drawing/2014/main" id="{9564FDD8-6C07-4097-A069-43AB0737D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771" y="1675691"/>
            <a:ext cx="1399005" cy="1492968"/>
          </a:xfrm>
          <a:prstGeom prst="rect">
            <a:avLst/>
          </a:prstGeom>
        </p:spPr>
      </p:pic>
      <p:pic>
        <p:nvPicPr>
          <p:cNvPr id="31" name="תמונה 30" descr="תמונה שמכילה שחור, חשיכה, שחור ולבן, מונוכרום&#10;&#10;התיאור נוצר באופן אוטומטי">
            <a:extLst>
              <a:ext uri="{FF2B5EF4-FFF2-40B4-BE49-F238E27FC236}">
                <a16:creationId xmlns:a16="http://schemas.microsoft.com/office/drawing/2014/main" id="{D38FD144-B581-4356-B380-D979204A9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67591" y="9920913"/>
            <a:ext cx="2565079" cy="1447619"/>
          </a:xfrm>
          <a:prstGeom prst="rect">
            <a:avLst/>
          </a:prstGeom>
        </p:spPr>
      </p:pic>
      <p:pic>
        <p:nvPicPr>
          <p:cNvPr id="33" name="תמונה 32">
            <a:extLst>
              <a:ext uri="{FF2B5EF4-FFF2-40B4-BE49-F238E27FC236}">
                <a16:creationId xmlns:a16="http://schemas.microsoft.com/office/drawing/2014/main" id="{7D418023-63C1-4EDA-97FE-648B12145C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139718" y="1907218"/>
            <a:ext cx="5422222" cy="5206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11125" y="788383"/>
            <a:ext cx="12677198" cy="22376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7440"/>
              </a:lnSpc>
              <a:buNone/>
            </a:pPr>
            <a:endParaRPr lang="en-US" sz="11500" dirty="0">
              <a:solidFill>
                <a:srgbClr val="383838"/>
              </a:solidFill>
              <a:latin typeface="Montserrat Black" panose="00000A00000000000000" pitchFamily="2" charset="0"/>
              <a:ea typeface="Patrick Hand" pitchFamily="34" charset="-122"/>
              <a:cs typeface="Patrick Hand" pitchFamily="34" charset="-120"/>
            </a:endParaRPr>
          </a:p>
          <a:p>
            <a:pPr marL="0" indent="0" algn="ctr">
              <a:lnSpc>
                <a:spcPts val="7440"/>
              </a:lnSpc>
              <a:buNone/>
            </a:pPr>
            <a:r>
              <a:rPr lang="en-US" sz="11500" dirty="0" err="1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  <a:cs typeface="Patrick Hand" pitchFamily="34" charset="-120"/>
              </a:rPr>
              <a:t>TeamTime</a:t>
            </a:r>
            <a:r>
              <a:rPr lang="en-US" sz="11500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  <a:cs typeface="Patrick Hand" pitchFamily="34" charset="-120"/>
              </a:rPr>
              <a:t>.</a:t>
            </a:r>
            <a:endParaRPr lang="en-US" sz="11500" dirty="0">
              <a:latin typeface="Montserrat Black" panose="00000A00000000000000" pitchFamily="2" charset="0"/>
            </a:endParaRPr>
          </a:p>
        </p:txBody>
      </p:sp>
      <p:pic>
        <p:nvPicPr>
          <p:cNvPr id="36" name="תמונה 35">
            <a:extLst>
              <a:ext uri="{FF2B5EF4-FFF2-40B4-BE49-F238E27FC236}">
                <a16:creationId xmlns:a16="http://schemas.microsoft.com/office/drawing/2014/main" id="{3982D7CE-A60D-4E32-B5EF-30339648D4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2811" y="1267690"/>
            <a:ext cx="292063" cy="292063"/>
          </a:xfrm>
          <a:prstGeom prst="rect">
            <a:avLst/>
          </a:prstGeom>
        </p:spPr>
      </p:pic>
      <p:pic>
        <p:nvPicPr>
          <p:cNvPr id="39" name="תמונה 38">
            <a:extLst>
              <a:ext uri="{FF2B5EF4-FFF2-40B4-BE49-F238E27FC236}">
                <a16:creationId xmlns:a16="http://schemas.microsoft.com/office/drawing/2014/main" id="{191202A3-412B-466B-A8F1-D8EC11C336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717422">
            <a:off x="12022883" y="1727227"/>
            <a:ext cx="222964" cy="2229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5CD8D5-128C-2E53-18C0-5BBB61C2E763}"/>
              </a:ext>
            </a:extLst>
          </p:cNvPr>
          <p:cNvSpPr txBox="1"/>
          <p:nvPr/>
        </p:nvSpPr>
        <p:spPr>
          <a:xfrm>
            <a:off x="1838699" y="5555296"/>
            <a:ext cx="1142205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L" sz="3900" dirty="0">
                <a:latin typeface="Montserrat" pitchFamily="2" charset="77"/>
              </a:rPr>
              <a:t>Idan tal, Guy Hirsch, Yael Irony, Itamar Zand</a:t>
            </a:r>
          </a:p>
          <a:p>
            <a:pPr algn="ctr"/>
            <a:r>
              <a:rPr lang="en-IL" sz="3900" dirty="0">
                <a:latin typeface="Montserrat" pitchFamily="2" charset="77"/>
              </a:rPr>
              <a:t>Advisor: Prof. Niv Gilboa</a:t>
            </a:r>
          </a:p>
        </p:txBody>
      </p:sp>
      <p:sp>
        <p:nvSpPr>
          <p:cNvPr id="8" name="מלבן: פינות מעוגלות 14">
            <a:extLst>
              <a:ext uri="{FF2B5EF4-FFF2-40B4-BE49-F238E27FC236}">
                <a16:creationId xmlns:a16="http://schemas.microsoft.com/office/drawing/2014/main" id="{50BA4A78-0CEB-9643-A4E1-321BD0923AF2}"/>
              </a:ext>
            </a:extLst>
          </p:cNvPr>
          <p:cNvSpPr/>
          <p:nvPr/>
        </p:nvSpPr>
        <p:spPr>
          <a:xfrm>
            <a:off x="-12607953" y="4309059"/>
            <a:ext cx="10934949" cy="213124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indent="0">
              <a:lnSpc>
                <a:spcPts val="3451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numerous businesses in Israel manually manage their scheduling calendars, </a:t>
            </a:r>
            <a:b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</a:br>
            <a: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leading to errors, inefficiencies, and frustration for both employees and managers</a:t>
            </a:r>
          </a:p>
          <a:p>
            <a:pPr marL="0" indent="0">
              <a:lnSpc>
                <a:spcPts val="3451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investing valuable time in this process</a:t>
            </a:r>
          </a:p>
        </p:txBody>
      </p:sp>
      <p:sp>
        <p:nvSpPr>
          <p:cNvPr id="9" name="מלבן: פינות מעוגלות 11">
            <a:extLst>
              <a:ext uri="{FF2B5EF4-FFF2-40B4-BE49-F238E27FC236}">
                <a16:creationId xmlns:a16="http://schemas.microsoft.com/office/drawing/2014/main" id="{7DF1C56F-5AAE-3373-C422-4D0619A04D3E}"/>
              </a:ext>
            </a:extLst>
          </p:cNvPr>
          <p:cNvSpPr/>
          <p:nvPr/>
        </p:nvSpPr>
        <p:spPr>
          <a:xfrm>
            <a:off x="-12577770" y="2656013"/>
            <a:ext cx="10987584" cy="87264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>
              <a:lnSpc>
                <a:spcPts val="2696"/>
              </a:lnSpc>
            </a:pPr>
            <a:endParaRPr lang="en-US" sz="2400" dirty="0">
              <a:solidFill>
                <a:srgbClr val="383838"/>
              </a:solidFill>
              <a:latin typeface="Montserrat Medium" panose="00000600000000000000" pitchFamily="2" charset="0"/>
              <a:ea typeface="Patrick Hand" pitchFamily="34" charset="-122"/>
              <a:cs typeface="Patrick Hand" pitchFamily="34" charset="-120"/>
            </a:endParaRPr>
          </a:p>
          <a:p>
            <a:pPr>
              <a:lnSpc>
                <a:spcPts val="2696"/>
              </a:lnSpc>
            </a:pPr>
            <a: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  <a:cs typeface="Patrick Hand" pitchFamily="34" charset="-120"/>
              </a:rPr>
              <a:t>Shift scheduling is a pervasive requirement across many businesses.</a:t>
            </a:r>
            <a:endParaRPr lang="en-US" sz="2000" dirty="0">
              <a:latin typeface="Montserrat Medium" panose="00000600000000000000" pitchFamily="2" charset="0"/>
            </a:endParaRPr>
          </a:p>
          <a:p>
            <a:pPr algn="ctr">
              <a:lnSpc>
                <a:spcPts val="2696"/>
              </a:lnSpc>
            </a:pPr>
            <a:endParaRPr lang="he-IL" sz="2400" b="1" dirty="0">
              <a:solidFill>
                <a:srgbClr val="383838"/>
              </a:solidFill>
              <a:latin typeface="Montserrat Black" panose="00000A00000000000000" pitchFamily="2" charset="0"/>
              <a:ea typeface="Patrick Hand" pitchFamily="34" charset="-122"/>
            </a:endParaRPr>
          </a:p>
        </p:txBody>
      </p:sp>
      <p:pic>
        <p:nvPicPr>
          <p:cNvPr id="14" name="תמונה 41" descr="תמונה שמכילה קל, מנורה&#10;&#10;התיאור נוצר באופן אוטומטי">
            <a:extLst>
              <a:ext uri="{FF2B5EF4-FFF2-40B4-BE49-F238E27FC236}">
                <a16:creationId xmlns:a16="http://schemas.microsoft.com/office/drawing/2014/main" id="{66437FE6-D717-424A-BAB5-423F66DEC8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5180789">
            <a:off x="2218629" y="2937882"/>
            <a:ext cx="472320" cy="5139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תמונה 22" descr="תמונה שמכילה עיגול&#10;&#10;התיאור נוצר באופן אוטומטי">
            <a:extLst>
              <a:ext uri="{FF2B5EF4-FFF2-40B4-BE49-F238E27FC236}">
                <a16:creationId xmlns:a16="http://schemas.microsoft.com/office/drawing/2014/main" id="{98DA37A0-5207-44E2-93D1-1538D7493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00399" y="470255"/>
            <a:ext cx="1244211" cy="1327777"/>
          </a:xfrm>
          <a:prstGeom prst="rect">
            <a:avLst/>
          </a:prstGeom>
        </p:spPr>
      </p:pic>
      <p:pic>
        <p:nvPicPr>
          <p:cNvPr id="3" name="תמונה 35">
            <a:extLst>
              <a:ext uri="{FF2B5EF4-FFF2-40B4-BE49-F238E27FC236}">
                <a16:creationId xmlns:a16="http://schemas.microsoft.com/office/drawing/2014/main" id="{99F5CAEA-39A6-8334-1D3F-97FC3FECF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7432" y="377069"/>
            <a:ext cx="215818" cy="292063"/>
          </a:xfrm>
          <a:prstGeom prst="rect">
            <a:avLst/>
          </a:prstGeom>
        </p:spPr>
      </p:pic>
      <p:pic>
        <p:nvPicPr>
          <p:cNvPr id="6" name="תמונה 38">
            <a:extLst>
              <a:ext uri="{FF2B5EF4-FFF2-40B4-BE49-F238E27FC236}">
                <a16:creationId xmlns:a16="http://schemas.microsoft.com/office/drawing/2014/main" id="{2B2AFE4B-FAEE-CE7A-FBC9-AE36E65AC7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17422">
            <a:off x="5240871" y="1013111"/>
            <a:ext cx="164758" cy="222964"/>
          </a:xfrm>
          <a:prstGeom prst="rect">
            <a:avLst/>
          </a:prstGeom>
        </p:spPr>
      </p:pic>
      <p:sp>
        <p:nvSpPr>
          <p:cNvPr id="15" name="מלבן: פינות מעוגלות 14">
            <a:extLst>
              <a:ext uri="{FF2B5EF4-FFF2-40B4-BE49-F238E27FC236}">
                <a16:creationId xmlns:a16="http://schemas.microsoft.com/office/drawing/2014/main" id="{C6E9A551-E1C6-4B3F-895F-89B629C6EEAB}"/>
              </a:ext>
            </a:extLst>
          </p:cNvPr>
          <p:cNvSpPr/>
          <p:nvPr/>
        </p:nvSpPr>
        <p:spPr>
          <a:xfrm>
            <a:off x="880126" y="4309059"/>
            <a:ext cx="10934949" cy="213124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indent="0">
              <a:lnSpc>
                <a:spcPts val="3451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numerous businesses in Israel manually manage their scheduling calendars, </a:t>
            </a:r>
            <a:b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</a:br>
            <a: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leading to errors, inefficiencies, and frustration for both employees and managers</a:t>
            </a:r>
          </a:p>
          <a:p>
            <a:pPr marL="0" indent="0">
              <a:lnSpc>
                <a:spcPts val="3451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investing valuable time in this process</a:t>
            </a:r>
          </a:p>
        </p:txBody>
      </p:sp>
      <p:sp>
        <p:nvSpPr>
          <p:cNvPr id="4" name="Text 2"/>
          <p:cNvSpPr/>
          <p:nvPr/>
        </p:nvSpPr>
        <p:spPr>
          <a:xfrm>
            <a:off x="1343647" y="573285"/>
            <a:ext cx="10120908" cy="68472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392"/>
              </a:lnSpc>
              <a:buNone/>
            </a:pPr>
            <a:r>
              <a:rPr lang="en-US" sz="4400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  <a:cs typeface="Patrick Hand" pitchFamily="34" charset="-120"/>
              </a:rPr>
              <a:t>Background</a:t>
            </a:r>
            <a:endParaRPr lang="en-US" sz="4400" dirty="0">
              <a:latin typeface="Montserrat Black" panose="00000A00000000000000" pitchFamily="2" charset="0"/>
            </a:endParaRPr>
          </a:p>
        </p:txBody>
      </p:sp>
      <p:sp>
        <p:nvSpPr>
          <p:cNvPr id="12" name="מלבן: פינות מעוגלות 11">
            <a:extLst>
              <a:ext uri="{FF2B5EF4-FFF2-40B4-BE49-F238E27FC236}">
                <a16:creationId xmlns:a16="http://schemas.microsoft.com/office/drawing/2014/main" id="{2C8AD4F1-FEA0-46DB-A28B-94FE9F413831}"/>
              </a:ext>
            </a:extLst>
          </p:cNvPr>
          <p:cNvSpPr/>
          <p:nvPr/>
        </p:nvSpPr>
        <p:spPr>
          <a:xfrm>
            <a:off x="910309" y="2656013"/>
            <a:ext cx="10987584" cy="87264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>
              <a:lnSpc>
                <a:spcPts val="2696"/>
              </a:lnSpc>
            </a:pPr>
            <a:endParaRPr lang="en-US" sz="2400" dirty="0">
              <a:solidFill>
                <a:srgbClr val="383838"/>
              </a:solidFill>
              <a:latin typeface="Montserrat Medium" panose="00000600000000000000" pitchFamily="2" charset="0"/>
              <a:ea typeface="Patrick Hand" pitchFamily="34" charset="-122"/>
              <a:cs typeface="Patrick Hand" pitchFamily="34" charset="-120"/>
            </a:endParaRPr>
          </a:p>
          <a:p>
            <a:pPr>
              <a:lnSpc>
                <a:spcPts val="2696"/>
              </a:lnSpc>
            </a:pPr>
            <a: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  <a:cs typeface="Patrick Hand" pitchFamily="34" charset="-120"/>
              </a:rPr>
              <a:t>Shift scheduling is a pervasive requirement across many businesses.</a:t>
            </a:r>
            <a:endParaRPr lang="en-US" sz="2000" dirty="0">
              <a:latin typeface="Montserrat Medium" panose="00000600000000000000" pitchFamily="2" charset="0"/>
            </a:endParaRPr>
          </a:p>
          <a:p>
            <a:pPr algn="ctr">
              <a:lnSpc>
                <a:spcPts val="2696"/>
              </a:lnSpc>
            </a:pPr>
            <a:endParaRPr lang="he-IL" sz="2400" b="1" dirty="0">
              <a:solidFill>
                <a:srgbClr val="383838"/>
              </a:solidFill>
              <a:latin typeface="Montserrat Black" panose="00000A00000000000000" pitchFamily="2" charset="0"/>
              <a:ea typeface="Patrick Hand" pitchFamily="34" charset="-122"/>
            </a:endParaRPr>
          </a:p>
        </p:txBody>
      </p:sp>
      <p:pic>
        <p:nvPicPr>
          <p:cNvPr id="18" name="תמונה 17">
            <a:extLst>
              <a:ext uri="{FF2B5EF4-FFF2-40B4-BE49-F238E27FC236}">
                <a16:creationId xmlns:a16="http://schemas.microsoft.com/office/drawing/2014/main" id="{23CCBC97-3723-49CE-9761-2AAC8B2506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6483" y="1385757"/>
            <a:ext cx="3146793" cy="302151"/>
          </a:xfrm>
          <a:prstGeom prst="rect">
            <a:avLst/>
          </a:prstGeom>
        </p:spPr>
      </p:pic>
      <p:sp>
        <p:nvSpPr>
          <p:cNvPr id="30" name="מלבן: פינות מעוגלות 29">
            <a:extLst>
              <a:ext uri="{FF2B5EF4-FFF2-40B4-BE49-F238E27FC236}">
                <a16:creationId xmlns:a16="http://schemas.microsoft.com/office/drawing/2014/main" id="{1BA89CCD-8D6F-41D0-AE44-5C93B65C1E62}"/>
              </a:ext>
            </a:extLst>
          </p:cNvPr>
          <p:cNvSpPr/>
          <p:nvPr/>
        </p:nvSpPr>
        <p:spPr>
          <a:xfrm>
            <a:off x="729290" y="8703134"/>
            <a:ext cx="3150507" cy="47815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scene3d>
            <a:camera prst="perspectiveFront"/>
            <a:lightRig rig="glow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 sz="2400" b="1" dirty="0">
              <a:solidFill>
                <a:srgbClr val="383838"/>
              </a:solidFill>
              <a:latin typeface="Montserrat Black" panose="00000A00000000000000" pitchFamily="2" charset="0"/>
              <a:ea typeface="Patrick Hand" pitchFamily="34" charset="-122"/>
            </a:endParaRPr>
          </a:p>
        </p:txBody>
      </p:sp>
      <p:sp>
        <p:nvSpPr>
          <p:cNvPr id="31" name="תיבת טקסט 30">
            <a:extLst>
              <a:ext uri="{FF2B5EF4-FFF2-40B4-BE49-F238E27FC236}">
                <a16:creationId xmlns:a16="http://schemas.microsoft.com/office/drawing/2014/main" id="{0DEA1454-3F91-4971-ADCF-3B99F020E28E}"/>
              </a:ext>
            </a:extLst>
          </p:cNvPr>
          <p:cNvSpPr txBox="1"/>
          <p:nvPr/>
        </p:nvSpPr>
        <p:spPr>
          <a:xfrm>
            <a:off x="729289" y="9208777"/>
            <a:ext cx="3150507" cy="37702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3900" dirty="0">
                <a:latin typeface="Montserrat Medium" panose="00000600000000000000" pitchFamily="2" charset="0"/>
              </a:rPr>
              <a:t>1</a:t>
            </a:r>
            <a:endParaRPr lang="he-IL" dirty="0">
              <a:latin typeface="Montserrat Medium" panose="00000600000000000000" pitchFamily="2" charset="0"/>
            </a:endParaRPr>
          </a:p>
        </p:txBody>
      </p:sp>
      <p:sp>
        <p:nvSpPr>
          <p:cNvPr id="32" name="מלבן: פינות מעוגלות 31">
            <a:extLst>
              <a:ext uri="{FF2B5EF4-FFF2-40B4-BE49-F238E27FC236}">
                <a16:creationId xmlns:a16="http://schemas.microsoft.com/office/drawing/2014/main" id="{CEEA9E3C-75C0-41BA-AFC8-FF1FC9AB81DB}"/>
              </a:ext>
            </a:extLst>
          </p:cNvPr>
          <p:cNvSpPr/>
          <p:nvPr/>
        </p:nvSpPr>
        <p:spPr>
          <a:xfrm>
            <a:off x="4085228" y="9208777"/>
            <a:ext cx="3150507" cy="47815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scene3d>
            <a:camera prst="perspectiveFront"/>
            <a:lightRig rig="glow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 sz="2400" b="1" dirty="0">
              <a:solidFill>
                <a:srgbClr val="383838"/>
              </a:solidFill>
              <a:latin typeface="Montserrat Black" panose="00000A00000000000000" pitchFamily="2" charset="0"/>
              <a:ea typeface="Patrick Hand" pitchFamily="34" charset="-122"/>
            </a:endParaRPr>
          </a:p>
        </p:txBody>
      </p:sp>
      <p:sp>
        <p:nvSpPr>
          <p:cNvPr id="33" name="תיבת טקסט 32">
            <a:extLst>
              <a:ext uri="{FF2B5EF4-FFF2-40B4-BE49-F238E27FC236}">
                <a16:creationId xmlns:a16="http://schemas.microsoft.com/office/drawing/2014/main" id="{05053943-1249-4CC4-882E-576AEA029108}"/>
              </a:ext>
            </a:extLst>
          </p:cNvPr>
          <p:cNvSpPr txBox="1"/>
          <p:nvPr/>
        </p:nvSpPr>
        <p:spPr>
          <a:xfrm>
            <a:off x="4085227" y="9714420"/>
            <a:ext cx="3150507" cy="37702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3900" dirty="0">
                <a:latin typeface="Montserrat Medium" panose="00000600000000000000" pitchFamily="2" charset="0"/>
              </a:rPr>
              <a:t>2</a:t>
            </a:r>
            <a:endParaRPr lang="he-IL" dirty="0">
              <a:latin typeface="Montserrat Medium" panose="00000600000000000000" pitchFamily="2" charset="0"/>
            </a:endParaRPr>
          </a:p>
        </p:txBody>
      </p:sp>
      <p:sp>
        <p:nvSpPr>
          <p:cNvPr id="34" name="מלבן: פינות מעוגלות 33">
            <a:extLst>
              <a:ext uri="{FF2B5EF4-FFF2-40B4-BE49-F238E27FC236}">
                <a16:creationId xmlns:a16="http://schemas.microsoft.com/office/drawing/2014/main" id="{C71ED37F-3441-4E89-B899-B825ADAF6BB7}"/>
              </a:ext>
            </a:extLst>
          </p:cNvPr>
          <p:cNvSpPr/>
          <p:nvPr/>
        </p:nvSpPr>
        <p:spPr>
          <a:xfrm>
            <a:off x="7441166" y="9714420"/>
            <a:ext cx="3150507" cy="47815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scene3d>
            <a:camera prst="perspectiveFront"/>
            <a:lightRig rig="glow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 sz="2400" b="1" dirty="0">
              <a:solidFill>
                <a:srgbClr val="383838"/>
              </a:solidFill>
              <a:latin typeface="Montserrat Black" panose="00000A00000000000000" pitchFamily="2" charset="0"/>
              <a:ea typeface="Patrick Hand" pitchFamily="34" charset="-122"/>
            </a:endParaRPr>
          </a:p>
        </p:txBody>
      </p:sp>
      <p:sp>
        <p:nvSpPr>
          <p:cNvPr id="35" name="תיבת טקסט 34">
            <a:extLst>
              <a:ext uri="{FF2B5EF4-FFF2-40B4-BE49-F238E27FC236}">
                <a16:creationId xmlns:a16="http://schemas.microsoft.com/office/drawing/2014/main" id="{1DBC7D29-CB2A-4EB6-B518-9D2A586B029E}"/>
              </a:ext>
            </a:extLst>
          </p:cNvPr>
          <p:cNvSpPr txBox="1"/>
          <p:nvPr/>
        </p:nvSpPr>
        <p:spPr>
          <a:xfrm>
            <a:off x="7441165" y="10220063"/>
            <a:ext cx="3150507" cy="37702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3900" dirty="0">
                <a:latin typeface="Montserrat Medium" panose="00000600000000000000" pitchFamily="2" charset="0"/>
              </a:rPr>
              <a:t>3</a:t>
            </a:r>
            <a:endParaRPr lang="he-IL" dirty="0">
              <a:latin typeface="Montserrat Medium" panose="00000600000000000000" pitchFamily="2" charset="0"/>
            </a:endParaRPr>
          </a:p>
        </p:txBody>
      </p:sp>
      <p:sp>
        <p:nvSpPr>
          <p:cNvPr id="36" name="מלבן: פינות מעוגלות 35">
            <a:extLst>
              <a:ext uri="{FF2B5EF4-FFF2-40B4-BE49-F238E27FC236}">
                <a16:creationId xmlns:a16="http://schemas.microsoft.com/office/drawing/2014/main" id="{2FD6F018-58A7-4EF6-8DEC-026B3613E904}"/>
              </a:ext>
            </a:extLst>
          </p:cNvPr>
          <p:cNvSpPr/>
          <p:nvPr/>
        </p:nvSpPr>
        <p:spPr>
          <a:xfrm>
            <a:off x="10797104" y="10220063"/>
            <a:ext cx="3150507" cy="47815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scene3d>
            <a:camera prst="perspectiveFront"/>
            <a:lightRig rig="glow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 sz="2400" b="1" dirty="0">
              <a:solidFill>
                <a:srgbClr val="383838"/>
              </a:solidFill>
              <a:latin typeface="Montserrat Black" panose="00000A00000000000000" pitchFamily="2" charset="0"/>
              <a:ea typeface="Patrick Hand" pitchFamily="34" charset="-122"/>
            </a:endParaRPr>
          </a:p>
        </p:txBody>
      </p:sp>
      <p:sp>
        <p:nvSpPr>
          <p:cNvPr id="37" name="תיבת טקסט 36">
            <a:extLst>
              <a:ext uri="{FF2B5EF4-FFF2-40B4-BE49-F238E27FC236}">
                <a16:creationId xmlns:a16="http://schemas.microsoft.com/office/drawing/2014/main" id="{1E391644-2192-4E59-9A9A-F4D96C76AFED}"/>
              </a:ext>
            </a:extLst>
          </p:cNvPr>
          <p:cNvSpPr txBox="1"/>
          <p:nvPr/>
        </p:nvSpPr>
        <p:spPr>
          <a:xfrm>
            <a:off x="10797103" y="10725706"/>
            <a:ext cx="3150507" cy="37702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3900" dirty="0">
                <a:latin typeface="Montserrat Medium" panose="00000600000000000000" pitchFamily="2" charset="0"/>
              </a:rPr>
              <a:t>4</a:t>
            </a:r>
            <a:endParaRPr lang="he-IL" dirty="0">
              <a:latin typeface="Montserrat Medium" panose="00000600000000000000" pitchFamily="2" charset="0"/>
            </a:endParaRPr>
          </a:p>
        </p:txBody>
      </p:sp>
      <p:grpSp>
        <p:nvGrpSpPr>
          <p:cNvPr id="19" name="קבוצה 18">
            <a:extLst>
              <a:ext uri="{FF2B5EF4-FFF2-40B4-BE49-F238E27FC236}">
                <a16:creationId xmlns:a16="http://schemas.microsoft.com/office/drawing/2014/main" id="{2CDDA43C-914E-4166-AACF-48EC15A2075B}"/>
              </a:ext>
            </a:extLst>
          </p:cNvPr>
          <p:cNvGrpSpPr/>
          <p:nvPr/>
        </p:nvGrpSpPr>
        <p:grpSpPr>
          <a:xfrm>
            <a:off x="20949467" y="2114550"/>
            <a:ext cx="3150507" cy="4781550"/>
            <a:chOff x="10593948" y="2114550"/>
            <a:chExt cx="3150507" cy="4781550"/>
          </a:xfrm>
        </p:grpSpPr>
        <p:sp>
          <p:nvSpPr>
            <p:cNvPr id="20" name="מלבן: פינות מעוגלות 19">
              <a:extLst>
                <a:ext uri="{FF2B5EF4-FFF2-40B4-BE49-F238E27FC236}">
                  <a16:creationId xmlns:a16="http://schemas.microsoft.com/office/drawing/2014/main" id="{30592F7A-4DCE-446F-B2AD-9D7E458C8C0C}"/>
                </a:ext>
              </a:extLst>
            </p:cNvPr>
            <p:cNvSpPr/>
            <p:nvPr/>
          </p:nvSpPr>
          <p:spPr>
            <a:xfrm>
              <a:off x="10593948" y="2114550"/>
              <a:ext cx="3150507" cy="478155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br>
                <a:rPr lang="en-US" sz="2400" b="1" dirty="0">
                  <a:solidFill>
                    <a:srgbClr val="383838"/>
                  </a:solidFill>
                  <a:latin typeface="Montserrat Black" panose="00000A00000000000000" pitchFamily="2" charset="0"/>
                  <a:ea typeface="Patrick Hand" pitchFamily="34" charset="-122"/>
                </a:rPr>
              </a:br>
              <a:r>
                <a:rPr lang="en-US" sz="2400" b="1" dirty="0">
                  <a:solidFill>
                    <a:srgbClr val="383838"/>
                  </a:solidFill>
                  <a:latin typeface="Montserrat Black" panose="00000A00000000000000" pitchFamily="2" charset="0"/>
                  <a:ea typeface="Patrick Hand" pitchFamily="34" charset="-122"/>
                </a:rPr>
                <a:t>Save time, money &amp; management resources.</a:t>
              </a:r>
              <a:endParaRPr lang="he-IL" sz="2400" b="1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</a:endParaRPr>
            </a:p>
          </p:txBody>
        </p:sp>
        <p:pic>
          <p:nvPicPr>
            <p:cNvPr id="21" name="תמונה 20" descr="תמונה שמכילה סמל, עיגול, גרפיקה, לוגו&#10;&#10;התיאור נוצר באופן אוטומטי">
              <a:extLst>
                <a:ext uri="{FF2B5EF4-FFF2-40B4-BE49-F238E27FC236}">
                  <a16:creationId xmlns:a16="http://schemas.microsoft.com/office/drawing/2014/main" id="{F619FB81-5851-46CE-83F7-ABEEEABDC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873215" y="2547130"/>
              <a:ext cx="591971" cy="591971"/>
            </a:xfrm>
            <a:prstGeom prst="rect">
              <a:avLst/>
            </a:prstGeom>
          </p:spPr>
        </p:pic>
      </p:grpSp>
      <p:grpSp>
        <p:nvGrpSpPr>
          <p:cNvPr id="22" name="קבוצה 21">
            <a:extLst>
              <a:ext uri="{FF2B5EF4-FFF2-40B4-BE49-F238E27FC236}">
                <a16:creationId xmlns:a16="http://schemas.microsoft.com/office/drawing/2014/main" id="{53897091-D7FD-43A3-91F6-7F925EFE9856}"/>
              </a:ext>
            </a:extLst>
          </p:cNvPr>
          <p:cNvGrpSpPr/>
          <p:nvPr/>
        </p:nvGrpSpPr>
        <p:grpSpPr>
          <a:xfrm>
            <a:off x="20851120" y="2114550"/>
            <a:ext cx="3347200" cy="4781550"/>
            <a:chOff x="7580631" y="2114550"/>
            <a:chExt cx="3347200" cy="4781550"/>
          </a:xfrm>
        </p:grpSpPr>
        <p:sp>
          <p:nvSpPr>
            <p:cNvPr id="23" name="מלבן: פינות מעוגלות 22">
              <a:extLst>
                <a:ext uri="{FF2B5EF4-FFF2-40B4-BE49-F238E27FC236}">
                  <a16:creationId xmlns:a16="http://schemas.microsoft.com/office/drawing/2014/main" id="{6B2CC225-D576-4292-9C5A-65201177DA10}"/>
                </a:ext>
              </a:extLst>
            </p:cNvPr>
            <p:cNvSpPr/>
            <p:nvPr/>
          </p:nvSpPr>
          <p:spPr>
            <a:xfrm>
              <a:off x="7580631" y="2114550"/>
              <a:ext cx="3347200" cy="478155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br>
                <a:rPr lang="en-US" sz="2400" b="1" dirty="0">
                  <a:solidFill>
                    <a:srgbClr val="383838"/>
                  </a:solidFill>
                  <a:latin typeface="Montserrat Black" panose="00000A00000000000000" pitchFamily="2" charset="0"/>
                  <a:ea typeface="Patrick Hand" pitchFamily="34" charset="-122"/>
                </a:rPr>
              </a:br>
              <a:br>
                <a:rPr lang="en-US" sz="2400" b="1" dirty="0">
                  <a:solidFill>
                    <a:srgbClr val="383838"/>
                  </a:solidFill>
                  <a:latin typeface="Montserrat Black" panose="00000A00000000000000" pitchFamily="2" charset="0"/>
                  <a:ea typeface="Patrick Hand" pitchFamily="34" charset="-122"/>
                </a:rPr>
              </a:br>
              <a:r>
                <a:rPr lang="en-US" sz="2400" b="1" dirty="0">
                  <a:solidFill>
                    <a:srgbClr val="383838"/>
                  </a:solidFill>
                  <a:latin typeface="Montserrat Black" panose="00000A00000000000000" pitchFamily="2" charset="0"/>
                  <a:ea typeface="Patrick Hand" pitchFamily="34" charset="-122"/>
                </a:rPr>
                <a:t>Customize and flexibly adapt requirements to meet business needs.</a:t>
              </a:r>
              <a:endParaRPr lang="he-IL" sz="2400" b="1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</a:endParaRPr>
            </a:p>
          </p:txBody>
        </p:sp>
        <p:pic>
          <p:nvPicPr>
            <p:cNvPr id="25" name="תמונה 24" descr="תמונה שמכילה עיגול, גרפיקה, אומנות, סמל&#10;&#10;התיאור נוצר באופן אוטומטי">
              <a:extLst>
                <a:ext uri="{FF2B5EF4-FFF2-40B4-BE49-F238E27FC236}">
                  <a16:creationId xmlns:a16="http://schemas.microsoft.com/office/drawing/2014/main" id="{7A75BC9D-6A60-4680-A031-27B04DEE7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958245" y="2547130"/>
              <a:ext cx="591971" cy="591971"/>
            </a:xfrm>
            <a:prstGeom prst="rect">
              <a:avLst/>
            </a:prstGeom>
          </p:spPr>
        </p:pic>
      </p:grpSp>
      <p:grpSp>
        <p:nvGrpSpPr>
          <p:cNvPr id="26" name="קבוצה 25">
            <a:extLst>
              <a:ext uri="{FF2B5EF4-FFF2-40B4-BE49-F238E27FC236}">
                <a16:creationId xmlns:a16="http://schemas.microsoft.com/office/drawing/2014/main" id="{29DDED24-34BB-4D79-B628-45922B27AD2B}"/>
              </a:ext>
            </a:extLst>
          </p:cNvPr>
          <p:cNvGrpSpPr/>
          <p:nvPr/>
        </p:nvGrpSpPr>
        <p:grpSpPr>
          <a:xfrm>
            <a:off x="20949467" y="2114550"/>
            <a:ext cx="3150507" cy="4781550"/>
            <a:chOff x="958572" y="2114550"/>
            <a:chExt cx="3150507" cy="4781550"/>
          </a:xfrm>
        </p:grpSpPr>
        <p:sp>
          <p:nvSpPr>
            <p:cNvPr id="27" name="מלבן: פינות מעוגלות 26">
              <a:extLst>
                <a:ext uri="{FF2B5EF4-FFF2-40B4-BE49-F238E27FC236}">
                  <a16:creationId xmlns:a16="http://schemas.microsoft.com/office/drawing/2014/main" id="{73EB34F5-768C-4961-950D-3E130CBF41FD}"/>
                </a:ext>
              </a:extLst>
            </p:cNvPr>
            <p:cNvSpPr/>
            <p:nvPr/>
          </p:nvSpPr>
          <p:spPr>
            <a:xfrm>
              <a:off x="958572" y="2114550"/>
              <a:ext cx="3150507" cy="478155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>
                <a:lnSpc>
                  <a:spcPts val="2696"/>
                </a:lnSpc>
              </a:pPr>
              <a:r>
                <a:rPr lang="en-US" sz="2400" b="1" dirty="0">
                  <a:solidFill>
                    <a:srgbClr val="383838"/>
                  </a:solidFill>
                  <a:latin typeface="Montserrat Black" panose="00000A00000000000000" pitchFamily="2" charset="0"/>
                  <a:ea typeface="Patrick Hand" pitchFamily="34" charset="-122"/>
                </a:rPr>
                <a:t>Automate shift scheduling.</a:t>
              </a:r>
              <a:endParaRPr lang="he-IL" sz="2400" b="1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</a:endParaRPr>
            </a:p>
          </p:txBody>
        </p:sp>
        <p:pic>
          <p:nvPicPr>
            <p:cNvPr id="28" name="תמונה 27" descr="תמונה שמכילה צילום מסך, גרפיקה, עיגול, סמל&#10;&#10;התיאור נוצר באופן אוטומטי">
              <a:extLst>
                <a:ext uri="{FF2B5EF4-FFF2-40B4-BE49-F238E27FC236}">
                  <a16:creationId xmlns:a16="http://schemas.microsoft.com/office/drawing/2014/main" id="{75EB062F-A69D-436A-8A46-7FC7D94855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15282" y="2547131"/>
              <a:ext cx="634598" cy="634598"/>
            </a:xfrm>
            <a:prstGeom prst="rect">
              <a:avLst/>
            </a:prstGeom>
          </p:spPr>
        </p:pic>
      </p:grpSp>
      <p:grpSp>
        <p:nvGrpSpPr>
          <p:cNvPr id="29" name="קבוצה 28">
            <a:extLst>
              <a:ext uri="{FF2B5EF4-FFF2-40B4-BE49-F238E27FC236}">
                <a16:creationId xmlns:a16="http://schemas.microsoft.com/office/drawing/2014/main" id="{8D017619-8F37-4ADF-B9CB-CE79988A86CA}"/>
              </a:ext>
            </a:extLst>
          </p:cNvPr>
          <p:cNvGrpSpPr/>
          <p:nvPr/>
        </p:nvGrpSpPr>
        <p:grpSpPr>
          <a:xfrm>
            <a:off x="20949467" y="2136321"/>
            <a:ext cx="3150507" cy="4781550"/>
            <a:chOff x="986503" y="2136321"/>
            <a:chExt cx="3150507" cy="4781550"/>
          </a:xfrm>
        </p:grpSpPr>
        <p:sp>
          <p:nvSpPr>
            <p:cNvPr id="38" name="מלבן: פינות מעוגלות 37">
              <a:extLst>
                <a:ext uri="{FF2B5EF4-FFF2-40B4-BE49-F238E27FC236}">
                  <a16:creationId xmlns:a16="http://schemas.microsoft.com/office/drawing/2014/main" id="{665D969D-2BC1-4416-B1BE-29582A2AB409}"/>
                </a:ext>
              </a:extLst>
            </p:cNvPr>
            <p:cNvSpPr/>
            <p:nvPr/>
          </p:nvSpPr>
          <p:spPr>
            <a:xfrm>
              <a:off x="986503" y="2136321"/>
              <a:ext cx="3150507" cy="478155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br>
                <a:rPr lang="en-US" sz="2400" b="1" dirty="0">
                  <a:solidFill>
                    <a:srgbClr val="383838"/>
                  </a:solidFill>
                  <a:latin typeface="Montserrat Black" panose="00000A00000000000000" pitchFamily="2" charset="0"/>
                  <a:ea typeface="Patrick Hand" pitchFamily="34" charset="-122"/>
                </a:rPr>
              </a:br>
              <a:br>
                <a:rPr lang="en-US" sz="2400" b="1" dirty="0">
                  <a:solidFill>
                    <a:srgbClr val="383838"/>
                  </a:solidFill>
                  <a:latin typeface="Montserrat Black" panose="00000A00000000000000" pitchFamily="2" charset="0"/>
                  <a:ea typeface="Patrick Hand" pitchFamily="34" charset="-122"/>
                </a:rPr>
              </a:br>
              <a:r>
                <a:rPr lang="en-US" sz="2400" b="1" dirty="0">
                  <a:solidFill>
                    <a:srgbClr val="383838"/>
                  </a:solidFill>
                  <a:latin typeface="Montserrat Black" panose="00000A00000000000000" pitchFamily="2" charset="0"/>
                  <a:ea typeface="Patrick Hand" pitchFamily="34" charset="-122"/>
                </a:rPr>
                <a:t>Providing one platform for shift scheduling.</a:t>
              </a:r>
            </a:p>
            <a:p>
              <a:pPr algn="ctr"/>
              <a:endParaRPr lang="en-US" sz="2400" b="1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</a:endParaRPr>
            </a:p>
          </p:txBody>
        </p:sp>
        <p:pic>
          <p:nvPicPr>
            <p:cNvPr id="39" name="Picture 43" descr="A blue line drawing of a computer monitor&#10;&#10;Description automatically generated">
              <a:extLst>
                <a:ext uri="{FF2B5EF4-FFF2-40B4-BE49-F238E27FC236}">
                  <a16:creationId xmlns:a16="http://schemas.microsoft.com/office/drawing/2014/main" id="{38950412-D014-49AC-A566-03A48A349B0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194492" y="2481948"/>
              <a:ext cx="764963" cy="7649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596871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קבוצה 34">
            <a:extLst>
              <a:ext uri="{FF2B5EF4-FFF2-40B4-BE49-F238E27FC236}">
                <a16:creationId xmlns:a16="http://schemas.microsoft.com/office/drawing/2014/main" id="{5F65D19A-4059-4361-8033-D907304449F1}"/>
              </a:ext>
            </a:extLst>
          </p:cNvPr>
          <p:cNvGrpSpPr/>
          <p:nvPr/>
        </p:nvGrpSpPr>
        <p:grpSpPr>
          <a:xfrm>
            <a:off x="11042030" y="2114550"/>
            <a:ext cx="3150507" cy="4781550"/>
            <a:chOff x="10593948" y="2114550"/>
            <a:chExt cx="3150507" cy="4781550"/>
          </a:xfrm>
        </p:grpSpPr>
        <p:sp>
          <p:nvSpPr>
            <p:cNvPr id="16" name="מלבן: פינות מעוגלות 15">
              <a:extLst>
                <a:ext uri="{FF2B5EF4-FFF2-40B4-BE49-F238E27FC236}">
                  <a16:creationId xmlns:a16="http://schemas.microsoft.com/office/drawing/2014/main" id="{162F5BDB-63FA-46F9-87E3-4AFD0438E4B7}"/>
                </a:ext>
              </a:extLst>
            </p:cNvPr>
            <p:cNvSpPr/>
            <p:nvPr/>
          </p:nvSpPr>
          <p:spPr>
            <a:xfrm>
              <a:off x="10593948" y="2114550"/>
              <a:ext cx="3150507" cy="478155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br>
                <a:rPr lang="en-US" sz="2400" b="1" dirty="0">
                  <a:solidFill>
                    <a:srgbClr val="383838"/>
                  </a:solidFill>
                  <a:latin typeface="Montserrat Black" panose="00000A00000000000000" pitchFamily="2" charset="0"/>
                  <a:ea typeface="Patrick Hand" pitchFamily="34" charset="-122"/>
                </a:rPr>
              </a:br>
              <a:r>
                <a:rPr lang="en-US" sz="2400" b="1" dirty="0">
                  <a:solidFill>
                    <a:srgbClr val="383838"/>
                  </a:solidFill>
                  <a:latin typeface="Montserrat Black" panose="00000A00000000000000" pitchFamily="2" charset="0"/>
                  <a:ea typeface="Patrick Hand" pitchFamily="34" charset="-122"/>
                </a:rPr>
                <a:t>Save time, money &amp; management resources.</a:t>
              </a:r>
              <a:endParaRPr lang="he-IL" sz="2400" b="1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</a:endParaRPr>
            </a:p>
          </p:txBody>
        </p:sp>
        <p:pic>
          <p:nvPicPr>
            <p:cNvPr id="31" name="תמונה 30" descr="תמונה שמכילה סמל, עיגול, גרפיקה, לוגו&#10;&#10;התיאור נוצר באופן אוטומטי">
              <a:extLst>
                <a:ext uri="{FF2B5EF4-FFF2-40B4-BE49-F238E27FC236}">
                  <a16:creationId xmlns:a16="http://schemas.microsoft.com/office/drawing/2014/main" id="{FC2DC2CC-EF93-476F-A4B6-D26AAFF663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73215" y="2547130"/>
              <a:ext cx="591971" cy="591971"/>
            </a:xfrm>
            <a:prstGeom prst="rect">
              <a:avLst/>
            </a:prstGeom>
          </p:spPr>
        </p:pic>
      </p:grpSp>
      <p:pic>
        <p:nvPicPr>
          <p:cNvPr id="2" name="תמונה 23" descr="תמונה שמכילה עיגול&#10;&#10;התיאור נוצר באופן אוטומטי">
            <a:extLst>
              <a:ext uri="{FF2B5EF4-FFF2-40B4-BE49-F238E27FC236}">
                <a16:creationId xmlns:a16="http://schemas.microsoft.com/office/drawing/2014/main" id="{A2A33E6F-4811-822B-D280-C2A3D08DED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174886">
            <a:off x="-259203" y="363980"/>
            <a:ext cx="1749503" cy="1867007"/>
          </a:xfrm>
          <a:prstGeom prst="rect">
            <a:avLst/>
          </a:prstGeom>
        </p:spPr>
      </p:pic>
      <p:sp>
        <p:nvSpPr>
          <p:cNvPr id="30" name="Text 2">
            <a:extLst>
              <a:ext uri="{FF2B5EF4-FFF2-40B4-BE49-F238E27FC236}">
                <a16:creationId xmlns:a16="http://schemas.microsoft.com/office/drawing/2014/main" id="{0076095D-F460-33CF-A9AC-70D375840DF9}"/>
              </a:ext>
            </a:extLst>
          </p:cNvPr>
          <p:cNvSpPr/>
          <p:nvPr/>
        </p:nvSpPr>
        <p:spPr>
          <a:xfrm>
            <a:off x="442416" y="-287267"/>
            <a:ext cx="8305674" cy="21402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7440"/>
              </a:lnSpc>
              <a:buNone/>
            </a:pPr>
            <a:endParaRPr lang="en-US" sz="11500" dirty="0">
              <a:solidFill>
                <a:srgbClr val="383838"/>
              </a:solidFill>
              <a:latin typeface="Montserrat Black" panose="00000A00000000000000" pitchFamily="2" charset="0"/>
              <a:ea typeface="Patrick Hand" pitchFamily="34" charset="-122"/>
              <a:cs typeface="Patrick Hand" pitchFamily="34" charset="-120"/>
            </a:endParaRPr>
          </a:p>
          <a:p>
            <a:pPr marL="0" indent="0" algn="ctr">
              <a:lnSpc>
                <a:spcPts val="7440"/>
              </a:lnSpc>
              <a:buNone/>
            </a:pPr>
            <a:r>
              <a:rPr lang="en-US" sz="6300" dirty="0">
                <a:solidFill>
                  <a:srgbClr val="383838"/>
                </a:solidFill>
                <a:latin typeface="Montserrat Black" panose="00000A00000000000000" pitchFamily="2" charset="0"/>
              </a:rPr>
              <a:t>Our Main Goals</a:t>
            </a:r>
            <a:endParaRPr lang="en-US" sz="6300" dirty="0">
              <a:latin typeface="Montserrat Black" panose="00000A00000000000000" pitchFamily="2" charset="0"/>
            </a:endParaRPr>
          </a:p>
        </p:txBody>
      </p:sp>
      <p:pic>
        <p:nvPicPr>
          <p:cNvPr id="36" name="תמונה 35">
            <a:extLst>
              <a:ext uri="{FF2B5EF4-FFF2-40B4-BE49-F238E27FC236}">
                <a16:creationId xmlns:a16="http://schemas.microsoft.com/office/drawing/2014/main" id="{3C2BDA17-F7B1-D407-F137-2F0ECCD46A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8454" y="267296"/>
            <a:ext cx="215818" cy="292063"/>
          </a:xfrm>
          <a:prstGeom prst="rect">
            <a:avLst/>
          </a:prstGeom>
        </p:spPr>
      </p:pic>
      <p:pic>
        <p:nvPicPr>
          <p:cNvPr id="37" name="תמונה 38">
            <a:extLst>
              <a:ext uri="{FF2B5EF4-FFF2-40B4-BE49-F238E27FC236}">
                <a16:creationId xmlns:a16="http://schemas.microsoft.com/office/drawing/2014/main" id="{2E493328-6C39-08D6-A6C7-E7C4BC5A1F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717422" flipH="1">
            <a:off x="8313132" y="495365"/>
            <a:ext cx="334406" cy="452546"/>
          </a:xfrm>
          <a:prstGeom prst="rect">
            <a:avLst/>
          </a:prstGeom>
        </p:spPr>
      </p:pic>
      <p:grpSp>
        <p:nvGrpSpPr>
          <p:cNvPr id="34" name="קבוצה 33">
            <a:extLst>
              <a:ext uri="{FF2B5EF4-FFF2-40B4-BE49-F238E27FC236}">
                <a16:creationId xmlns:a16="http://schemas.microsoft.com/office/drawing/2014/main" id="{41375AD6-7192-4524-86AC-0C32FB0EC8E5}"/>
              </a:ext>
            </a:extLst>
          </p:cNvPr>
          <p:cNvGrpSpPr/>
          <p:nvPr/>
        </p:nvGrpSpPr>
        <p:grpSpPr>
          <a:xfrm>
            <a:off x="7580631" y="2114550"/>
            <a:ext cx="3347200" cy="4781550"/>
            <a:chOff x="7580631" y="2114550"/>
            <a:chExt cx="3347200" cy="4781550"/>
          </a:xfrm>
        </p:grpSpPr>
        <p:sp>
          <p:nvSpPr>
            <p:cNvPr id="15" name="מלבן: פינות מעוגלות 14">
              <a:extLst>
                <a:ext uri="{FF2B5EF4-FFF2-40B4-BE49-F238E27FC236}">
                  <a16:creationId xmlns:a16="http://schemas.microsoft.com/office/drawing/2014/main" id="{745BB5EB-0BF5-4C4F-9D3F-493F025D55A6}"/>
                </a:ext>
              </a:extLst>
            </p:cNvPr>
            <p:cNvSpPr/>
            <p:nvPr/>
          </p:nvSpPr>
          <p:spPr>
            <a:xfrm>
              <a:off x="7580631" y="2114550"/>
              <a:ext cx="3347200" cy="478155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br>
                <a:rPr lang="en-US" sz="2400" b="1" dirty="0">
                  <a:solidFill>
                    <a:srgbClr val="383838"/>
                  </a:solidFill>
                  <a:latin typeface="Montserrat Black" panose="00000A00000000000000" pitchFamily="2" charset="0"/>
                  <a:ea typeface="Patrick Hand" pitchFamily="34" charset="-122"/>
                </a:rPr>
              </a:br>
              <a:br>
                <a:rPr lang="en-US" sz="2400" b="1" dirty="0">
                  <a:solidFill>
                    <a:srgbClr val="383838"/>
                  </a:solidFill>
                  <a:latin typeface="Montserrat Black" panose="00000A00000000000000" pitchFamily="2" charset="0"/>
                  <a:ea typeface="Patrick Hand" pitchFamily="34" charset="-122"/>
                </a:rPr>
              </a:br>
              <a:r>
                <a:rPr lang="en-US" sz="2400" b="1" dirty="0">
                  <a:solidFill>
                    <a:srgbClr val="383838"/>
                  </a:solidFill>
                  <a:latin typeface="Montserrat Black" panose="00000A00000000000000" pitchFamily="2" charset="0"/>
                  <a:ea typeface="Patrick Hand" pitchFamily="34" charset="-122"/>
                </a:rPr>
                <a:t>Customize and flexibly adapt requirements to meet business needs.</a:t>
              </a:r>
              <a:endParaRPr lang="he-IL" sz="2400" b="1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</a:endParaRPr>
            </a:p>
          </p:txBody>
        </p:sp>
        <p:pic>
          <p:nvPicPr>
            <p:cNvPr id="12" name="תמונה 11" descr="תמונה שמכילה עיגול, גרפיקה, אומנות, סמל&#10;&#10;התיאור נוצר באופן אוטומטי">
              <a:extLst>
                <a:ext uri="{FF2B5EF4-FFF2-40B4-BE49-F238E27FC236}">
                  <a16:creationId xmlns:a16="http://schemas.microsoft.com/office/drawing/2014/main" id="{A55AFD30-7DA1-4D79-88D5-F5911C3731D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958245" y="2547130"/>
              <a:ext cx="591971" cy="591971"/>
            </a:xfrm>
            <a:prstGeom prst="rect">
              <a:avLst/>
            </a:prstGeom>
          </p:spPr>
        </p:pic>
      </p:grpSp>
      <p:grpSp>
        <p:nvGrpSpPr>
          <p:cNvPr id="32" name="קבוצה 31">
            <a:extLst>
              <a:ext uri="{FF2B5EF4-FFF2-40B4-BE49-F238E27FC236}">
                <a16:creationId xmlns:a16="http://schemas.microsoft.com/office/drawing/2014/main" id="{45140CFD-DC0F-4F7F-9C25-B5ADD8F18D82}"/>
              </a:ext>
            </a:extLst>
          </p:cNvPr>
          <p:cNvGrpSpPr/>
          <p:nvPr/>
        </p:nvGrpSpPr>
        <p:grpSpPr>
          <a:xfrm>
            <a:off x="4283567" y="2114550"/>
            <a:ext cx="3150507" cy="4781550"/>
            <a:chOff x="958572" y="2114550"/>
            <a:chExt cx="3150507" cy="4781550"/>
          </a:xfrm>
        </p:grpSpPr>
        <p:sp>
          <p:nvSpPr>
            <p:cNvPr id="13" name="מלבן: פינות מעוגלות 12">
              <a:extLst>
                <a:ext uri="{FF2B5EF4-FFF2-40B4-BE49-F238E27FC236}">
                  <a16:creationId xmlns:a16="http://schemas.microsoft.com/office/drawing/2014/main" id="{77908856-E01D-4E3A-BD7B-540FF7AC65FF}"/>
                </a:ext>
              </a:extLst>
            </p:cNvPr>
            <p:cNvSpPr/>
            <p:nvPr/>
          </p:nvSpPr>
          <p:spPr>
            <a:xfrm>
              <a:off x="958572" y="2114550"/>
              <a:ext cx="3150507" cy="478155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>
                <a:lnSpc>
                  <a:spcPts val="2696"/>
                </a:lnSpc>
              </a:pPr>
              <a:r>
                <a:rPr lang="en-US" sz="2400" b="1" dirty="0">
                  <a:solidFill>
                    <a:srgbClr val="383838"/>
                  </a:solidFill>
                  <a:latin typeface="Montserrat Black" panose="00000A00000000000000" pitchFamily="2" charset="0"/>
                  <a:ea typeface="Patrick Hand" pitchFamily="34" charset="-122"/>
                </a:rPr>
                <a:t>Automate shift scheduling.</a:t>
              </a:r>
              <a:endParaRPr lang="he-IL" sz="2400" b="1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</a:endParaRPr>
            </a:p>
          </p:txBody>
        </p:sp>
        <p:pic>
          <p:nvPicPr>
            <p:cNvPr id="10" name="תמונה 9" descr="תמונה שמכילה צילום מסך, גרפיקה, עיגול, סמל&#10;&#10;התיאור נוצר באופן אוטומטי">
              <a:extLst>
                <a:ext uri="{FF2B5EF4-FFF2-40B4-BE49-F238E27FC236}">
                  <a16:creationId xmlns:a16="http://schemas.microsoft.com/office/drawing/2014/main" id="{BB14EC6A-AD77-440C-8872-E41C64F5E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15282" y="2547131"/>
              <a:ext cx="634598" cy="634598"/>
            </a:xfrm>
            <a:prstGeom prst="rect">
              <a:avLst/>
            </a:prstGeom>
          </p:spPr>
        </p:pic>
      </p:grpSp>
      <p:grpSp>
        <p:nvGrpSpPr>
          <p:cNvPr id="4" name="קבוצה 3">
            <a:extLst>
              <a:ext uri="{FF2B5EF4-FFF2-40B4-BE49-F238E27FC236}">
                <a16:creationId xmlns:a16="http://schemas.microsoft.com/office/drawing/2014/main" id="{1E1D2E0B-E4F4-4EEA-AE2D-43DBEB7E467A}"/>
              </a:ext>
            </a:extLst>
          </p:cNvPr>
          <p:cNvGrpSpPr/>
          <p:nvPr/>
        </p:nvGrpSpPr>
        <p:grpSpPr>
          <a:xfrm>
            <a:off x="986503" y="2136321"/>
            <a:ext cx="3150507" cy="4781550"/>
            <a:chOff x="986503" y="2136321"/>
            <a:chExt cx="3150507" cy="4781550"/>
          </a:xfrm>
        </p:grpSpPr>
        <p:sp>
          <p:nvSpPr>
            <p:cNvPr id="14" name="מלבן: פינות מעוגלות 13">
              <a:extLst>
                <a:ext uri="{FF2B5EF4-FFF2-40B4-BE49-F238E27FC236}">
                  <a16:creationId xmlns:a16="http://schemas.microsoft.com/office/drawing/2014/main" id="{A3F2BE95-A861-4FD8-857D-ABF1CDCD1A95}"/>
                </a:ext>
              </a:extLst>
            </p:cNvPr>
            <p:cNvSpPr/>
            <p:nvPr/>
          </p:nvSpPr>
          <p:spPr>
            <a:xfrm>
              <a:off x="986503" y="2136321"/>
              <a:ext cx="3150507" cy="478155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br>
                <a:rPr lang="en-US" sz="2400" b="1" dirty="0">
                  <a:solidFill>
                    <a:srgbClr val="383838"/>
                  </a:solidFill>
                  <a:latin typeface="Montserrat Black" panose="00000A00000000000000" pitchFamily="2" charset="0"/>
                  <a:ea typeface="Patrick Hand" pitchFamily="34" charset="-122"/>
                </a:rPr>
              </a:br>
              <a:br>
                <a:rPr lang="en-US" sz="2400" b="1" dirty="0">
                  <a:solidFill>
                    <a:srgbClr val="383838"/>
                  </a:solidFill>
                  <a:latin typeface="Montserrat Black" panose="00000A00000000000000" pitchFamily="2" charset="0"/>
                  <a:ea typeface="Patrick Hand" pitchFamily="34" charset="-122"/>
                </a:rPr>
              </a:br>
              <a:r>
                <a:rPr lang="en-US" sz="2400" b="1" dirty="0">
                  <a:solidFill>
                    <a:srgbClr val="383838"/>
                  </a:solidFill>
                  <a:latin typeface="Montserrat Black" panose="00000A00000000000000" pitchFamily="2" charset="0"/>
                  <a:ea typeface="Patrick Hand" pitchFamily="34" charset="-122"/>
                </a:rPr>
                <a:t>Providing one platform for shift scheduling.</a:t>
              </a:r>
            </a:p>
            <a:p>
              <a:pPr algn="ctr"/>
              <a:endParaRPr lang="en-US" sz="2400" b="1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</a:endParaRPr>
            </a:p>
          </p:txBody>
        </p:sp>
        <p:pic>
          <p:nvPicPr>
            <p:cNvPr id="44" name="Picture 43" descr="A blue line drawing of a computer monitor&#10;&#10;Description automatically generated">
              <a:extLst>
                <a:ext uri="{FF2B5EF4-FFF2-40B4-BE49-F238E27FC236}">
                  <a16:creationId xmlns:a16="http://schemas.microsoft.com/office/drawing/2014/main" id="{B499DCDC-82B9-9669-7410-E768EC6767A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194492" y="2481948"/>
              <a:ext cx="764963" cy="764963"/>
            </a:xfrm>
            <a:prstGeom prst="rect">
              <a:avLst/>
            </a:prstGeom>
          </p:spPr>
        </p:pic>
      </p:grpSp>
      <p:pic>
        <p:nvPicPr>
          <p:cNvPr id="52" name="תמונה 51" descr="תמונה שמכילה צילום מסך, סמל&#10;&#10;התיאור נוצר באופן אוטומטי">
            <a:extLst>
              <a:ext uri="{FF2B5EF4-FFF2-40B4-BE49-F238E27FC236}">
                <a16:creationId xmlns:a16="http://schemas.microsoft.com/office/drawing/2014/main" id="{81BE6292-CD49-4E2A-ADD6-5148059A0F8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0686403">
            <a:off x="10790296" y="8871178"/>
            <a:ext cx="876190" cy="876190"/>
          </a:xfrm>
          <a:prstGeom prst="rect">
            <a:avLst/>
          </a:prstGeom>
        </p:spPr>
      </p:pic>
      <p:pic>
        <p:nvPicPr>
          <p:cNvPr id="53" name="תמונה 52" descr="תמונה שמכילה טקסט, צילום מסך, גופן, מספר&#10;&#10;התיאור נוצר באופן אוטומטי">
            <a:extLst>
              <a:ext uri="{FF2B5EF4-FFF2-40B4-BE49-F238E27FC236}">
                <a16:creationId xmlns:a16="http://schemas.microsoft.com/office/drawing/2014/main" id="{692B1BC8-0F2A-440B-B687-FA4DE96838C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328044">
            <a:off x="17212057" y="8066048"/>
            <a:ext cx="3969768" cy="43080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4" name="תמונה 53" descr="תמונה שמכילה שחור, חשיכה&#10;&#10;התיאור נוצר באופן אוטומטי">
            <a:extLst>
              <a:ext uri="{FF2B5EF4-FFF2-40B4-BE49-F238E27FC236}">
                <a16:creationId xmlns:a16="http://schemas.microsoft.com/office/drawing/2014/main" id="{C24EEF5F-9BE7-44E5-A365-00BAB40341E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93409" y="9831219"/>
            <a:ext cx="1075552" cy="1075552"/>
          </a:xfrm>
          <a:prstGeom prst="rect">
            <a:avLst/>
          </a:prstGeom>
        </p:spPr>
      </p:pic>
      <p:pic>
        <p:nvPicPr>
          <p:cNvPr id="55" name="תמונה 54" descr="תמונה שמכילה שחור, חשיכה&#10;&#10;התיאור נוצר באופן אוטומטי">
            <a:extLst>
              <a:ext uri="{FF2B5EF4-FFF2-40B4-BE49-F238E27FC236}">
                <a16:creationId xmlns:a16="http://schemas.microsoft.com/office/drawing/2014/main" id="{9B0B89F5-D3D9-44B5-B8B8-592048065A5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>
            <a:off x="11471376" y="8545439"/>
            <a:ext cx="294791" cy="318428"/>
          </a:xfrm>
          <a:prstGeom prst="rect">
            <a:avLst/>
          </a:prstGeom>
        </p:spPr>
      </p:pic>
      <p:pic>
        <p:nvPicPr>
          <p:cNvPr id="56" name="Picture 51">
            <a:extLst>
              <a:ext uri="{FF2B5EF4-FFF2-40B4-BE49-F238E27FC236}">
                <a16:creationId xmlns:a16="http://schemas.microsoft.com/office/drawing/2014/main" id="{BA083DF4-F88B-4F2B-8848-7CD23D8041A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0598264">
            <a:off x="15210636" y="-4819586"/>
            <a:ext cx="6226575" cy="30281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526895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תמונה 22" descr="תמונה שמכילה עיגול&#10;&#10;התיאור נוצר באופן אוטומטי">
            <a:extLst>
              <a:ext uri="{FF2B5EF4-FFF2-40B4-BE49-F238E27FC236}">
                <a16:creationId xmlns:a16="http://schemas.microsoft.com/office/drawing/2014/main" id="{C9F7FB77-0D40-463D-88F6-FD326E58F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03" y="1331054"/>
            <a:ext cx="1399005" cy="1492968"/>
          </a:xfrm>
          <a:prstGeom prst="rect">
            <a:avLst/>
          </a:prstGeom>
        </p:spPr>
      </p:pic>
      <p:pic>
        <p:nvPicPr>
          <p:cNvPr id="42" name="תמונה 41" descr="תמונה שמכילה קל, מנורה&#10;&#10;התיאור נוצר באופן אוטומטי">
            <a:extLst>
              <a:ext uri="{FF2B5EF4-FFF2-40B4-BE49-F238E27FC236}">
                <a16:creationId xmlns:a16="http://schemas.microsoft.com/office/drawing/2014/main" id="{1C4B72B5-6E4C-4795-8079-C783609B18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180789">
            <a:off x="-18239" y="2593245"/>
            <a:ext cx="472320" cy="513995"/>
          </a:xfrm>
          <a:prstGeom prst="rect">
            <a:avLst/>
          </a:prstGeom>
        </p:spPr>
      </p:pic>
      <p:sp>
        <p:nvSpPr>
          <p:cNvPr id="15" name="מלבן 14">
            <a:extLst>
              <a:ext uri="{FF2B5EF4-FFF2-40B4-BE49-F238E27FC236}">
                <a16:creationId xmlns:a16="http://schemas.microsoft.com/office/drawing/2014/main" id="{964D0430-F6C8-492E-BD32-7D0A4FD735D1}"/>
              </a:ext>
            </a:extLst>
          </p:cNvPr>
          <p:cNvSpPr/>
          <p:nvPr/>
        </p:nvSpPr>
        <p:spPr>
          <a:xfrm>
            <a:off x="9532414" y="21516"/>
            <a:ext cx="5184050" cy="822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 dirty="0"/>
          </a:p>
        </p:txBody>
      </p:sp>
      <p:pic>
        <p:nvPicPr>
          <p:cNvPr id="10" name="תמונה 9" descr="תמונה שמכילה צילום מסך, סמל&#10;&#10;התיאור נוצר באופן אוטומטי">
            <a:extLst>
              <a:ext uri="{FF2B5EF4-FFF2-40B4-BE49-F238E27FC236}">
                <a16:creationId xmlns:a16="http://schemas.microsoft.com/office/drawing/2014/main" id="{5309BE96-818F-4F6F-B8FE-48291DD886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686403">
            <a:off x="10997436" y="4187537"/>
            <a:ext cx="876190" cy="876190"/>
          </a:xfrm>
          <a:prstGeom prst="rect">
            <a:avLst/>
          </a:prstGeom>
        </p:spPr>
      </p:pic>
      <p:pic>
        <p:nvPicPr>
          <p:cNvPr id="12" name="תמונה 11" descr="תמונה שמכילה טקסט, צילום מסך, גופן, מספר&#10;&#10;התיאור נוצר באופן אוטומטי">
            <a:extLst>
              <a:ext uri="{FF2B5EF4-FFF2-40B4-BE49-F238E27FC236}">
                <a16:creationId xmlns:a16="http://schemas.microsoft.com/office/drawing/2014/main" id="{D7CE100B-8C7D-46CB-BB7E-336039CFAB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328044">
            <a:off x="11690796" y="4501977"/>
            <a:ext cx="3969768" cy="43080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9" name="תמונה 18" descr="תמונה שמכילה שחור, חשיכה&#10;&#10;התיאור נוצר באופן אוטומטי">
            <a:extLst>
              <a:ext uri="{FF2B5EF4-FFF2-40B4-BE49-F238E27FC236}">
                <a16:creationId xmlns:a16="http://schemas.microsoft.com/office/drawing/2014/main" id="{3E8CC113-1718-47B7-B951-BC7C51F56D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00549" y="5147578"/>
            <a:ext cx="1075552" cy="1075552"/>
          </a:xfrm>
          <a:prstGeom prst="rect">
            <a:avLst/>
          </a:prstGeom>
        </p:spPr>
      </p:pic>
      <p:pic>
        <p:nvPicPr>
          <p:cNvPr id="21" name="תמונה 20" descr="תמונה שמכילה שחור, חשיכה&#10;&#10;התיאור נוצר באופן אוטומטי">
            <a:extLst>
              <a:ext uri="{FF2B5EF4-FFF2-40B4-BE49-F238E27FC236}">
                <a16:creationId xmlns:a16="http://schemas.microsoft.com/office/drawing/2014/main" id="{EAF1CCA7-0030-4BAC-90BA-15B0670654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11678516" y="3861798"/>
            <a:ext cx="294791" cy="318428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12B35A65-7068-9A44-26B6-E6F1C2E34C31}"/>
              </a:ext>
            </a:extLst>
          </p:cNvPr>
          <p:cNvSpPr/>
          <p:nvPr/>
        </p:nvSpPr>
        <p:spPr>
          <a:xfrm>
            <a:off x="-413304" y="179389"/>
            <a:ext cx="8305674" cy="21402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7440"/>
              </a:lnSpc>
              <a:buNone/>
            </a:pPr>
            <a:endParaRPr lang="en-US" sz="11500" dirty="0">
              <a:solidFill>
                <a:srgbClr val="383838"/>
              </a:solidFill>
              <a:latin typeface="Montserrat Black" panose="00000A00000000000000" pitchFamily="2" charset="0"/>
              <a:ea typeface="Patrick Hand" pitchFamily="34" charset="-122"/>
              <a:cs typeface="Patrick Hand" pitchFamily="34" charset="-120"/>
            </a:endParaRPr>
          </a:p>
          <a:p>
            <a:pPr marL="0" indent="0" algn="ctr">
              <a:lnSpc>
                <a:spcPts val="7440"/>
              </a:lnSpc>
              <a:buNone/>
            </a:pPr>
            <a:r>
              <a:rPr lang="en-US" sz="6300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  <a:cs typeface="Patrick Hand" pitchFamily="34" charset="-120"/>
              </a:rPr>
              <a:t>Our Solution</a:t>
            </a:r>
            <a:endParaRPr lang="en-US" sz="6300" dirty="0">
              <a:latin typeface="Montserrat Black" panose="00000A00000000000000" pitchFamily="2" charset="0"/>
            </a:endParaRPr>
          </a:p>
        </p:txBody>
      </p:sp>
      <p:pic>
        <p:nvPicPr>
          <p:cNvPr id="7" name="תמונה 35">
            <a:extLst>
              <a:ext uri="{FF2B5EF4-FFF2-40B4-BE49-F238E27FC236}">
                <a16:creationId xmlns:a16="http://schemas.microsoft.com/office/drawing/2014/main" id="{679EF70E-6A33-6C31-CE4A-4E7103B0A06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7928" y="828737"/>
            <a:ext cx="215818" cy="292063"/>
          </a:xfrm>
          <a:prstGeom prst="rect">
            <a:avLst/>
          </a:prstGeom>
        </p:spPr>
      </p:pic>
      <p:pic>
        <p:nvPicPr>
          <p:cNvPr id="8" name="תמונה 38">
            <a:extLst>
              <a:ext uri="{FF2B5EF4-FFF2-40B4-BE49-F238E27FC236}">
                <a16:creationId xmlns:a16="http://schemas.microsoft.com/office/drawing/2014/main" id="{E869B55F-2330-8F33-A30C-AA39EA7ACBC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717422">
            <a:off x="6751367" y="1461870"/>
            <a:ext cx="164758" cy="222964"/>
          </a:xfrm>
          <a:prstGeom prst="rect">
            <a:avLst/>
          </a:prstGeom>
        </p:spPr>
      </p:pic>
      <p:sp>
        <p:nvSpPr>
          <p:cNvPr id="11" name="מלבן: פינות מעוגלות 11">
            <a:extLst>
              <a:ext uri="{FF2B5EF4-FFF2-40B4-BE49-F238E27FC236}">
                <a16:creationId xmlns:a16="http://schemas.microsoft.com/office/drawing/2014/main" id="{4E1CAD97-5179-A9B4-BE6E-580BB781B516}"/>
              </a:ext>
            </a:extLst>
          </p:cNvPr>
          <p:cNvSpPr/>
          <p:nvPr/>
        </p:nvSpPr>
        <p:spPr>
          <a:xfrm>
            <a:off x="312320" y="4404325"/>
            <a:ext cx="10098884" cy="110477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>
              <a:lnSpc>
                <a:spcPts val="2696"/>
              </a:lnSpc>
            </a:pPr>
            <a:endParaRPr lang="en-US" sz="2400" dirty="0">
              <a:solidFill>
                <a:srgbClr val="383838"/>
              </a:solidFill>
              <a:latin typeface="Montserrat Medium" panose="00000600000000000000" pitchFamily="2" charset="0"/>
              <a:ea typeface="Patrick Hand" pitchFamily="34" charset="-122"/>
              <a:cs typeface="Patrick Hand" pitchFamily="34" charset="-120"/>
            </a:endParaRPr>
          </a:p>
          <a:p>
            <a:pPr>
              <a:lnSpc>
                <a:spcPts val="2696"/>
              </a:lnSpc>
            </a:pPr>
            <a: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  <a:cs typeface="Patrick Hand" pitchFamily="34" charset="-120"/>
              </a:rPr>
              <a:t>Our solution introduces a user-friendly, automated system utilizing an advanced linear programming algorithm to optimize scheduling.</a:t>
            </a:r>
          </a:p>
          <a:p>
            <a:pPr algn="ctr">
              <a:lnSpc>
                <a:spcPts val="2696"/>
              </a:lnSpc>
            </a:pPr>
            <a:endParaRPr lang="he-IL" sz="2400" b="1" dirty="0">
              <a:solidFill>
                <a:srgbClr val="383838"/>
              </a:solidFill>
              <a:latin typeface="Montserrat Black" panose="00000A00000000000000" pitchFamily="2" charset="0"/>
              <a:ea typeface="Patrick Hand" pitchFamily="34" charset="-122"/>
            </a:endParaRPr>
          </a:p>
        </p:txBody>
      </p:sp>
      <p:sp>
        <p:nvSpPr>
          <p:cNvPr id="13" name="מלבן: פינות מעוגלות 11">
            <a:extLst>
              <a:ext uri="{FF2B5EF4-FFF2-40B4-BE49-F238E27FC236}">
                <a16:creationId xmlns:a16="http://schemas.microsoft.com/office/drawing/2014/main" id="{A138E12C-AE35-E7EB-9C12-8CB3FA8DC0B2}"/>
              </a:ext>
            </a:extLst>
          </p:cNvPr>
          <p:cNvSpPr/>
          <p:nvPr/>
        </p:nvSpPr>
        <p:spPr>
          <a:xfrm>
            <a:off x="321630" y="6357224"/>
            <a:ext cx="10091146" cy="118094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>
              <a:lnSpc>
                <a:spcPts val="2696"/>
              </a:lnSpc>
            </a:pPr>
            <a:r>
              <a:rPr lang="en-US" sz="2000" dirty="0" err="1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  <a:cs typeface="Patrick Hand" pitchFamily="34" charset="-120"/>
              </a:rPr>
              <a:t>Teamtime</a:t>
            </a:r>
            <a: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  <a:cs typeface="Patrick Hand" pitchFamily="34" charset="-120"/>
              </a:rPr>
              <a:t> is designed to tackle the common challenges encountered by managers and employees, addressing their specific scheduling needs efficiently and effectively.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2CB7FB-1B3E-665D-1AD4-CF117ED0E14F}"/>
              </a:ext>
            </a:extLst>
          </p:cNvPr>
          <p:cNvSpPr txBox="1"/>
          <p:nvPr/>
        </p:nvSpPr>
        <p:spPr>
          <a:xfrm>
            <a:off x="1359265" y="3309846"/>
            <a:ext cx="5552735" cy="45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96"/>
              </a:lnSpc>
            </a:pPr>
            <a:r>
              <a:rPr lang="en-US" sz="3300" b="1" dirty="0">
                <a:solidFill>
                  <a:schemeClr val="tx2">
                    <a:lumMod val="75000"/>
                  </a:schemeClr>
                </a:solidFill>
                <a:latin typeface="Montserrat Medium" panose="00000600000000000000" pitchFamily="2" charset="0"/>
                <a:ea typeface="Patrick Hand" pitchFamily="34" charset="-122"/>
                <a:cs typeface="Patrick Hand" pitchFamily="34" charset="-120"/>
              </a:rPr>
              <a:t>Indroducing </a:t>
            </a:r>
            <a:r>
              <a:rPr lang="en-US" sz="3300" b="1" dirty="0" err="1">
                <a:solidFill>
                  <a:schemeClr val="tx2">
                    <a:lumMod val="75000"/>
                  </a:schemeClr>
                </a:solidFill>
                <a:latin typeface="Montserrat Medium" panose="00000600000000000000" pitchFamily="2" charset="0"/>
                <a:ea typeface="Patrick Hand" pitchFamily="34" charset="-122"/>
                <a:cs typeface="Patrick Hand" pitchFamily="34" charset="-120"/>
              </a:rPr>
              <a:t>TeamTime</a:t>
            </a:r>
            <a:endParaRPr lang="en-US" sz="3300" b="1" dirty="0">
              <a:solidFill>
                <a:schemeClr val="tx2">
                  <a:lumMod val="75000"/>
                </a:schemeClr>
              </a:solidFill>
              <a:latin typeface="Montserrat Medium" panose="00000600000000000000" pitchFamily="2" charset="0"/>
              <a:ea typeface="Patrick Hand" pitchFamily="34" charset="-122"/>
              <a:cs typeface="Patrick Hand" pitchFamily="34" charset="-120"/>
            </a:endParaRPr>
          </a:p>
        </p:txBody>
      </p:sp>
      <p:grpSp>
        <p:nvGrpSpPr>
          <p:cNvPr id="43" name="קבוצה 26">
            <a:extLst>
              <a:ext uri="{FF2B5EF4-FFF2-40B4-BE49-F238E27FC236}">
                <a16:creationId xmlns:a16="http://schemas.microsoft.com/office/drawing/2014/main" id="{E2D58F38-333A-A666-572E-2F99065B5915}"/>
              </a:ext>
            </a:extLst>
          </p:cNvPr>
          <p:cNvGrpSpPr/>
          <p:nvPr/>
        </p:nvGrpSpPr>
        <p:grpSpPr>
          <a:xfrm>
            <a:off x="504855" y="12202640"/>
            <a:ext cx="13481366" cy="1394268"/>
            <a:chOff x="426739" y="2108199"/>
            <a:chExt cx="13481366" cy="1394268"/>
          </a:xfrm>
        </p:grpSpPr>
        <p:sp>
          <p:nvSpPr>
            <p:cNvPr id="44" name="מלבן: פינות מעוגלות 27">
              <a:extLst>
                <a:ext uri="{FF2B5EF4-FFF2-40B4-BE49-F238E27FC236}">
                  <a16:creationId xmlns:a16="http://schemas.microsoft.com/office/drawing/2014/main" id="{502C7334-C239-C4C0-0F7C-EB3BCFBDB93E}"/>
                </a:ext>
              </a:extLst>
            </p:cNvPr>
            <p:cNvSpPr/>
            <p:nvPr/>
          </p:nvSpPr>
          <p:spPr>
            <a:xfrm>
              <a:off x="426739" y="2629818"/>
              <a:ext cx="13481366" cy="87264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>
                <a:lnSpc>
                  <a:spcPts val="2696"/>
                </a:lnSpc>
              </a:pPr>
              <a:endParaRPr lang="en-US" sz="24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  <a:cs typeface="Patrick Hand" pitchFamily="34" charset="-120"/>
              </a:endParaRPr>
            </a:p>
            <a:p>
              <a:pPr>
                <a:lnSpc>
                  <a:spcPts val="2696"/>
                </a:lnSpc>
              </a:pPr>
              <a:r>
                <a:rPr lang="en-US" sz="2000" dirty="0">
                  <a:solidFill>
                    <a:srgbClr val="383838"/>
                  </a:solidFill>
                  <a:latin typeface="Montserrat Medium" panose="00000600000000000000" pitchFamily="2" charset="0"/>
                  <a:ea typeface="Patrick Hand" pitchFamily="34" charset="-122"/>
                  <a:cs typeface="Patrick Hand" pitchFamily="34" charset="-120"/>
                </a:rPr>
                <a:t>Relies on outdated techniques like manual spreadsheets, which are time-consuming and error-prone.</a:t>
              </a:r>
              <a:endParaRPr lang="en-US" sz="2000" dirty="0">
                <a:latin typeface="Montserrat Medium" panose="00000600000000000000" pitchFamily="2" charset="0"/>
              </a:endParaRPr>
            </a:p>
            <a:p>
              <a:pPr algn="ctr">
                <a:lnSpc>
                  <a:spcPts val="2696"/>
                </a:lnSpc>
              </a:pPr>
              <a:endParaRPr lang="he-IL" sz="2400" b="1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</a:endParaRPr>
            </a:p>
          </p:txBody>
        </p:sp>
        <p:sp>
          <p:nvSpPr>
            <p:cNvPr id="45" name="Text 3">
              <a:extLst>
                <a:ext uri="{FF2B5EF4-FFF2-40B4-BE49-F238E27FC236}">
                  <a16:creationId xmlns:a16="http://schemas.microsoft.com/office/drawing/2014/main" id="{C1AED3ED-229F-1F43-AC57-E38057A9B1AE}"/>
                </a:ext>
              </a:extLst>
            </p:cNvPr>
            <p:cNvSpPr/>
            <p:nvPr/>
          </p:nvSpPr>
          <p:spPr>
            <a:xfrm>
              <a:off x="426739" y="2108199"/>
              <a:ext cx="4311928" cy="872649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383838"/>
                  </a:solidFill>
                  <a:latin typeface="Montserrat Black" panose="00000A00000000000000" pitchFamily="2" charset="0"/>
                  <a:ea typeface="Patrick Hand" pitchFamily="34" charset="-122"/>
                </a:rPr>
                <a:t>Traditional</a:t>
              </a:r>
              <a:r>
                <a:rPr lang="en-US" sz="2400" b="1" dirty="0">
                  <a:solidFill>
                    <a:srgbClr val="383838"/>
                  </a:solidFill>
                  <a:latin typeface="Patrick Hand" pitchFamily="34" charset="0"/>
                  <a:ea typeface="Patrick Hand" pitchFamily="34" charset="-122"/>
                  <a:cs typeface="Patrick Hand" pitchFamily="34" charset="-120"/>
                </a:rPr>
                <a:t> </a:t>
              </a:r>
              <a:r>
                <a:rPr lang="en-US" sz="2400" b="1" dirty="0">
                  <a:solidFill>
                    <a:srgbClr val="383838"/>
                  </a:solidFill>
                  <a:latin typeface="Montserrat Black" panose="00000A00000000000000" pitchFamily="2" charset="0"/>
                  <a:ea typeface="Patrick Hand" pitchFamily="34" charset="-122"/>
                </a:rPr>
                <a:t>Methods</a:t>
              </a:r>
            </a:p>
          </p:txBody>
        </p:sp>
      </p:grpSp>
      <p:pic>
        <p:nvPicPr>
          <p:cNvPr id="46" name="תמונה 23" descr="תמונה שמכילה עיגול&#10;&#10;התיאור נוצר באופן אוטומטי">
            <a:extLst>
              <a:ext uri="{FF2B5EF4-FFF2-40B4-BE49-F238E27FC236}">
                <a16:creationId xmlns:a16="http://schemas.microsoft.com/office/drawing/2014/main" id="{F53145F8-8790-4A21-BA42-066A37352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174886">
            <a:off x="785117" y="8494432"/>
            <a:ext cx="1338148" cy="1428024"/>
          </a:xfrm>
          <a:prstGeom prst="rect">
            <a:avLst/>
          </a:prstGeom>
        </p:spPr>
      </p:pic>
      <p:sp>
        <p:nvSpPr>
          <p:cNvPr id="47" name="מלבן: פינות מעוגלות 29">
            <a:extLst>
              <a:ext uri="{FF2B5EF4-FFF2-40B4-BE49-F238E27FC236}">
                <a16:creationId xmlns:a16="http://schemas.microsoft.com/office/drawing/2014/main" id="{04F572C9-8CB8-CACF-4D9B-013E924B71CD}"/>
              </a:ext>
            </a:extLst>
          </p:cNvPr>
          <p:cNvSpPr/>
          <p:nvPr/>
        </p:nvSpPr>
        <p:spPr>
          <a:xfrm>
            <a:off x="807406" y="10036973"/>
            <a:ext cx="3150507" cy="47815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scene3d>
            <a:camera prst="perspectiveFront"/>
            <a:lightRig rig="glow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 sz="2400" b="1" dirty="0">
              <a:solidFill>
                <a:srgbClr val="383838"/>
              </a:solidFill>
              <a:latin typeface="Montserrat Black" panose="00000A00000000000000" pitchFamily="2" charset="0"/>
              <a:ea typeface="Patrick Hand" pitchFamily="34" charset="-122"/>
            </a:endParaRPr>
          </a:p>
        </p:txBody>
      </p:sp>
      <p:sp>
        <p:nvSpPr>
          <p:cNvPr id="48" name="מלבן: פינות מעוגלות 31">
            <a:extLst>
              <a:ext uri="{FF2B5EF4-FFF2-40B4-BE49-F238E27FC236}">
                <a16:creationId xmlns:a16="http://schemas.microsoft.com/office/drawing/2014/main" id="{1332B33B-6A93-CB3E-7CD4-64EBCD39F401}"/>
              </a:ext>
            </a:extLst>
          </p:cNvPr>
          <p:cNvSpPr/>
          <p:nvPr/>
        </p:nvSpPr>
        <p:spPr>
          <a:xfrm>
            <a:off x="4163344" y="10542616"/>
            <a:ext cx="3150507" cy="47815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scene3d>
            <a:camera prst="perspectiveFront"/>
            <a:lightRig rig="glow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 sz="2400" b="1" dirty="0">
              <a:solidFill>
                <a:srgbClr val="383838"/>
              </a:solidFill>
              <a:latin typeface="Montserrat Black" panose="00000A00000000000000" pitchFamily="2" charset="0"/>
              <a:ea typeface="Patrick Hand" pitchFamily="34" charset="-122"/>
            </a:endParaRPr>
          </a:p>
        </p:txBody>
      </p:sp>
      <p:sp>
        <p:nvSpPr>
          <p:cNvPr id="49" name="מלבן: פינות מעוגלות 33">
            <a:extLst>
              <a:ext uri="{FF2B5EF4-FFF2-40B4-BE49-F238E27FC236}">
                <a16:creationId xmlns:a16="http://schemas.microsoft.com/office/drawing/2014/main" id="{69103BDC-CF55-0253-619C-FE3BCBE0E702}"/>
              </a:ext>
            </a:extLst>
          </p:cNvPr>
          <p:cNvSpPr/>
          <p:nvPr/>
        </p:nvSpPr>
        <p:spPr>
          <a:xfrm>
            <a:off x="7519282" y="11048259"/>
            <a:ext cx="3150507" cy="47815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scene3d>
            <a:camera prst="perspectiveFront"/>
            <a:lightRig rig="glow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 sz="2400" b="1" dirty="0">
              <a:solidFill>
                <a:srgbClr val="383838"/>
              </a:solidFill>
              <a:latin typeface="Montserrat Black" panose="00000A00000000000000" pitchFamily="2" charset="0"/>
              <a:ea typeface="Patrick Hand" pitchFamily="34" charset="-122"/>
            </a:endParaRPr>
          </a:p>
        </p:txBody>
      </p:sp>
      <p:sp>
        <p:nvSpPr>
          <p:cNvPr id="50" name="מלבן: פינות מעוגלות 35">
            <a:extLst>
              <a:ext uri="{FF2B5EF4-FFF2-40B4-BE49-F238E27FC236}">
                <a16:creationId xmlns:a16="http://schemas.microsoft.com/office/drawing/2014/main" id="{2BB7255F-D677-0CE8-EA99-81826D9F377A}"/>
              </a:ext>
            </a:extLst>
          </p:cNvPr>
          <p:cNvSpPr/>
          <p:nvPr/>
        </p:nvSpPr>
        <p:spPr>
          <a:xfrm>
            <a:off x="10875220" y="11553902"/>
            <a:ext cx="3150507" cy="47815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scene3d>
            <a:camera prst="perspectiveFront"/>
            <a:lightRig rig="glow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1" eaLnBrk="1" latinLnBrk="0" hangingPunct="1"/>
            <a:endParaRPr lang="en-US" sz="2400" b="1" dirty="0">
              <a:solidFill>
                <a:srgbClr val="383838"/>
              </a:solidFill>
              <a:latin typeface="Montserrat Black" panose="00000A00000000000000" pitchFamily="2" charset="0"/>
              <a:ea typeface="Patrick Hand" pitchFamily="34" charset="-122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9BC79CB0-2884-F8B1-75C0-6EBE106E95D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0598264">
            <a:off x="10262071" y="114809"/>
            <a:ext cx="6226575" cy="30281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070948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מלבן: פינות מעוגלות 13">
            <a:extLst>
              <a:ext uri="{FF2B5EF4-FFF2-40B4-BE49-F238E27FC236}">
                <a16:creationId xmlns:a16="http://schemas.microsoft.com/office/drawing/2014/main" id="{A3F2BE95-A861-4FD8-857D-ABF1CDCD1A95}"/>
              </a:ext>
            </a:extLst>
          </p:cNvPr>
          <p:cNvSpPr/>
          <p:nvPr/>
        </p:nvSpPr>
        <p:spPr>
          <a:xfrm>
            <a:off x="729290" y="1769535"/>
            <a:ext cx="3150507" cy="47815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scene3d>
            <a:camera prst="perspectiveFront"/>
            <a:lightRig rig="glow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 sz="2400" b="1" dirty="0">
              <a:solidFill>
                <a:srgbClr val="383838"/>
              </a:solidFill>
              <a:latin typeface="Montserrat Black" panose="00000A00000000000000" pitchFamily="2" charset="0"/>
              <a:ea typeface="Patrick Hand" pitchFamily="3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958572" y="573286"/>
            <a:ext cx="10120908" cy="68472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392"/>
              </a:lnSpc>
              <a:buNone/>
            </a:pPr>
            <a:r>
              <a:rPr lang="en-US" sz="4400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  <a:cs typeface="Patrick Hand" pitchFamily="34" charset="-120"/>
              </a:rPr>
              <a:t>Weekly Flow:</a:t>
            </a:r>
          </a:p>
        </p:txBody>
      </p:sp>
      <p:grpSp>
        <p:nvGrpSpPr>
          <p:cNvPr id="17" name="קבוצה 16">
            <a:extLst>
              <a:ext uri="{FF2B5EF4-FFF2-40B4-BE49-F238E27FC236}">
                <a16:creationId xmlns:a16="http://schemas.microsoft.com/office/drawing/2014/main" id="{A2F89074-C654-44F4-8174-ECA7958ADC7E}"/>
              </a:ext>
            </a:extLst>
          </p:cNvPr>
          <p:cNvGrpSpPr/>
          <p:nvPr/>
        </p:nvGrpSpPr>
        <p:grpSpPr>
          <a:xfrm>
            <a:off x="426739" y="10873850"/>
            <a:ext cx="13497043" cy="1384170"/>
            <a:chOff x="426739" y="6037802"/>
            <a:chExt cx="13497043" cy="1384170"/>
          </a:xfrm>
        </p:grpSpPr>
        <p:sp>
          <p:nvSpPr>
            <p:cNvPr id="18" name="Text 5">
              <a:extLst>
                <a:ext uri="{FF2B5EF4-FFF2-40B4-BE49-F238E27FC236}">
                  <a16:creationId xmlns:a16="http://schemas.microsoft.com/office/drawing/2014/main" id="{A40D340A-7F04-41E1-81F6-E8F1505DA4CC}"/>
                </a:ext>
              </a:extLst>
            </p:cNvPr>
            <p:cNvSpPr/>
            <p:nvPr/>
          </p:nvSpPr>
          <p:spPr>
            <a:xfrm>
              <a:off x="426739" y="6037802"/>
              <a:ext cx="6904138" cy="872649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383838"/>
                  </a:solidFill>
                  <a:latin typeface="Montserrat Black" panose="00000A00000000000000" pitchFamily="2" charset="0"/>
                  <a:ea typeface="Patrick Hand" pitchFamily="34" charset="-122"/>
                </a:rPr>
                <a:t>Manager's Time and Efficiency</a:t>
              </a:r>
            </a:p>
          </p:txBody>
        </p:sp>
        <p:sp>
          <p:nvSpPr>
            <p:cNvPr id="19" name="מלבן: פינות מעוגלות 18">
              <a:extLst>
                <a:ext uri="{FF2B5EF4-FFF2-40B4-BE49-F238E27FC236}">
                  <a16:creationId xmlns:a16="http://schemas.microsoft.com/office/drawing/2014/main" id="{1D192E95-19D8-407F-9482-D96F5B504693}"/>
                </a:ext>
              </a:extLst>
            </p:cNvPr>
            <p:cNvSpPr/>
            <p:nvPr/>
          </p:nvSpPr>
          <p:spPr>
            <a:xfrm>
              <a:off x="442416" y="6549323"/>
              <a:ext cx="13481366" cy="87264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indent="0">
                <a:lnSpc>
                  <a:spcPts val="3451"/>
                </a:lnSpc>
                <a:buNone/>
              </a:pPr>
              <a:r>
                <a:rPr lang="en-US" sz="2000" dirty="0">
                  <a:solidFill>
                    <a:srgbClr val="383838"/>
                  </a:solidFill>
                  <a:latin typeface="Montserrat Medium" panose="00000600000000000000" pitchFamily="2" charset="0"/>
                  <a:ea typeface="Patrick Hand" pitchFamily="34" charset="-122"/>
                </a:rPr>
                <a:t>Creating schedules manually is extremely time-consuming for managers, reducing their efficiency.</a:t>
              </a:r>
            </a:p>
          </p:txBody>
        </p:sp>
      </p:grpSp>
      <p:grpSp>
        <p:nvGrpSpPr>
          <p:cNvPr id="21" name="קבוצה 20">
            <a:extLst>
              <a:ext uri="{FF2B5EF4-FFF2-40B4-BE49-F238E27FC236}">
                <a16:creationId xmlns:a16="http://schemas.microsoft.com/office/drawing/2014/main" id="{C1142876-D2F6-450D-A020-DC32CCD9AD1A}"/>
              </a:ext>
            </a:extLst>
          </p:cNvPr>
          <p:cNvGrpSpPr/>
          <p:nvPr/>
        </p:nvGrpSpPr>
        <p:grpSpPr>
          <a:xfrm>
            <a:off x="426739" y="10873850"/>
            <a:ext cx="13481366" cy="1384170"/>
            <a:chOff x="426739" y="4024086"/>
            <a:chExt cx="13481366" cy="1384170"/>
          </a:xfrm>
        </p:grpSpPr>
        <p:sp>
          <p:nvSpPr>
            <p:cNvPr id="23" name="Text 5">
              <a:extLst>
                <a:ext uri="{FF2B5EF4-FFF2-40B4-BE49-F238E27FC236}">
                  <a16:creationId xmlns:a16="http://schemas.microsoft.com/office/drawing/2014/main" id="{424149CC-6E4F-4FF9-84BE-C63C895F8B5C}"/>
                </a:ext>
              </a:extLst>
            </p:cNvPr>
            <p:cNvSpPr/>
            <p:nvPr/>
          </p:nvSpPr>
          <p:spPr>
            <a:xfrm>
              <a:off x="426739" y="4024086"/>
              <a:ext cx="4008499" cy="872649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r>
                <a:rPr lang="en-US" sz="2400" b="1" dirty="0">
                  <a:solidFill>
                    <a:srgbClr val="383838"/>
                  </a:solidFill>
                  <a:latin typeface="Montserrat Black" panose="00000A00000000000000" pitchFamily="2" charset="0"/>
                  <a:ea typeface="Patrick Hand" pitchFamily="34" charset="-122"/>
                </a:rPr>
                <a:t>Employee Preferences</a:t>
              </a:r>
            </a:p>
          </p:txBody>
        </p:sp>
        <p:sp>
          <p:nvSpPr>
            <p:cNvPr id="25" name="מלבן: פינות מעוגלות 24">
              <a:extLst>
                <a:ext uri="{FF2B5EF4-FFF2-40B4-BE49-F238E27FC236}">
                  <a16:creationId xmlns:a16="http://schemas.microsoft.com/office/drawing/2014/main" id="{D7CE8D53-275A-4F22-A53D-218604A830DC}"/>
                </a:ext>
              </a:extLst>
            </p:cNvPr>
            <p:cNvSpPr/>
            <p:nvPr/>
          </p:nvSpPr>
          <p:spPr>
            <a:xfrm>
              <a:off x="426739" y="4535607"/>
              <a:ext cx="13481366" cy="87264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indent="0">
                <a:lnSpc>
                  <a:spcPts val="3451"/>
                </a:lnSpc>
                <a:buNone/>
              </a:pPr>
              <a:r>
                <a:rPr lang="en-US" sz="2000" dirty="0">
                  <a:solidFill>
                    <a:srgbClr val="383838"/>
                  </a:solidFill>
                  <a:latin typeface="Montserrat Medium" panose="00000600000000000000" pitchFamily="2" charset="0"/>
                  <a:ea typeface="Patrick Hand" pitchFamily="34" charset="-122"/>
                </a:rPr>
                <a:t>Balancing individual preferences with business needs is complex and challenging.</a:t>
              </a:r>
            </a:p>
          </p:txBody>
        </p:sp>
      </p:grpSp>
      <p:grpSp>
        <p:nvGrpSpPr>
          <p:cNvPr id="27" name="קבוצה 26">
            <a:extLst>
              <a:ext uri="{FF2B5EF4-FFF2-40B4-BE49-F238E27FC236}">
                <a16:creationId xmlns:a16="http://schemas.microsoft.com/office/drawing/2014/main" id="{704E733D-D526-4D29-A77F-BA20BEB6EDBA}"/>
              </a:ext>
            </a:extLst>
          </p:cNvPr>
          <p:cNvGrpSpPr/>
          <p:nvPr/>
        </p:nvGrpSpPr>
        <p:grpSpPr>
          <a:xfrm>
            <a:off x="426739" y="10868801"/>
            <a:ext cx="13481366" cy="1394268"/>
            <a:chOff x="426739" y="2108199"/>
            <a:chExt cx="13481366" cy="1394268"/>
          </a:xfrm>
        </p:grpSpPr>
        <p:sp>
          <p:nvSpPr>
            <p:cNvPr id="28" name="מלבן: פינות מעוגלות 27">
              <a:extLst>
                <a:ext uri="{FF2B5EF4-FFF2-40B4-BE49-F238E27FC236}">
                  <a16:creationId xmlns:a16="http://schemas.microsoft.com/office/drawing/2014/main" id="{314D50B6-A847-46E0-AF3F-3E014F4592C2}"/>
                </a:ext>
              </a:extLst>
            </p:cNvPr>
            <p:cNvSpPr/>
            <p:nvPr/>
          </p:nvSpPr>
          <p:spPr>
            <a:xfrm>
              <a:off x="426739" y="2629818"/>
              <a:ext cx="13481366" cy="87264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>
                <a:lnSpc>
                  <a:spcPts val="2696"/>
                </a:lnSpc>
              </a:pPr>
              <a:endParaRPr lang="en-US" sz="24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  <a:cs typeface="Patrick Hand" pitchFamily="34" charset="-120"/>
              </a:endParaRPr>
            </a:p>
            <a:p>
              <a:pPr>
                <a:lnSpc>
                  <a:spcPts val="2696"/>
                </a:lnSpc>
              </a:pPr>
              <a:r>
                <a:rPr lang="en-US" sz="2000" dirty="0">
                  <a:solidFill>
                    <a:srgbClr val="383838"/>
                  </a:solidFill>
                  <a:latin typeface="Montserrat Medium" panose="00000600000000000000" pitchFamily="2" charset="0"/>
                  <a:ea typeface="Patrick Hand" pitchFamily="34" charset="-122"/>
                  <a:cs typeface="Patrick Hand" pitchFamily="34" charset="-120"/>
                </a:rPr>
                <a:t>Relies on outdated techniques like manual spreadsheets, which are time-consuming and error-prone.</a:t>
              </a:r>
              <a:endParaRPr lang="en-US" sz="2000" dirty="0">
                <a:latin typeface="Montserrat Medium" panose="00000600000000000000" pitchFamily="2" charset="0"/>
              </a:endParaRPr>
            </a:p>
            <a:p>
              <a:pPr algn="ctr">
                <a:lnSpc>
                  <a:spcPts val="2696"/>
                </a:lnSpc>
              </a:pPr>
              <a:endParaRPr lang="he-IL" sz="2400" b="1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</a:endParaRPr>
            </a:p>
          </p:txBody>
        </p:sp>
        <p:sp>
          <p:nvSpPr>
            <p:cNvPr id="29" name="Text 3">
              <a:extLst>
                <a:ext uri="{FF2B5EF4-FFF2-40B4-BE49-F238E27FC236}">
                  <a16:creationId xmlns:a16="http://schemas.microsoft.com/office/drawing/2014/main" id="{356CAD60-D1B4-4D5B-8404-7F3EB99DFF5D}"/>
                </a:ext>
              </a:extLst>
            </p:cNvPr>
            <p:cNvSpPr/>
            <p:nvPr/>
          </p:nvSpPr>
          <p:spPr>
            <a:xfrm>
              <a:off x="426739" y="2108199"/>
              <a:ext cx="4311928" cy="872649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383838"/>
                  </a:solidFill>
                  <a:latin typeface="Montserrat Black" panose="00000A00000000000000" pitchFamily="2" charset="0"/>
                  <a:ea typeface="Patrick Hand" pitchFamily="34" charset="-122"/>
                </a:rPr>
                <a:t>Traditional</a:t>
              </a:r>
              <a:r>
                <a:rPr lang="en-US" sz="2400" b="1" dirty="0">
                  <a:solidFill>
                    <a:srgbClr val="383838"/>
                  </a:solidFill>
                  <a:latin typeface="Patrick Hand" pitchFamily="34" charset="0"/>
                  <a:ea typeface="Patrick Hand" pitchFamily="34" charset="-122"/>
                  <a:cs typeface="Patrick Hand" pitchFamily="34" charset="-120"/>
                </a:rPr>
                <a:t> </a:t>
              </a:r>
              <a:r>
                <a:rPr lang="en-US" sz="2400" b="1" dirty="0">
                  <a:solidFill>
                    <a:srgbClr val="383838"/>
                  </a:solidFill>
                  <a:latin typeface="Montserrat Black" panose="00000A00000000000000" pitchFamily="2" charset="0"/>
                  <a:ea typeface="Patrick Hand" pitchFamily="34" charset="-122"/>
                </a:rPr>
                <a:t>Methods</a:t>
              </a:r>
            </a:p>
          </p:txBody>
        </p:sp>
      </p:grpSp>
      <p:sp>
        <p:nvSpPr>
          <p:cNvPr id="26" name="מלבן: פינות מעוגלות 25">
            <a:extLst>
              <a:ext uri="{FF2B5EF4-FFF2-40B4-BE49-F238E27FC236}">
                <a16:creationId xmlns:a16="http://schemas.microsoft.com/office/drawing/2014/main" id="{B54BFA33-7097-4495-888E-874DCEA356A3}"/>
              </a:ext>
            </a:extLst>
          </p:cNvPr>
          <p:cNvSpPr/>
          <p:nvPr/>
        </p:nvSpPr>
        <p:spPr>
          <a:xfrm>
            <a:off x="4085227" y="1752972"/>
            <a:ext cx="3150507" cy="47815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scene3d>
            <a:camera prst="perspectiveFront"/>
            <a:lightRig rig="glow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 sz="2400" b="1" dirty="0">
              <a:solidFill>
                <a:srgbClr val="383838"/>
              </a:solidFill>
              <a:latin typeface="Montserrat Black" panose="00000A00000000000000" pitchFamily="2" charset="0"/>
              <a:ea typeface="Patrick Hand" pitchFamily="34" charset="-122"/>
            </a:endParaRPr>
          </a:p>
        </p:txBody>
      </p:sp>
      <p:sp>
        <p:nvSpPr>
          <p:cNvPr id="36" name="מלבן: פינות מעוגלות 35">
            <a:extLst>
              <a:ext uri="{FF2B5EF4-FFF2-40B4-BE49-F238E27FC236}">
                <a16:creationId xmlns:a16="http://schemas.microsoft.com/office/drawing/2014/main" id="{805B1FA1-2F92-4FDA-AC50-BEA8CA23F02D}"/>
              </a:ext>
            </a:extLst>
          </p:cNvPr>
          <p:cNvSpPr/>
          <p:nvPr/>
        </p:nvSpPr>
        <p:spPr>
          <a:xfrm>
            <a:off x="7441166" y="1724025"/>
            <a:ext cx="3150507" cy="47815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scene3d>
            <a:camera prst="perspectiveFront"/>
            <a:lightRig rig="glow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 sz="2400" b="1" dirty="0">
              <a:solidFill>
                <a:srgbClr val="383838"/>
              </a:solidFill>
              <a:latin typeface="Montserrat Black" panose="00000A00000000000000" pitchFamily="2" charset="0"/>
              <a:ea typeface="Patrick Hand" pitchFamily="34" charset="-122"/>
            </a:endParaRPr>
          </a:p>
        </p:txBody>
      </p:sp>
      <p:sp>
        <p:nvSpPr>
          <p:cNvPr id="38" name="מלבן: פינות מעוגלות 37">
            <a:extLst>
              <a:ext uri="{FF2B5EF4-FFF2-40B4-BE49-F238E27FC236}">
                <a16:creationId xmlns:a16="http://schemas.microsoft.com/office/drawing/2014/main" id="{679399D5-A485-4FF5-8D67-93BBD45E0D3C}"/>
              </a:ext>
            </a:extLst>
          </p:cNvPr>
          <p:cNvSpPr/>
          <p:nvPr/>
        </p:nvSpPr>
        <p:spPr>
          <a:xfrm>
            <a:off x="10797104" y="1724025"/>
            <a:ext cx="3150507" cy="47815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scene3d>
            <a:camera prst="perspectiveFront"/>
            <a:lightRig rig="glow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 sz="2400" b="1" dirty="0">
              <a:solidFill>
                <a:srgbClr val="383838"/>
              </a:solidFill>
              <a:latin typeface="Montserrat Black" panose="00000A00000000000000" pitchFamily="2" charset="0"/>
              <a:ea typeface="Patrick Hand" pitchFamily="34" charset="-12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40E8E2-4397-BCCF-9DAA-541B05825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102" y="3047754"/>
            <a:ext cx="2080944" cy="20809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BB67881-75C9-F74B-E67E-76CD163376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0319" y="3034010"/>
            <a:ext cx="2108432" cy="210843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4E30700-B3B1-02C1-7AA9-D16F9801CD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4768" y="3074328"/>
            <a:ext cx="2068114" cy="206811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582CF64-3DB5-884C-487D-EB03721C54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95382" y="3131411"/>
            <a:ext cx="1953947" cy="195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598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958572" y="573286"/>
            <a:ext cx="10120908" cy="68472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392"/>
              </a:lnSpc>
              <a:buNone/>
            </a:pPr>
            <a:r>
              <a:rPr lang="en-US" sz="4400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  <a:cs typeface="Patrick Hand" pitchFamily="34" charset="-120"/>
              </a:rPr>
              <a:t>Workflow:</a:t>
            </a:r>
          </a:p>
        </p:txBody>
      </p:sp>
      <p:grpSp>
        <p:nvGrpSpPr>
          <p:cNvPr id="17" name="קבוצה 16">
            <a:extLst>
              <a:ext uri="{FF2B5EF4-FFF2-40B4-BE49-F238E27FC236}">
                <a16:creationId xmlns:a16="http://schemas.microsoft.com/office/drawing/2014/main" id="{A2F89074-C654-44F4-8174-ECA7958ADC7E}"/>
              </a:ext>
            </a:extLst>
          </p:cNvPr>
          <p:cNvGrpSpPr/>
          <p:nvPr/>
        </p:nvGrpSpPr>
        <p:grpSpPr>
          <a:xfrm>
            <a:off x="426739" y="10873850"/>
            <a:ext cx="13497043" cy="1384170"/>
            <a:chOff x="426739" y="6037802"/>
            <a:chExt cx="13497043" cy="1384170"/>
          </a:xfrm>
        </p:grpSpPr>
        <p:sp>
          <p:nvSpPr>
            <p:cNvPr id="18" name="Text 5">
              <a:extLst>
                <a:ext uri="{FF2B5EF4-FFF2-40B4-BE49-F238E27FC236}">
                  <a16:creationId xmlns:a16="http://schemas.microsoft.com/office/drawing/2014/main" id="{A40D340A-7F04-41E1-81F6-E8F1505DA4CC}"/>
                </a:ext>
              </a:extLst>
            </p:cNvPr>
            <p:cNvSpPr/>
            <p:nvPr/>
          </p:nvSpPr>
          <p:spPr>
            <a:xfrm>
              <a:off x="426739" y="6037802"/>
              <a:ext cx="6904138" cy="872649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383838"/>
                  </a:solidFill>
                  <a:latin typeface="Montserrat Black" panose="00000A00000000000000" pitchFamily="2" charset="0"/>
                  <a:ea typeface="Patrick Hand" pitchFamily="34" charset="-122"/>
                </a:rPr>
                <a:t>Manager's Time and Efficiency</a:t>
              </a:r>
            </a:p>
          </p:txBody>
        </p:sp>
        <p:sp>
          <p:nvSpPr>
            <p:cNvPr id="19" name="מלבן: פינות מעוגלות 18">
              <a:extLst>
                <a:ext uri="{FF2B5EF4-FFF2-40B4-BE49-F238E27FC236}">
                  <a16:creationId xmlns:a16="http://schemas.microsoft.com/office/drawing/2014/main" id="{1D192E95-19D8-407F-9482-D96F5B504693}"/>
                </a:ext>
              </a:extLst>
            </p:cNvPr>
            <p:cNvSpPr/>
            <p:nvPr/>
          </p:nvSpPr>
          <p:spPr>
            <a:xfrm>
              <a:off x="442416" y="6549323"/>
              <a:ext cx="13481366" cy="87264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indent="0">
                <a:lnSpc>
                  <a:spcPts val="3451"/>
                </a:lnSpc>
                <a:buNone/>
              </a:pPr>
              <a:r>
                <a:rPr lang="en-US" sz="2000" dirty="0">
                  <a:solidFill>
                    <a:srgbClr val="383838"/>
                  </a:solidFill>
                  <a:latin typeface="Montserrat Medium" panose="00000600000000000000" pitchFamily="2" charset="0"/>
                  <a:ea typeface="Patrick Hand" pitchFamily="34" charset="-122"/>
                </a:rPr>
                <a:t>Creating schedules manually is extremely time-consuming for managers, reducing their efficiency.</a:t>
              </a:r>
            </a:p>
          </p:txBody>
        </p:sp>
      </p:grpSp>
      <p:grpSp>
        <p:nvGrpSpPr>
          <p:cNvPr id="21" name="קבוצה 20">
            <a:extLst>
              <a:ext uri="{FF2B5EF4-FFF2-40B4-BE49-F238E27FC236}">
                <a16:creationId xmlns:a16="http://schemas.microsoft.com/office/drawing/2014/main" id="{C1142876-D2F6-450D-A020-DC32CCD9AD1A}"/>
              </a:ext>
            </a:extLst>
          </p:cNvPr>
          <p:cNvGrpSpPr/>
          <p:nvPr/>
        </p:nvGrpSpPr>
        <p:grpSpPr>
          <a:xfrm>
            <a:off x="426739" y="10873850"/>
            <a:ext cx="13481366" cy="1384170"/>
            <a:chOff x="426739" y="4024086"/>
            <a:chExt cx="13481366" cy="1384170"/>
          </a:xfrm>
        </p:grpSpPr>
        <p:sp>
          <p:nvSpPr>
            <p:cNvPr id="23" name="Text 5">
              <a:extLst>
                <a:ext uri="{FF2B5EF4-FFF2-40B4-BE49-F238E27FC236}">
                  <a16:creationId xmlns:a16="http://schemas.microsoft.com/office/drawing/2014/main" id="{424149CC-6E4F-4FF9-84BE-C63C895F8B5C}"/>
                </a:ext>
              </a:extLst>
            </p:cNvPr>
            <p:cNvSpPr/>
            <p:nvPr/>
          </p:nvSpPr>
          <p:spPr>
            <a:xfrm>
              <a:off x="426739" y="4024086"/>
              <a:ext cx="4008499" cy="872649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r>
                <a:rPr lang="en-US" sz="2400" b="1" dirty="0">
                  <a:solidFill>
                    <a:srgbClr val="383838"/>
                  </a:solidFill>
                  <a:latin typeface="Montserrat Black" panose="00000A00000000000000" pitchFamily="2" charset="0"/>
                  <a:ea typeface="Patrick Hand" pitchFamily="34" charset="-122"/>
                </a:rPr>
                <a:t>Employee Preferences</a:t>
              </a:r>
            </a:p>
          </p:txBody>
        </p:sp>
        <p:sp>
          <p:nvSpPr>
            <p:cNvPr id="25" name="מלבן: פינות מעוגלות 24">
              <a:extLst>
                <a:ext uri="{FF2B5EF4-FFF2-40B4-BE49-F238E27FC236}">
                  <a16:creationId xmlns:a16="http://schemas.microsoft.com/office/drawing/2014/main" id="{D7CE8D53-275A-4F22-A53D-218604A830DC}"/>
                </a:ext>
              </a:extLst>
            </p:cNvPr>
            <p:cNvSpPr/>
            <p:nvPr/>
          </p:nvSpPr>
          <p:spPr>
            <a:xfrm>
              <a:off x="426739" y="4535607"/>
              <a:ext cx="13481366" cy="87264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indent="0">
                <a:lnSpc>
                  <a:spcPts val="3451"/>
                </a:lnSpc>
                <a:buNone/>
              </a:pPr>
              <a:r>
                <a:rPr lang="en-US" sz="2000" dirty="0">
                  <a:solidFill>
                    <a:srgbClr val="383838"/>
                  </a:solidFill>
                  <a:latin typeface="Montserrat Medium" panose="00000600000000000000" pitchFamily="2" charset="0"/>
                  <a:ea typeface="Patrick Hand" pitchFamily="34" charset="-122"/>
                </a:rPr>
                <a:t>Balancing individual preferences with business needs is complex and challenging.</a:t>
              </a:r>
            </a:p>
          </p:txBody>
        </p:sp>
      </p:grpSp>
      <p:grpSp>
        <p:nvGrpSpPr>
          <p:cNvPr id="27" name="קבוצה 26">
            <a:extLst>
              <a:ext uri="{FF2B5EF4-FFF2-40B4-BE49-F238E27FC236}">
                <a16:creationId xmlns:a16="http://schemas.microsoft.com/office/drawing/2014/main" id="{704E733D-D526-4D29-A77F-BA20BEB6EDBA}"/>
              </a:ext>
            </a:extLst>
          </p:cNvPr>
          <p:cNvGrpSpPr/>
          <p:nvPr/>
        </p:nvGrpSpPr>
        <p:grpSpPr>
          <a:xfrm>
            <a:off x="426739" y="10868801"/>
            <a:ext cx="13481366" cy="1394268"/>
            <a:chOff x="426739" y="2108199"/>
            <a:chExt cx="13481366" cy="1394268"/>
          </a:xfrm>
        </p:grpSpPr>
        <p:sp>
          <p:nvSpPr>
            <p:cNvPr id="28" name="מלבן: פינות מעוגלות 27">
              <a:extLst>
                <a:ext uri="{FF2B5EF4-FFF2-40B4-BE49-F238E27FC236}">
                  <a16:creationId xmlns:a16="http://schemas.microsoft.com/office/drawing/2014/main" id="{314D50B6-A847-46E0-AF3F-3E014F4592C2}"/>
                </a:ext>
              </a:extLst>
            </p:cNvPr>
            <p:cNvSpPr/>
            <p:nvPr/>
          </p:nvSpPr>
          <p:spPr>
            <a:xfrm>
              <a:off x="426739" y="2629818"/>
              <a:ext cx="13481366" cy="87264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>
                <a:lnSpc>
                  <a:spcPts val="2696"/>
                </a:lnSpc>
              </a:pPr>
              <a:endParaRPr lang="en-US" sz="24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  <a:cs typeface="Patrick Hand" pitchFamily="34" charset="-120"/>
              </a:endParaRPr>
            </a:p>
            <a:p>
              <a:pPr>
                <a:lnSpc>
                  <a:spcPts val="2696"/>
                </a:lnSpc>
              </a:pPr>
              <a:r>
                <a:rPr lang="en-US" sz="2000" dirty="0">
                  <a:solidFill>
                    <a:srgbClr val="383838"/>
                  </a:solidFill>
                  <a:latin typeface="Montserrat Medium" panose="00000600000000000000" pitchFamily="2" charset="0"/>
                  <a:ea typeface="Patrick Hand" pitchFamily="34" charset="-122"/>
                  <a:cs typeface="Patrick Hand" pitchFamily="34" charset="-120"/>
                </a:rPr>
                <a:t>Relies on outdated techniques like manual spreadsheets, which are time-consuming and error-prone.</a:t>
              </a:r>
              <a:endParaRPr lang="en-US" sz="2000" dirty="0">
                <a:latin typeface="Montserrat Medium" panose="00000600000000000000" pitchFamily="2" charset="0"/>
              </a:endParaRPr>
            </a:p>
            <a:p>
              <a:pPr algn="ctr">
                <a:lnSpc>
                  <a:spcPts val="2696"/>
                </a:lnSpc>
              </a:pPr>
              <a:endParaRPr lang="he-IL" sz="2400" b="1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</a:endParaRPr>
            </a:p>
          </p:txBody>
        </p:sp>
        <p:sp>
          <p:nvSpPr>
            <p:cNvPr id="29" name="Text 3">
              <a:extLst>
                <a:ext uri="{FF2B5EF4-FFF2-40B4-BE49-F238E27FC236}">
                  <a16:creationId xmlns:a16="http://schemas.microsoft.com/office/drawing/2014/main" id="{356CAD60-D1B4-4D5B-8404-7F3EB99DFF5D}"/>
                </a:ext>
              </a:extLst>
            </p:cNvPr>
            <p:cNvSpPr/>
            <p:nvPr/>
          </p:nvSpPr>
          <p:spPr>
            <a:xfrm>
              <a:off x="426739" y="2108199"/>
              <a:ext cx="4311928" cy="872649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383838"/>
                  </a:solidFill>
                  <a:latin typeface="Montserrat Black" panose="00000A00000000000000" pitchFamily="2" charset="0"/>
                  <a:ea typeface="Patrick Hand" pitchFamily="34" charset="-122"/>
                </a:rPr>
                <a:t>Traditional</a:t>
              </a:r>
              <a:r>
                <a:rPr lang="en-US" sz="2400" b="1" dirty="0">
                  <a:solidFill>
                    <a:srgbClr val="383838"/>
                  </a:solidFill>
                  <a:latin typeface="Patrick Hand" pitchFamily="34" charset="0"/>
                  <a:ea typeface="Patrick Hand" pitchFamily="34" charset="-122"/>
                  <a:cs typeface="Patrick Hand" pitchFamily="34" charset="-120"/>
                </a:rPr>
                <a:t> </a:t>
              </a:r>
              <a:r>
                <a:rPr lang="en-US" sz="2400" b="1" dirty="0">
                  <a:solidFill>
                    <a:srgbClr val="383838"/>
                  </a:solidFill>
                  <a:latin typeface="Montserrat Black" panose="00000A00000000000000" pitchFamily="2" charset="0"/>
                  <a:ea typeface="Patrick Hand" pitchFamily="34" charset="-122"/>
                </a:rPr>
                <a:t>Methods</a:t>
              </a:r>
            </a:p>
          </p:txBody>
        </p:sp>
      </p:grp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E1E2D8B7-7B36-4B2E-A6CD-D44A1C3B820C}"/>
              </a:ext>
            </a:extLst>
          </p:cNvPr>
          <p:cNvSpPr txBox="1"/>
          <p:nvPr/>
        </p:nvSpPr>
        <p:spPr>
          <a:xfrm>
            <a:off x="4085227" y="2229668"/>
            <a:ext cx="315050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endParaRPr lang="he-IL" dirty="0">
              <a:latin typeface="Montserrat Medium" panose="00000600000000000000" pitchFamily="2" charset="0"/>
            </a:endParaRPr>
          </a:p>
        </p:txBody>
      </p:sp>
      <p:sp>
        <p:nvSpPr>
          <p:cNvPr id="24" name="תיבת טקסט 23">
            <a:extLst>
              <a:ext uri="{FF2B5EF4-FFF2-40B4-BE49-F238E27FC236}">
                <a16:creationId xmlns:a16="http://schemas.microsoft.com/office/drawing/2014/main" id="{0F026755-E35A-4734-AEFC-E9EF000D47DD}"/>
              </a:ext>
            </a:extLst>
          </p:cNvPr>
          <p:cNvSpPr txBox="1"/>
          <p:nvPr/>
        </p:nvSpPr>
        <p:spPr>
          <a:xfrm>
            <a:off x="10797103" y="2229668"/>
            <a:ext cx="315050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endParaRPr lang="he-IL" dirty="0">
              <a:latin typeface="Montserrat Medium" panose="00000600000000000000" pitchFamily="2" charset="0"/>
            </a:endParaRPr>
          </a:p>
        </p:txBody>
      </p:sp>
      <p:sp>
        <p:nvSpPr>
          <p:cNvPr id="6" name="מלבן: פינות מעוגלות 25">
            <a:extLst>
              <a:ext uri="{FF2B5EF4-FFF2-40B4-BE49-F238E27FC236}">
                <a16:creationId xmlns:a16="http://schemas.microsoft.com/office/drawing/2014/main" id="{E8702864-B54D-9406-6090-7682DCD259EE}"/>
              </a:ext>
            </a:extLst>
          </p:cNvPr>
          <p:cNvSpPr/>
          <p:nvPr/>
        </p:nvSpPr>
        <p:spPr>
          <a:xfrm>
            <a:off x="4085227" y="1752972"/>
            <a:ext cx="3150507" cy="47815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scene3d>
            <a:camera prst="perspectiveFront"/>
            <a:lightRig rig="glow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 sz="2400" b="1" dirty="0">
              <a:solidFill>
                <a:srgbClr val="383838"/>
              </a:solidFill>
              <a:latin typeface="Montserrat Black" panose="00000A00000000000000" pitchFamily="2" charset="0"/>
              <a:ea typeface="Patrick Hand" pitchFamily="34" charset="-122"/>
            </a:endParaRPr>
          </a:p>
        </p:txBody>
      </p:sp>
      <p:sp>
        <p:nvSpPr>
          <p:cNvPr id="7" name="מלבן: פינות מעוגלות 35">
            <a:extLst>
              <a:ext uri="{FF2B5EF4-FFF2-40B4-BE49-F238E27FC236}">
                <a16:creationId xmlns:a16="http://schemas.microsoft.com/office/drawing/2014/main" id="{9B641262-8FBA-D6E9-3BA1-B708B8670AE9}"/>
              </a:ext>
            </a:extLst>
          </p:cNvPr>
          <p:cNvSpPr/>
          <p:nvPr/>
        </p:nvSpPr>
        <p:spPr>
          <a:xfrm>
            <a:off x="7441166" y="1724025"/>
            <a:ext cx="3150507" cy="47815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scene3d>
            <a:camera prst="perspectiveFront"/>
            <a:lightRig rig="glow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 sz="2400" b="1" dirty="0">
              <a:solidFill>
                <a:srgbClr val="383838"/>
              </a:solidFill>
              <a:latin typeface="Montserrat Black" panose="00000A00000000000000" pitchFamily="2" charset="0"/>
              <a:ea typeface="Patrick Hand" pitchFamily="34" charset="-122"/>
            </a:endParaRPr>
          </a:p>
        </p:txBody>
      </p:sp>
      <p:sp>
        <p:nvSpPr>
          <p:cNvPr id="8" name="מלבן: פינות מעוגלות 37">
            <a:extLst>
              <a:ext uri="{FF2B5EF4-FFF2-40B4-BE49-F238E27FC236}">
                <a16:creationId xmlns:a16="http://schemas.microsoft.com/office/drawing/2014/main" id="{5B112B4D-2001-9734-7815-8E560B47CBAD}"/>
              </a:ext>
            </a:extLst>
          </p:cNvPr>
          <p:cNvSpPr/>
          <p:nvPr/>
        </p:nvSpPr>
        <p:spPr>
          <a:xfrm>
            <a:off x="10797104" y="1724025"/>
            <a:ext cx="3150507" cy="47815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scene3d>
            <a:camera prst="perspectiveFront"/>
            <a:lightRig rig="glow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 sz="2400" b="1" dirty="0">
              <a:solidFill>
                <a:srgbClr val="383838"/>
              </a:solidFill>
              <a:latin typeface="Montserrat Black" panose="00000A00000000000000" pitchFamily="2" charset="0"/>
              <a:ea typeface="Patrick Hand" pitchFamily="34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F0CD98-EC01-43A4-B31F-1928E6767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319" y="3034010"/>
            <a:ext cx="2108432" cy="21084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7A4A34-4E86-9437-E9B3-D6D866A7FA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4768" y="3074328"/>
            <a:ext cx="2068114" cy="20681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DDDF02-B055-FF87-6861-0290C028DF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95382" y="3131411"/>
            <a:ext cx="1953947" cy="1953947"/>
          </a:xfrm>
          <a:prstGeom prst="rect">
            <a:avLst/>
          </a:prstGeom>
        </p:spPr>
      </p:pic>
      <p:pic>
        <p:nvPicPr>
          <p:cNvPr id="12" name="תמונה 41" descr="תמונה שמכילה שחור, חשיכה&#10;&#10;התיאור נוצר באופן אוטומטי">
            <a:extLst>
              <a:ext uri="{FF2B5EF4-FFF2-40B4-BE49-F238E27FC236}">
                <a16:creationId xmlns:a16="http://schemas.microsoft.com/office/drawing/2014/main" id="{DA392030-56D2-7468-45AC-03E7F9915C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0920" y="1051174"/>
            <a:ext cx="899912" cy="899912"/>
          </a:xfrm>
          <a:prstGeom prst="rect">
            <a:avLst/>
          </a:prstGeom>
        </p:spPr>
      </p:pic>
      <p:sp>
        <p:nvSpPr>
          <p:cNvPr id="14" name="מלבן: פינות מעוגלות 45">
            <a:extLst>
              <a:ext uri="{FF2B5EF4-FFF2-40B4-BE49-F238E27FC236}">
                <a16:creationId xmlns:a16="http://schemas.microsoft.com/office/drawing/2014/main" id="{0264F689-869E-EED2-6FF9-575DD5C83B03}"/>
              </a:ext>
            </a:extLst>
          </p:cNvPr>
          <p:cNvSpPr/>
          <p:nvPr/>
        </p:nvSpPr>
        <p:spPr>
          <a:xfrm>
            <a:off x="728301" y="1724024"/>
            <a:ext cx="3150507" cy="47815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perspectiveFront">
              <a:rot lat="0" lon="10800000" rev="0"/>
            </a:camera>
            <a:lightRig rig="glow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 sz="2400" b="1" dirty="0">
              <a:solidFill>
                <a:srgbClr val="383838"/>
              </a:solidFill>
              <a:latin typeface="Montserrat Black" panose="00000A00000000000000" pitchFamily="2" charset="0"/>
              <a:ea typeface="Patrick Hand" pitchFamily="34" charset="-122"/>
            </a:endParaRPr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08807D90-2B9D-38F0-DD73-8906B46B1F32}"/>
              </a:ext>
            </a:extLst>
          </p:cNvPr>
          <p:cNvSpPr/>
          <p:nvPr/>
        </p:nvSpPr>
        <p:spPr>
          <a:xfrm>
            <a:off x="1090962" y="2291234"/>
            <a:ext cx="2425184" cy="6846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696"/>
              </a:lnSpc>
              <a:buNone/>
            </a:pPr>
            <a:r>
              <a:rPr lang="en-US" sz="2400" b="1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</a:rPr>
              <a:t>Setup process </a:t>
            </a:r>
          </a:p>
        </p:txBody>
      </p:sp>
      <p:sp>
        <p:nvSpPr>
          <p:cNvPr id="30" name="תיבת טקסט 47">
            <a:extLst>
              <a:ext uri="{FF2B5EF4-FFF2-40B4-BE49-F238E27FC236}">
                <a16:creationId xmlns:a16="http://schemas.microsoft.com/office/drawing/2014/main" id="{1CA40DDE-CF27-E25D-0E19-039E96458F62}"/>
              </a:ext>
            </a:extLst>
          </p:cNvPr>
          <p:cNvSpPr txBox="1"/>
          <p:nvPr/>
        </p:nvSpPr>
        <p:spPr>
          <a:xfrm>
            <a:off x="728300" y="3324903"/>
            <a:ext cx="3125276" cy="2281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3451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Administrators set staffing requirements and schedule next week's shifts according to business needs</a:t>
            </a:r>
          </a:p>
        </p:txBody>
      </p:sp>
    </p:spTree>
    <p:extLst>
      <p:ext uri="{BB962C8B-B14F-4D97-AF65-F5344CB8AC3E}">
        <p14:creationId xmlns:p14="http://schemas.microsoft.com/office/powerpoint/2010/main" val="29659212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958572" y="573286"/>
            <a:ext cx="10120908" cy="68472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392"/>
              </a:lnSpc>
              <a:buNone/>
            </a:pPr>
            <a:r>
              <a:rPr lang="en-US" sz="4400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  <a:cs typeface="Patrick Hand" pitchFamily="34" charset="-120"/>
              </a:rPr>
              <a:t>Workflow:</a:t>
            </a:r>
          </a:p>
        </p:txBody>
      </p:sp>
      <p:grpSp>
        <p:nvGrpSpPr>
          <p:cNvPr id="17" name="קבוצה 16">
            <a:extLst>
              <a:ext uri="{FF2B5EF4-FFF2-40B4-BE49-F238E27FC236}">
                <a16:creationId xmlns:a16="http://schemas.microsoft.com/office/drawing/2014/main" id="{A2F89074-C654-44F4-8174-ECA7958ADC7E}"/>
              </a:ext>
            </a:extLst>
          </p:cNvPr>
          <p:cNvGrpSpPr/>
          <p:nvPr/>
        </p:nvGrpSpPr>
        <p:grpSpPr>
          <a:xfrm>
            <a:off x="426739" y="10873850"/>
            <a:ext cx="13497043" cy="1384170"/>
            <a:chOff x="426739" y="6037802"/>
            <a:chExt cx="13497043" cy="1384170"/>
          </a:xfrm>
        </p:grpSpPr>
        <p:sp>
          <p:nvSpPr>
            <p:cNvPr id="18" name="Text 5">
              <a:extLst>
                <a:ext uri="{FF2B5EF4-FFF2-40B4-BE49-F238E27FC236}">
                  <a16:creationId xmlns:a16="http://schemas.microsoft.com/office/drawing/2014/main" id="{A40D340A-7F04-41E1-81F6-E8F1505DA4CC}"/>
                </a:ext>
              </a:extLst>
            </p:cNvPr>
            <p:cNvSpPr/>
            <p:nvPr/>
          </p:nvSpPr>
          <p:spPr>
            <a:xfrm>
              <a:off x="426739" y="6037802"/>
              <a:ext cx="6904138" cy="872649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383838"/>
                  </a:solidFill>
                  <a:latin typeface="Montserrat Black" panose="00000A00000000000000" pitchFamily="2" charset="0"/>
                  <a:ea typeface="Patrick Hand" pitchFamily="34" charset="-122"/>
                </a:rPr>
                <a:t>Manager's Time and Efficiency</a:t>
              </a:r>
            </a:p>
          </p:txBody>
        </p:sp>
        <p:sp>
          <p:nvSpPr>
            <p:cNvPr id="19" name="מלבן: פינות מעוגלות 18">
              <a:extLst>
                <a:ext uri="{FF2B5EF4-FFF2-40B4-BE49-F238E27FC236}">
                  <a16:creationId xmlns:a16="http://schemas.microsoft.com/office/drawing/2014/main" id="{1D192E95-19D8-407F-9482-D96F5B504693}"/>
                </a:ext>
              </a:extLst>
            </p:cNvPr>
            <p:cNvSpPr/>
            <p:nvPr/>
          </p:nvSpPr>
          <p:spPr>
            <a:xfrm>
              <a:off x="442416" y="6549323"/>
              <a:ext cx="13481366" cy="87264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indent="0">
                <a:lnSpc>
                  <a:spcPts val="3451"/>
                </a:lnSpc>
                <a:buNone/>
              </a:pPr>
              <a:r>
                <a:rPr lang="en-US" sz="2000" dirty="0">
                  <a:solidFill>
                    <a:srgbClr val="383838"/>
                  </a:solidFill>
                  <a:latin typeface="Montserrat Medium" panose="00000600000000000000" pitchFamily="2" charset="0"/>
                  <a:ea typeface="Patrick Hand" pitchFamily="34" charset="-122"/>
                </a:rPr>
                <a:t>Creating schedules manually is extremely time-consuming for managers, reducing their efficiency.</a:t>
              </a:r>
            </a:p>
          </p:txBody>
        </p:sp>
      </p:grpSp>
      <p:grpSp>
        <p:nvGrpSpPr>
          <p:cNvPr id="21" name="קבוצה 20">
            <a:extLst>
              <a:ext uri="{FF2B5EF4-FFF2-40B4-BE49-F238E27FC236}">
                <a16:creationId xmlns:a16="http://schemas.microsoft.com/office/drawing/2014/main" id="{C1142876-D2F6-450D-A020-DC32CCD9AD1A}"/>
              </a:ext>
            </a:extLst>
          </p:cNvPr>
          <p:cNvGrpSpPr/>
          <p:nvPr/>
        </p:nvGrpSpPr>
        <p:grpSpPr>
          <a:xfrm>
            <a:off x="426739" y="10873850"/>
            <a:ext cx="13481366" cy="1384170"/>
            <a:chOff x="426739" y="4024086"/>
            <a:chExt cx="13481366" cy="1384170"/>
          </a:xfrm>
        </p:grpSpPr>
        <p:sp>
          <p:nvSpPr>
            <p:cNvPr id="23" name="Text 5">
              <a:extLst>
                <a:ext uri="{FF2B5EF4-FFF2-40B4-BE49-F238E27FC236}">
                  <a16:creationId xmlns:a16="http://schemas.microsoft.com/office/drawing/2014/main" id="{424149CC-6E4F-4FF9-84BE-C63C895F8B5C}"/>
                </a:ext>
              </a:extLst>
            </p:cNvPr>
            <p:cNvSpPr/>
            <p:nvPr/>
          </p:nvSpPr>
          <p:spPr>
            <a:xfrm>
              <a:off x="426739" y="4024086"/>
              <a:ext cx="4008499" cy="872649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r>
                <a:rPr lang="en-US" sz="2400" b="1" dirty="0">
                  <a:solidFill>
                    <a:srgbClr val="383838"/>
                  </a:solidFill>
                  <a:latin typeface="Montserrat Black" panose="00000A00000000000000" pitchFamily="2" charset="0"/>
                  <a:ea typeface="Patrick Hand" pitchFamily="34" charset="-122"/>
                </a:rPr>
                <a:t>Employee Preferences</a:t>
              </a:r>
            </a:p>
          </p:txBody>
        </p:sp>
        <p:sp>
          <p:nvSpPr>
            <p:cNvPr id="25" name="מלבן: פינות מעוגלות 24">
              <a:extLst>
                <a:ext uri="{FF2B5EF4-FFF2-40B4-BE49-F238E27FC236}">
                  <a16:creationId xmlns:a16="http://schemas.microsoft.com/office/drawing/2014/main" id="{D7CE8D53-275A-4F22-A53D-218604A830DC}"/>
                </a:ext>
              </a:extLst>
            </p:cNvPr>
            <p:cNvSpPr/>
            <p:nvPr/>
          </p:nvSpPr>
          <p:spPr>
            <a:xfrm>
              <a:off x="426739" y="4535607"/>
              <a:ext cx="13481366" cy="87264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indent="0">
                <a:lnSpc>
                  <a:spcPts val="3451"/>
                </a:lnSpc>
                <a:buNone/>
              </a:pPr>
              <a:r>
                <a:rPr lang="en-US" sz="2000" dirty="0">
                  <a:solidFill>
                    <a:srgbClr val="383838"/>
                  </a:solidFill>
                  <a:latin typeface="Montserrat Medium" panose="00000600000000000000" pitchFamily="2" charset="0"/>
                  <a:ea typeface="Patrick Hand" pitchFamily="34" charset="-122"/>
                </a:rPr>
                <a:t>Balancing individual preferences with business needs is complex and challenging.</a:t>
              </a:r>
            </a:p>
          </p:txBody>
        </p:sp>
      </p:grpSp>
      <p:grpSp>
        <p:nvGrpSpPr>
          <p:cNvPr id="27" name="קבוצה 26">
            <a:extLst>
              <a:ext uri="{FF2B5EF4-FFF2-40B4-BE49-F238E27FC236}">
                <a16:creationId xmlns:a16="http://schemas.microsoft.com/office/drawing/2014/main" id="{704E733D-D526-4D29-A77F-BA20BEB6EDBA}"/>
              </a:ext>
            </a:extLst>
          </p:cNvPr>
          <p:cNvGrpSpPr/>
          <p:nvPr/>
        </p:nvGrpSpPr>
        <p:grpSpPr>
          <a:xfrm>
            <a:off x="426739" y="10868801"/>
            <a:ext cx="13481366" cy="1394268"/>
            <a:chOff x="426739" y="2108199"/>
            <a:chExt cx="13481366" cy="1394268"/>
          </a:xfrm>
        </p:grpSpPr>
        <p:sp>
          <p:nvSpPr>
            <p:cNvPr id="28" name="מלבן: פינות מעוגלות 27">
              <a:extLst>
                <a:ext uri="{FF2B5EF4-FFF2-40B4-BE49-F238E27FC236}">
                  <a16:creationId xmlns:a16="http://schemas.microsoft.com/office/drawing/2014/main" id="{314D50B6-A847-46E0-AF3F-3E014F4592C2}"/>
                </a:ext>
              </a:extLst>
            </p:cNvPr>
            <p:cNvSpPr/>
            <p:nvPr/>
          </p:nvSpPr>
          <p:spPr>
            <a:xfrm>
              <a:off x="426739" y="2629818"/>
              <a:ext cx="13481366" cy="87264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>
                <a:lnSpc>
                  <a:spcPts val="2696"/>
                </a:lnSpc>
              </a:pPr>
              <a:endParaRPr lang="en-US" sz="24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  <a:cs typeface="Patrick Hand" pitchFamily="34" charset="-120"/>
              </a:endParaRPr>
            </a:p>
            <a:p>
              <a:pPr>
                <a:lnSpc>
                  <a:spcPts val="2696"/>
                </a:lnSpc>
              </a:pPr>
              <a:r>
                <a:rPr lang="en-US" sz="2000" dirty="0">
                  <a:solidFill>
                    <a:srgbClr val="383838"/>
                  </a:solidFill>
                  <a:latin typeface="Montserrat Medium" panose="00000600000000000000" pitchFamily="2" charset="0"/>
                  <a:ea typeface="Patrick Hand" pitchFamily="34" charset="-122"/>
                  <a:cs typeface="Patrick Hand" pitchFamily="34" charset="-120"/>
                </a:rPr>
                <a:t>Relies on outdated techniques like manual spreadsheets, which are time-consuming and error-prone.</a:t>
              </a:r>
              <a:endParaRPr lang="en-US" sz="2000" dirty="0">
                <a:latin typeface="Montserrat Medium" panose="00000600000000000000" pitchFamily="2" charset="0"/>
              </a:endParaRPr>
            </a:p>
            <a:p>
              <a:pPr algn="ctr">
                <a:lnSpc>
                  <a:spcPts val="2696"/>
                </a:lnSpc>
              </a:pPr>
              <a:endParaRPr lang="he-IL" sz="2400" b="1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</a:endParaRPr>
            </a:p>
          </p:txBody>
        </p:sp>
        <p:sp>
          <p:nvSpPr>
            <p:cNvPr id="29" name="Text 3">
              <a:extLst>
                <a:ext uri="{FF2B5EF4-FFF2-40B4-BE49-F238E27FC236}">
                  <a16:creationId xmlns:a16="http://schemas.microsoft.com/office/drawing/2014/main" id="{356CAD60-D1B4-4D5B-8404-7F3EB99DFF5D}"/>
                </a:ext>
              </a:extLst>
            </p:cNvPr>
            <p:cNvSpPr/>
            <p:nvPr/>
          </p:nvSpPr>
          <p:spPr>
            <a:xfrm>
              <a:off x="426739" y="2108199"/>
              <a:ext cx="4311928" cy="872649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383838"/>
                  </a:solidFill>
                  <a:latin typeface="Montserrat Black" panose="00000A00000000000000" pitchFamily="2" charset="0"/>
                  <a:ea typeface="Patrick Hand" pitchFamily="34" charset="-122"/>
                </a:rPr>
                <a:t>Traditional</a:t>
              </a:r>
              <a:r>
                <a:rPr lang="en-US" sz="2400" b="1" dirty="0">
                  <a:solidFill>
                    <a:srgbClr val="383838"/>
                  </a:solidFill>
                  <a:latin typeface="Patrick Hand" pitchFamily="34" charset="0"/>
                  <a:ea typeface="Patrick Hand" pitchFamily="34" charset="-122"/>
                  <a:cs typeface="Patrick Hand" pitchFamily="34" charset="-120"/>
                </a:rPr>
                <a:t> </a:t>
              </a:r>
              <a:r>
                <a:rPr lang="en-US" sz="2400" b="1" dirty="0">
                  <a:solidFill>
                    <a:srgbClr val="383838"/>
                  </a:solidFill>
                  <a:latin typeface="Montserrat Black" panose="00000A00000000000000" pitchFamily="2" charset="0"/>
                  <a:ea typeface="Patrick Hand" pitchFamily="34" charset="-122"/>
                </a:rPr>
                <a:t>Methods</a:t>
              </a:r>
            </a:p>
          </p:txBody>
        </p:sp>
      </p:grpSp>
      <p:sp>
        <p:nvSpPr>
          <p:cNvPr id="16" name="מלבן: פינות מעוגלות 15">
            <a:extLst>
              <a:ext uri="{FF2B5EF4-FFF2-40B4-BE49-F238E27FC236}">
                <a16:creationId xmlns:a16="http://schemas.microsoft.com/office/drawing/2014/main" id="{E5619CB6-38C4-4547-847F-5DC21A5203E4}"/>
              </a:ext>
            </a:extLst>
          </p:cNvPr>
          <p:cNvSpPr/>
          <p:nvPr/>
        </p:nvSpPr>
        <p:spPr>
          <a:xfrm>
            <a:off x="7441166" y="1724025"/>
            <a:ext cx="3150507" cy="47815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scene3d>
            <a:camera prst="perspectiveFront"/>
            <a:lightRig rig="glow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 sz="2400" b="1" dirty="0">
              <a:solidFill>
                <a:srgbClr val="383838"/>
              </a:solidFill>
              <a:latin typeface="Montserrat Black" panose="00000A00000000000000" pitchFamily="2" charset="0"/>
              <a:ea typeface="Patrick Hand" pitchFamily="34" charset="-122"/>
            </a:endParaRPr>
          </a:p>
        </p:txBody>
      </p:sp>
      <p:sp>
        <p:nvSpPr>
          <p:cNvPr id="22" name="מלבן: פינות מעוגלות 21">
            <a:extLst>
              <a:ext uri="{FF2B5EF4-FFF2-40B4-BE49-F238E27FC236}">
                <a16:creationId xmlns:a16="http://schemas.microsoft.com/office/drawing/2014/main" id="{B640F67F-C3B0-4691-A180-72DB528282AB}"/>
              </a:ext>
            </a:extLst>
          </p:cNvPr>
          <p:cNvSpPr/>
          <p:nvPr/>
        </p:nvSpPr>
        <p:spPr>
          <a:xfrm>
            <a:off x="10797104" y="1724025"/>
            <a:ext cx="3150507" cy="47815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scene3d>
            <a:camera prst="perspectiveFront"/>
            <a:lightRig rig="glow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 sz="2400" b="1" dirty="0">
              <a:solidFill>
                <a:srgbClr val="383838"/>
              </a:solidFill>
              <a:latin typeface="Montserrat Black" panose="00000A00000000000000" pitchFamily="2" charset="0"/>
              <a:ea typeface="Patrick Hand" pitchFamily="34" charset="-122"/>
            </a:endParaRPr>
          </a:p>
        </p:txBody>
      </p:sp>
      <p:pic>
        <p:nvPicPr>
          <p:cNvPr id="42" name="תמונה 41" descr="תמונה שמכילה שחור, חשיכה&#10;&#10;התיאור נוצר באופן אוטומטי">
            <a:extLst>
              <a:ext uri="{FF2B5EF4-FFF2-40B4-BE49-F238E27FC236}">
                <a16:creationId xmlns:a16="http://schemas.microsoft.com/office/drawing/2014/main" id="{DE35FB2A-1A11-4630-B9D8-D6855AB7B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920" y="1051174"/>
            <a:ext cx="899912" cy="899912"/>
          </a:xfrm>
          <a:prstGeom prst="rect">
            <a:avLst/>
          </a:prstGeom>
        </p:spPr>
      </p:pic>
      <p:sp>
        <p:nvSpPr>
          <p:cNvPr id="5" name="מלבן: פינות מעוגלות 45">
            <a:extLst>
              <a:ext uri="{FF2B5EF4-FFF2-40B4-BE49-F238E27FC236}">
                <a16:creationId xmlns:a16="http://schemas.microsoft.com/office/drawing/2014/main" id="{013AEC17-94B3-AA26-14B6-7EA46CF7E1DC}"/>
              </a:ext>
            </a:extLst>
          </p:cNvPr>
          <p:cNvSpPr/>
          <p:nvPr/>
        </p:nvSpPr>
        <p:spPr>
          <a:xfrm>
            <a:off x="728301" y="1724024"/>
            <a:ext cx="3150507" cy="47815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perspectiveFront">
              <a:rot lat="0" lon="10800000" rev="0"/>
            </a:camera>
            <a:lightRig rig="glow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 sz="2400" b="1" dirty="0">
              <a:solidFill>
                <a:srgbClr val="383838"/>
              </a:solidFill>
              <a:latin typeface="Montserrat Black" panose="00000A00000000000000" pitchFamily="2" charset="0"/>
              <a:ea typeface="Patrick Hand" pitchFamily="34" charset="-122"/>
            </a:endParaRPr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84650696-1DAB-E8CA-4EF0-3487098AA2EF}"/>
              </a:ext>
            </a:extLst>
          </p:cNvPr>
          <p:cNvSpPr/>
          <p:nvPr/>
        </p:nvSpPr>
        <p:spPr>
          <a:xfrm>
            <a:off x="1090962" y="2291234"/>
            <a:ext cx="2425184" cy="6846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696"/>
              </a:lnSpc>
              <a:buNone/>
            </a:pPr>
            <a:r>
              <a:rPr lang="en-US" sz="2400" b="1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</a:rPr>
              <a:t>Setup process </a:t>
            </a:r>
          </a:p>
        </p:txBody>
      </p:sp>
      <p:sp>
        <p:nvSpPr>
          <p:cNvPr id="7" name="תיבת טקסט 47">
            <a:extLst>
              <a:ext uri="{FF2B5EF4-FFF2-40B4-BE49-F238E27FC236}">
                <a16:creationId xmlns:a16="http://schemas.microsoft.com/office/drawing/2014/main" id="{EEA32500-C34B-11EE-E0DA-9E8E1FC5316B}"/>
              </a:ext>
            </a:extLst>
          </p:cNvPr>
          <p:cNvSpPr txBox="1"/>
          <p:nvPr/>
        </p:nvSpPr>
        <p:spPr>
          <a:xfrm>
            <a:off x="728300" y="3324903"/>
            <a:ext cx="3125276" cy="2281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3451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Administrators set staffing requirements and schedule next week's shifts according to business needs</a:t>
            </a:r>
          </a:p>
        </p:txBody>
      </p:sp>
      <p:sp>
        <p:nvSpPr>
          <p:cNvPr id="8" name="מלבן: פינות מעוגלות 48">
            <a:extLst>
              <a:ext uri="{FF2B5EF4-FFF2-40B4-BE49-F238E27FC236}">
                <a16:creationId xmlns:a16="http://schemas.microsoft.com/office/drawing/2014/main" id="{385873D7-BCE5-481E-9480-926ECDDC2599}"/>
              </a:ext>
            </a:extLst>
          </p:cNvPr>
          <p:cNvSpPr/>
          <p:nvPr/>
        </p:nvSpPr>
        <p:spPr>
          <a:xfrm>
            <a:off x="4085228" y="1724025"/>
            <a:ext cx="3150507" cy="47815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perspectiveFront">
              <a:rot lat="0" lon="10800000" rev="0"/>
            </a:camera>
            <a:lightRig rig="glow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 sz="2400" b="1" dirty="0">
              <a:solidFill>
                <a:srgbClr val="383838"/>
              </a:solidFill>
              <a:latin typeface="Montserrat Black" panose="00000A00000000000000" pitchFamily="2" charset="0"/>
              <a:ea typeface="Patrick Hand" pitchFamily="34" charset="-122"/>
            </a:endParaRPr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3ABBD95B-2D19-4C86-7A64-09DA6C9FF5AF}"/>
              </a:ext>
            </a:extLst>
          </p:cNvPr>
          <p:cNvSpPr/>
          <p:nvPr/>
        </p:nvSpPr>
        <p:spPr>
          <a:xfrm>
            <a:off x="4303189" y="2320553"/>
            <a:ext cx="2714584" cy="75849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696"/>
              </a:lnSpc>
              <a:buNone/>
            </a:pPr>
            <a:r>
              <a:rPr lang="en-US" sz="2400" b="1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</a:rPr>
              <a:t>Employee Submit</a:t>
            </a:r>
            <a:br>
              <a:rPr lang="en-US" sz="2400" b="1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</a:rPr>
            </a:br>
            <a:r>
              <a:rPr lang="en-US" sz="2400" b="1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</a:rPr>
              <a:t> Shift</a:t>
            </a:r>
          </a:p>
        </p:txBody>
      </p:sp>
      <p:sp>
        <p:nvSpPr>
          <p:cNvPr id="10" name="תיבת טקסט 50">
            <a:extLst>
              <a:ext uri="{FF2B5EF4-FFF2-40B4-BE49-F238E27FC236}">
                <a16:creationId xmlns:a16="http://schemas.microsoft.com/office/drawing/2014/main" id="{45701FEF-C13B-0E93-D327-4FD592C9672A}"/>
              </a:ext>
            </a:extLst>
          </p:cNvPr>
          <p:cNvSpPr txBox="1"/>
          <p:nvPr/>
        </p:nvSpPr>
        <p:spPr>
          <a:xfrm>
            <a:off x="4059008" y="3312054"/>
            <a:ext cx="3150507" cy="2281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3451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Employees enter their preferred shifts and availability for the upcoming week using an intuitive interface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6ED4E8-C4AF-84CF-B2C4-7C9033C85D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4768" y="3074328"/>
            <a:ext cx="2068114" cy="20681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AA5C5AA-038B-C07E-E0CA-5C6442BB9A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95382" y="3131411"/>
            <a:ext cx="1953947" cy="195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231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958572" y="573286"/>
            <a:ext cx="10120908" cy="68472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392"/>
              </a:lnSpc>
              <a:buNone/>
            </a:pPr>
            <a:r>
              <a:rPr lang="en-US" sz="4400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  <a:cs typeface="Patrick Hand" pitchFamily="34" charset="-120"/>
              </a:rPr>
              <a:t>Workflow:</a:t>
            </a:r>
          </a:p>
        </p:txBody>
      </p:sp>
      <p:grpSp>
        <p:nvGrpSpPr>
          <p:cNvPr id="17" name="קבוצה 16">
            <a:extLst>
              <a:ext uri="{FF2B5EF4-FFF2-40B4-BE49-F238E27FC236}">
                <a16:creationId xmlns:a16="http://schemas.microsoft.com/office/drawing/2014/main" id="{A2F89074-C654-44F4-8174-ECA7958ADC7E}"/>
              </a:ext>
            </a:extLst>
          </p:cNvPr>
          <p:cNvGrpSpPr/>
          <p:nvPr/>
        </p:nvGrpSpPr>
        <p:grpSpPr>
          <a:xfrm>
            <a:off x="426739" y="10873850"/>
            <a:ext cx="13497043" cy="1384170"/>
            <a:chOff x="426739" y="6037802"/>
            <a:chExt cx="13497043" cy="1384170"/>
          </a:xfrm>
        </p:grpSpPr>
        <p:sp>
          <p:nvSpPr>
            <p:cNvPr id="18" name="Text 5">
              <a:extLst>
                <a:ext uri="{FF2B5EF4-FFF2-40B4-BE49-F238E27FC236}">
                  <a16:creationId xmlns:a16="http://schemas.microsoft.com/office/drawing/2014/main" id="{A40D340A-7F04-41E1-81F6-E8F1505DA4CC}"/>
                </a:ext>
              </a:extLst>
            </p:cNvPr>
            <p:cNvSpPr/>
            <p:nvPr/>
          </p:nvSpPr>
          <p:spPr>
            <a:xfrm>
              <a:off x="426739" y="6037802"/>
              <a:ext cx="6904138" cy="872649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383838"/>
                  </a:solidFill>
                  <a:latin typeface="Montserrat Black" panose="00000A00000000000000" pitchFamily="2" charset="0"/>
                  <a:ea typeface="Patrick Hand" pitchFamily="34" charset="-122"/>
                </a:rPr>
                <a:t>Manager's Time and Efficiency</a:t>
              </a:r>
            </a:p>
          </p:txBody>
        </p:sp>
        <p:sp>
          <p:nvSpPr>
            <p:cNvPr id="19" name="מלבן: פינות מעוגלות 18">
              <a:extLst>
                <a:ext uri="{FF2B5EF4-FFF2-40B4-BE49-F238E27FC236}">
                  <a16:creationId xmlns:a16="http://schemas.microsoft.com/office/drawing/2014/main" id="{1D192E95-19D8-407F-9482-D96F5B504693}"/>
                </a:ext>
              </a:extLst>
            </p:cNvPr>
            <p:cNvSpPr/>
            <p:nvPr/>
          </p:nvSpPr>
          <p:spPr>
            <a:xfrm>
              <a:off x="442416" y="6549323"/>
              <a:ext cx="13481366" cy="87264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indent="0">
                <a:lnSpc>
                  <a:spcPts val="3451"/>
                </a:lnSpc>
                <a:buNone/>
              </a:pPr>
              <a:r>
                <a:rPr lang="en-US" sz="2000" dirty="0">
                  <a:solidFill>
                    <a:srgbClr val="383838"/>
                  </a:solidFill>
                  <a:latin typeface="Montserrat Medium" panose="00000600000000000000" pitchFamily="2" charset="0"/>
                  <a:ea typeface="Patrick Hand" pitchFamily="34" charset="-122"/>
                </a:rPr>
                <a:t>Creating schedules manually is extremely time-consuming for managers, reducing their efficiency.</a:t>
              </a:r>
            </a:p>
          </p:txBody>
        </p:sp>
      </p:grpSp>
      <p:grpSp>
        <p:nvGrpSpPr>
          <p:cNvPr id="21" name="קבוצה 20">
            <a:extLst>
              <a:ext uri="{FF2B5EF4-FFF2-40B4-BE49-F238E27FC236}">
                <a16:creationId xmlns:a16="http://schemas.microsoft.com/office/drawing/2014/main" id="{C1142876-D2F6-450D-A020-DC32CCD9AD1A}"/>
              </a:ext>
            </a:extLst>
          </p:cNvPr>
          <p:cNvGrpSpPr/>
          <p:nvPr/>
        </p:nvGrpSpPr>
        <p:grpSpPr>
          <a:xfrm>
            <a:off x="426739" y="10873850"/>
            <a:ext cx="13481366" cy="1384170"/>
            <a:chOff x="426739" y="4024086"/>
            <a:chExt cx="13481366" cy="1384170"/>
          </a:xfrm>
        </p:grpSpPr>
        <p:sp>
          <p:nvSpPr>
            <p:cNvPr id="23" name="Text 5">
              <a:extLst>
                <a:ext uri="{FF2B5EF4-FFF2-40B4-BE49-F238E27FC236}">
                  <a16:creationId xmlns:a16="http://schemas.microsoft.com/office/drawing/2014/main" id="{424149CC-6E4F-4FF9-84BE-C63C895F8B5C}"/>
                </a:ext>
              </a:extLst>
            </p:cNvPr>
            <p:cNvSpPr/>
            <p:nvPr/>
          </p:nvSpPr>
          <p:spPr>
            <a:xfrm>
              <a:off x="426739" y="4024086"/>
              <a:ext cx="4008499" cy="872649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r>
                <a:rPr lang="en-US" sz="2400" b="1" dirty="0">
                  <a:solidFill>
                    <a:srgbClr val="383838"/>
                  </a:solidFill>
                  <a:latin typeface="Montserrat Black" panose="00000A00000000000000" pitchFamily="2" charset="0"/>
                  <a:ea typeface="Patrick Hand" pitchFamily="34" charset="-122"/>
                </a:rPr>
                <a:t>Employee Preferences</a:t>
              </a:r>
            </a:p>
          </p:txBody>
        </p:sp>
        <p:sp>
          <p:nvSpPr>
            <p:cNvPr id="25" name="מלבן: פינות מעוגלות 24">
              <a:extLst>
                <a:ext uri="{FF2B5EF4-FFF2-40B4-BE49-F238E27FC236}">
                  <a16:creationId xmlns:a16="http://schemas.microsoft.com/office/drawing/2014/main" id="{D7CE8D53-275A-4F22-A53D-218604A830DC}"/>
                </a:ext>
              </a:extLst>
            </p:cNvPr>
            <p:cNvSpPr/>
            <p:nvPr/>
          </p:nvSpPr>
          <p:spPr>
            <a:xfrm>
              <a:off x="426739" y="4535607"/>
              <a:ext cx="13481366" cy="87264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indent="0">
                <a:lnSpc>
                  <a:spcPts val="3451"/>
                </a:lnSpc>
                <a:buNone/>
              </a:pPr>
              <a:r>
                <a:rPr lang="en-US" sz="2000" dirty="0">
                  <a:solidFill>
                    <a:srgbClr val="383838"/>
                  </a:solidFill>
                  <a:latin typeface="Montserrat Medium" panose="00000600000000000000" pitchFamily="2" charset="0"/>
                  <a:ea typeface="Patrick Hand" pitchFamily="34" charset="-122"/>
                </a:rPr>
                <a:t>Balancing individual preferences with business needs is complex and challenging.</a:t>
              </a:r>
            </a:p>
          </p:txBody>
        </p:sp>
      </p:grpSp>
      <p:grpSp>
        <p:nvGrpSpPr>
          <p:cNvPr id="27" name="קבוצה 26">
            <a:extLst>
              <a:ext uri="{FF2B5EF4-FFF2-40B4-BE49-F238E27FC236}">
                <a16:creationId xmlns:a16="http://schemas.microsoft.com/office/drawing/2014/main" id="{704E733D-D526-4D29-A77F-BA20BEB6EDBA}"/>
              </a:ext>
            </a:extLst>
          </p:cNvPr>
          <p:cNvGrpSpPr/>
          <p:nvPr/>
        </p:nvGrpSpPr>
        <p:grpSpPr>
          <a:xfrm>
            <a:off x="426739" y="10868801"/>
            <a:ext cx="13481366" cy="1394268"/>
            <a:chOff x="426739" y="2108199"/>
            <a:chExt cx="13481366" cy="1394268"/>
          </a:xfrm>
        </p:grpSpPr>
        <p:sp>
          <p:nvSpPr>
            <p:cNvPr id="28" name="מלבן: פינות מעוגלות 27">
              <a:extLst>
                <a:ext uri="{FF2B5EF4-FFF2-40B4-BE49-F238E27FC236}">
                  <a16:creationId xmlns:a16="http://schemas.microsoft.com/office/drawing/2014/main" id="{314D50B6-A847-46E0-AF3F-3E014F4592C2}"/>
                </a:ext>
              </a:extLst>
            </p:cNvPr>
            <p:cNvSpPr/>
            <p:nvPr/>
          </p:nvSpPr>
          <p:spPr>
            <a:xfrm>
              <a:off x="426739" y="2629818"/>
              <a:ext cx="13481366" cy="87264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>
                <a:lnSpc>
                  <a:spcPts val="2696"/>
                </a:lnSpc>
              </a:pPr>
              <a:endParaRPr lang="en-US" sz="24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  <a:cs typeface="Patrick Hand" pitchFamily="34" charset="-120"/>
              </a:endParaRPr>
            </a:p>
            <a:p>
              <a:pPr>
                <a:lnSpc>
                  <a:spcPts val="2696"/>
                </a:lnSpc>
              </a:pPr>
              <a:r>
                <a:rPr lang="en-US" sz="2000" dirty="0">
                  <a:solidFill>
                    <a:srgbClr val="383838"/>
                  </a:solidFill>
                  <a:latin typeface="Montserrat Medium" panose="00000600000000000000" pitchFamily="2" charset="0"/>
                  <a:ea typeface="Patrick Hand" pitchFamily="34" charset="-122"/>
                  <a:cs typeface="Patrick Hand" pitchFamily="34" charset="-120"/>
                </a:rPr>
                <a:t>Relies on outdated techniques like manual spreadsheets, which are time-consuming and error-prone.</a:t>
              </a:r>
              <a:endParaRPr lang="en-US" sz="2000" dirty="0">
                <a:latin typeface="Montserrat Medium" panose="00000600000000000000" pitchFamily="2" charset="0"/>
              </a:endParaRPr>
            </a:p>
            <a:p>
              <a:pPr algn="ctr">
                <a:lnSpc>
                  <a:spcPts val="2696"/>
                </a:lnSpc>
              </a:pPr>
              <a:endParaRPr lang="he-IL" sz="2400" b="1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</a:endParaRPr>
            </a:p>
          </p:txBody>
        </p:sp>
        <p:sp>
          <p:nvSpPr>
            <p:cNvPr id="29" name="Text 3">
              <a:extLst>
                <a:ext uri="{FF2B5EF4-FFF2-40B4-BE49-F238E27FC236}">
                  <a16:creationId xmlns:a16="http://schemas.microsoft.com/office/drawing/2014/main" id="{356CAD60-D1B4-4D5B-8404-7F3EB99DFF5D}"/>
                </a:ext>
              </a:extLst>
            </p:cNvPr>
            <p:cNvSpPr/>
            <p:nvPr/>
          </p:nvSpPr>
          <p:spPr>
            <a:xfrm>
              <a:off x="426739" y="2108199"/>
              <a:ext cx="4311928" cy="872649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383838"/>
                  </a:solidFill>
                  <a:latin typeface="Montserrat Black" panose="00000A00000000000000" pitchFamily="2" charset="0"/>
                  <a:ea typeface="Patrick Hand" pitchFamily="34" charset="-122"/>
                </a:rPr>
                <a:t>Traditional</a:t>
              </a:r>
              <a:r>
                <a:rPr lang="en-US" sz="2400" b="1" dirty="0">
                  <a:solidFill>
                    <a:srgbClr val="383838"/>
                  </a:solidFill>
                  <a:latin typeface="Patrick Hand" pitchFamily="34" charset="0"/>
                  <a:ea typeface="Patrick Hand" pitchFamily="34" charset="-122"/>
                  <a:cs typeface="Patrick Hand" pitchFamily="34" charset="-120"/>
                </a:rPr>
                <a:t> </a:t>
              </a:r>
              <a:r>
                <a:rPr lang="en-US" sz="2400" b="1" dirty="0">
                  <a:solidFill>
                    <a:srgbClr val="383838"/>
                  </a:solidFill>
                  <a:latin typeface="Montserrat Black" panose="00000A00000000000000" pitchFamily="2" charset="0"/>
                  <a:ea typeface="Patrick Hand" pitchFamily="34" charset="-122"/>
                </a:rPr>
                <a:t>Methods</a:t>
              </a:r>
            </a:p>
          </p:txBody>
        </p:sp>
      </p:grpSp>
      <p:sp>
        <p:nvSpPr>
          <p:cNvPr id="16" name="מלבן: פינות מעוגלות 15">
            <a:extLst>
              <a:ext uri="{FF2B5EF4-FFF2-40B4-BE49-F238E27FC236}">
                <a16:creationId xmlns:a16="http://schemas.microsoft.com/office/drawing/2014/main" id="{E5619CB6-38C4-4547-847F-5DC21A5203E4}"/>
              </a:ext>
            </a:extLst>
          </p:cNvPr>
          <p:cNvSpPr/>
          <p:nvPr/>
        </p:nvSpPr>
        <p:spPr>
          <a:xfrm>
            <a:off x="7441166" y="1724025"/>
            <a:ext cx="3150507" cy="47815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perspectiveFront">
              <a:rot lat="0" lon="10800000" rev="0"/>
            </a:camera>
            <a:lightRig rig="glow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 sz="2400" b="1" dirty="0">
              <a:solidFill>
                <a:srgbClr val="383838"/>
              </a:solidFill>
              <a:latin typeface="Montserrat Black" panose="00000A00000000000000" pitchFamily="2" charset="0"/>
              <a:ea typeface="Patrick Hand" pitchFamily="34" charset="-122"/>
            </a:endParaRPr>
          </a:p>
        </p:txBody>
      </p:sp>
      <p:pic>
        <p:nvPicPr>
          <p:cNvPr id="40" name="תמונה 39" descr="תמונה שמכילה שחור, חשיכה&#10;&#10;התיאור נוצר באופן אוטומטי">
            <a:extLst>
              <a:ext uri="{FF2B5EF4-FFF2-40B4-BE49-F238E27FC236}">
                <a16:creationId xmlns:a16="http://schemas.microsoft.com/office/drawing/2014/main" id="{02A492AB-E57A-4E08-84D6-D8CE6D4B3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920" y="1051174"/>
            <a:ext cx="899912" cy="899912"/>
          </a:xfrm>
          <a:prstGeom prst="rect">
            <a:avLst/>
          </a:prstGeom>
        </p:spPr>
      </p:pic>
      <p:pic>
        <p:nvPicPr>
          <p:cNvPr id="41" name="תמונה 40" descr="תמונה שמכילה שחור, חשיכה&#10;&#10;התיאור נוצר באופן אוטומטי">
            <a:extLst>
              <a:ext uri="{FF2B5EF4-FFF2-40B4-BE49-F238E27FC236}">
                <a16:creationId xmlns:a16="http://schemas.microsoft.com/office/drawing/2014/main" id="{D66FD89F-7EB1-427A-8BD1-AE72AF83C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134487">
            <a:off x="6808901" y="5988071"/>
            <a:ext cx="1589284" cy="1589284"/>
          </a:xfrm>
          <a:prstGeom prst="rect">
            <a:avLst/>
          </a:prstGeom>
        </p:spPr>
      </p:pic>
      <p:sp>
        <p:nvSpPr>
          <p:cNvPr id="5" name="מלבן: פינות מעוגלות 45">
            <a:extLst>
              <a:ext uri="{FF2B5EF4-FFF2-40B4-BE49-F238E27FC236}">
                <a16:creationId xmlns:a16="http://schemas.microsoft.com/office/drawing/2014/main" id="{A80FCB77-CF54-4ABE-108C-7AD9A9B64D7C}"/>
              </a:ext>
            </a:extLst>
          </p:cNvPr>
          <p:cNvSpPr/>
          <p:nvPr/>
        </p:nvSpPr>
        <p:spPr>
          <a:xfrm>
            <a:off x="728301" y="1724024"/>
            <a:ext cx="3150507" cy="47815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perspectiveFront">
              <a:rot lat="0" lon="10800000" rev="0"/>
            </a:camera>
            <a:lightRig rig="glow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 sz="2400" b="1" dirty="0">
              <a:solidFill>
                <a:srgbClr val="383838"/>
              </a:solidFill>
              <a:latin typeface="Montserrat Black" panose="00000A00000000000000" pitchFamily="2" charset="0"/>
              <a:ea typeface="Patrick Hand" pitchFamily="34" charset="-122"/>
            </a:endParaRPr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CD1E7C8C-9A11-CBB9-8FE2-57BDCD049594}"/>
              </a:ext>
            </a:extLst>
          </p:cNvPr>
          <p:cNvSpPr/>
          <p:nvPr/>
        </p:nvSpPr>
        <p:spPr>
          <a:xfrm>
            <a:off x="1090962" y="2291234"/>
            <a:ext cx="2425184" cy="6846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696"/>
              </a:lnSpc>
              <a:buNone/>
            </a:pPr>
            <a:r>
              <a:rPr lang="en-US" sz="2400" b="1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</a:rPr>
              <a:t>Setup process </a:t>
            </a:r>
          </a:p>
        </p:txBody>
      </p:sp>
      <p:sp>
        <p:nvSpPr>
          <p:cNvPr id="7" name="תיבת טקסט 47">
            <a:extLst>
              <a:ext uri="{FF2B5EF4-FFF2-40B4-BE49-F238E27FC236}">
                <a16:creationId xmlns:a16="http://schemas.microsoft.com/office/drawing/2014/main" id="{6952862A-82ED-5225-88E2-481DAEB8DBE4}"/>
              </a:ext>
            </a:extLst>
          </p:cNvPr>
          <p:cNvSpPr txBox="1"/>
          <p:nvPr/>
        </p:nvSpPr>
        <p:spPr>
          <a:xfrm>
            <a:off x="728300" y="3324903"/>
            <a:ext cx="3125276" cy="2281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3451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Administrators set staffing requirements and schedule next week's shifts according to business needs</a:t>
            </a:r>
          </a:p>
        </p:txBody>
      </p:sp>
      <p:sp>
        <p:nvSpPr>
          <p:cNvPr id="8" name="מלבן: פינות מעוגלות 48">
            <a:extLst>
              <a:ext uri="{FF2B5EF4-FFF2-40B4-BE49-F238E27FC236}">
                <a16:creationId xmlns:a16="http://schemas.microsoft.com/office/drawing/2014/main" id="{4E28E516-81C2-FF3C-40D0-F835F7CB3EB9}"/>
              </a:ext>
            </a:extLst>
          </p:cNvPr>
          <p:cNvSpPr/>
          <p:nvPr/>
        </p:nvSpPr>
        <p:spPr>
          <a:xfrm>
            <a:off x="4085228" y="1724025"/>
            <a:ext cx="3150507" cy="47815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perspectiveFront">
              <a:rot lat="0" lon="10800000" rev="0"/>
            </a:camera>
            <a:lightRig rig="glow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 sz="2400" b="1" dirty="0">
              <a:solidFill>
                <a:srgbClr val="383838"/>
              </a:solidFill>
              <a:latin typeface="Montserrat Black" panose="00000A00000000000000" pitchFamily="2" charset="0"/>
              <a:ea typeface="Patrick Hand" pitchFamily="34" charset="-122"/>
            </a:endParaRPr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8C151932-1636-7716-2A7D-CD1C4F3B2E52}"/>
              </a:ext>
            </a:extLst>
          </p:cNvPr>
          <p:cNvSpPr/>
          <p:nvPr/>
        </p:nvSpPr>
        <p:spPr>
          <a:xfrm>
            <a:off x="4303189" y="2320553"/>
            <a:ext cx="2714584" cy="75849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696"/>
              </a:lnSpc>
              <a:buNone/>
            </a:pPr>
            <a:r>
              <a:rPr lang="en-US" sz="2400" b="1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</a:rPr>
              <a:t>Employee Submit</a:t>
            </a:r>
            <a:br>
              <a:rPr lang="en-US" sz="2400" b="1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</a:rPr>
            </a:br>
            <a:r>
              <a:rPr lang="en-US" sz="2400" b="1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</a:rPr>
              <a:t> Shift</a:t>
            </a:r>
          </a:p>
        </p:txBody>
      </p:sp>
      <p:sp>
        <p:nvSpPr>
          <p:cNvPr id="10" name="תיבת טקסט 50">
            <a:extLst>
              <a:ext uri="{FF2B5EF4-FFF2-40B4-BE49-F238E27FC236}">
                <a16:creationId xmlns:a16="http://schemas.microsoft.com/office/drawing/2014/main" id="{5B04BE30-2C58-69CF-360A-52518BDB0490}"/>
              </a:ext>
            </a:extLst>
          </p:cNvPr>
          <p:cNvSpPr txBox="1"/>
          <p:nvPr/>
        </p:nvSpPr>
        <p:spPr>
          <a:xfrm>
            <a:off x="4059008" y="3312054"/>
            <a:ext cx="3150507" cy="2281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3451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Employees enter their preferred shifts and availability for the upcoming week using an intuitive interface</a:t>
            </a:r>
          </a:p>
        </p:txBody>
      </p:sp>
      <p:sp>
        <p:nvSpPr>
          <p:cNvPr id="11" name="תיבת טקסט 43">
            <a:extLst>
              <a:ext uri="{FF2B5EF4-FFF2-40B4-BE49-F238E27FC236}">
                <a16:creationId xmlns:a16="http://schemas.microsoft.com/office/drawing/2014/main" id="{1B8FE9D0-1EEC-F8F1-F01E-4278B739DAE2}"/>
              </a:ext>
            </a:extLst>
          </p:cNvPr>
          <p:cNvSpPr txBox="1"/>
          <p:nvPr/>
        </p:nvSpPr>
        <p:spPr>
          <a:xfrm>
            <a:off x="7603544" y="2311435"/>
            <a:ext cx="282575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2696"/>
              </a:lnSpc>
              <a:buNone/>
            </a:pPr>
            <a:r>
              <a:rPr lang="en-US" sz="2400" b="1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</a:rPr>
              <a:t>Automated Scheduling</a:t>
            </a:r>
          </a:p>
        </p:txBody>
      </p:sp>
      <p:sp>
        <p:nvSpPr>
          <p:cNvPr id="12" name="תיבת טקסט 51">
            <a:extLst>
              <a:ext uri="{FF2B5EF4-FFF2-40B4-BE49-F238E27FC236}">
                <a16:creationId xmlns:a16="http://schemas.microsoft.com/office/drawing/2014/main" id="{8E63979C-DAF3-0117-02FD-0E43E22D32C0}"/>
              </a:ext>
            </a:extLst>
          </p:cNvPr>
          <p:cNvSpPr txBox="1"/>
          <p:nvPr/>
        </p:nvSpPr>
        <p:spPr>
          <a:xfrm>
            <a:off x="7464995" y="3194535"/>
            <a:ext cx="3150507" cy="2730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3451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TeamTime's algorithm generates a schedule based on employee input, manager requirements, and business needs.</a:t>
            </a:r>
          </a:p>
        </p:txBody>
      </p:sp>
      <p:sp>
        <p:nvSpPr>
          <p:cNvPr id="2" name="מלבן: פינות מעוגלות 37">
            <a:extLst>
              <a:ext uri="{FF2B5EF4-FFF2-40B4-BE49-F238E27FC236}">
                <a16:creationId xmlns:a16="http://schemas.microsoft.com/office/drawing/2014/main" id="{CDAD9868-FA32-9D9F-38C2-7F14250AB8B3}"/>
              </a:ext>
            </a:extLst>
          </p:cNvPr>
          <p:cNvSpPr/>
          <p:nvPr/>
        </p:nvSpPr>
        <p:spPr>
          <a:xfrm>
            <a:off x="10797104" y="1724025"/>
            <a:ext cx="3150507" cy="47815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scene3d>
            <a:camera prst="perspectiveFront"/>
            <a:lightRig rig="glow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 sz="2400" b="1" dirty="0">
              <a:solidFill>
                <a:srgbClr val="383838"/>
              </a:solidFill>
              <a:latin typeface="Montserrat Black" panose="00000A00000000000000" pitchFamily="2" charset="0"/>
              <a:ea typeface="Patrick Hand" pitchFamily="34" charset="-12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299F6F-E126-A6E0-4E71-720EC90D7F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95382" y="3131411"/>
            <a:ext cx="1953947" cy="195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031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958572" y="573286"/>
            <a:ext cx="10120908" cy="68472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392"/>
              </a:lnSpc>
              <a:buNone/>
            </a:pPr>
            <a:r>
              <a:rPr lang="en-US" sz="4400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  <a:cs typeface="Patrick Hand" pitchFamily="34" charset="-120"/>
              </a:rPr>
              <a:t>Workflow:</a:t>
            </a:r>
          </a:p>
        </p:txBody>
      </p:sp>
      <p:sp>
        <p:nvSpPr>
          <p:cNvPr id="22" name="מלבן: פינות מעוגלות 21">
            <a:extLst>
              <a:ext uri="{FF2B5EF4-FFF2-40B4-BE49-F238E27FC236}">
                <a16:creationId xmlns:a16="http://schemas.microsoft.com/office/drawing/2014/main" id="{B640F67F-C3B0-4691-A180-72DB528282AB}"/>
              </a:ext>
            </a:extLst>
          </p:cNvPr>
          <p:cNvSpPr/>
          <p:nvPr/>
        </p:nvSpPr>
        <p:spPr>
          <a:xfrm>
            <a:off x="10797104" y="1724025"/>
            <a:ext cx="3150507" cy="47815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perspectiveFront">
              <a:rot lat="0" lon="10800000" rev="0"/>
            </a:camera>
            <a:lightRig rig="glow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 sz="2400" b="1" dirty="0">
              <a:solidFill>
                <a:srgbClr val="383838"/>
              </a:solidFill>
              <a:latin typeface="Montserrat Black" panose="00000A00000000000000" pitchFamily="2" charset="0"/>
              <a:ea typeface="Patrick Hand" pitchFamily="34" charset="-122"/>
            </a:endParaRPr>
          </a:p>
        </p:txBody>
      </p:sp>
      <p:sp>
        <p:nvSpPr>
          <p:cNvPr id="43" name="מלבן: פינות מעוגלות 42">
            <a:extLst>
              <a:ext uri="{FF2B5EF4-FFF2-40B4-BE49-F238E27FC236}">
                <a16:creationId xmlns:a16="http://schemas.microsoft.com/office/drawing/2014/main" id="{D53264FA-BF10-4226-8831-D1C3D57C04B8}"/>
              </a:ext>
            </a:extLst>
          </p:cNvPr>
          <p:cNvSpPr/>
          <p:nvPr/>
        </p:nvSpPr>
        <p:spPr>
          <a:xfrm>
            <a:off x="7441166" y="1724025"/>
            <a:ext cx="3150507" cy="47815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perspectiveFront">
              <a:rot lat="0" lon="10800000" rev="0"/>
            </a:camera>
            <a:lightRig rig="glow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 sz="2400" b="1" dirty="0">
              <a:solidFill>
                <a:srgbClr val="383838"/>
              </a:solidFill>
              <a:latin typeface="Montserrat Black" panose="00000A00000000000000" pitchFamily="2" charset="0"/>
              <a:ea typeface="Patrick Hand" pitchFamily="34" charset="-122"/>
            </a:endParaRPr>
          </a:p>
        </p:txBody>
      </p:sp>
      <p:sp>
        <p:nvSpPr>
          <p:cNvPr id="44" name="תיבת טקסט 43">
            <a:extLst>
              <a:ext uri="{FF2B5EF4-FFF2-40B4-BE49-F238E27FC236}">
                <a16:creationId xmlns:a16="http://schemas.microsoft.com/office/drawing/2014/main" id="{4B3597FE-922C-423B-84A9-BA49C781A02E}"/>
              </a:ext>
            </a:extLst>
          </p:cNvPr>
          <p:cNvSpPr txBox="1"/>
          <p:nvPr/>
        </p:nvSpPr>
        <p:spPr>
          <a:xfrm>
            <a:off x="7603544" y="2311435"/>
            <a:ext cx="282575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2696"/>
              </a:lnSpc>
              <a:buNone/>
            </a:pPr>
            <a:r>
              <a:rPr lang="en-US" sz="2400" b="1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</a:rPr>
              <a:t>Automated Scheduling</a:t>
            </a:r>
          </a:p>
        </p:txBody>
      </p:sp>
      <p:sp>
        <p:nvSpPr>
          <p:cNvPr id="45" name="תיבת טקסט 44">
            <a:extLst>
              <a:ext uri="{FF2B5EF4-FFF2-40B4-BE49-F238E27FC236}">
                <a16:creationId xmlns:a16="http://schemas.microsoft.com/office/drawing/2014/main" id="{C95064D4-08B0-4476-B74E-AAA9CF380702}"/>
              </a:ext>
            </a:extLst>
          </p:cNvPr>
          <p:cNvSpPr txBox="1"/>
          <p:nvPr/>
        </p:nvSpPr>
        <p:spPr>
          <a:xfrm>
            <a:off x="10773275" y="3312054"/>
            <a:ext cx="3150507" cy="2281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3451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Administrators review, finalize, and publish the schedule, making it accessible to all employees.</a:t>
            </a:r>
          </a:p>
        </p:txBody>
      </p:sp>
      <p:sp>
        <p:nvSpPr>
          <p:cNvPr id="46" name="מלבן: פינות מעוגלות 45">
            <a:extLst>
              <a:ext uri="{FF2B5EF4-FFF2-40B4-BE49-F238E27FC236}">
                <a16:creationId xmlns:a16="http://schemas.microsoft.com/office/drawing/2014/main" id="{BBB74B22-1811-4225-B856-4A64CE2F9ED0}"/>
              </a:ext>
            </a:extLst>
          </p:cNvPr>
          <p:cNvSpPr/>
          <p:nvPr/>
        </p:nvSpPr>
        <p:spPr>
          <a:xfrm>
            <a:off x="728301" y="1724024"/>
            <a:ext cx="3150507" cy="47815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perspectiveFront">
              <a:rot lat="0" lon="10800000" rev="0"/>
            </a:camera>
            <a:lightRig rig="glow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 sz="2400" b="1" dirty="0">
              <a:solidFill>
                <a:srgbClr val="383838"/>
              </a:solidFill>
              <a:latin typeface="Montserrat Black" panose="00000A00000000000000" pitchFamily="2" charset="0"/>
              <a:ea typeface="Patrick Hand" pitchFamily="34" charset="-122"/>
            </a:endParaRPr>
          </a:p>
        </p:txBody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7997C10F-C16F-4BBA-A445-651386FE7734}"/>
              </a:ext>
            </a:extLst>
          </p:cNvPr>
          <p:cNvSpPr/>
          <p:nvPr/>
        </p:nvSpPr>
        <p:spPr>
          <a:xfrm>
            <a:off x="1090962" y="2291234"/>
            <a:ext cx="2425184" cy="6846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696"/>
              </a:lnSpc>
              <a:buNone/>
            </a:pPr>
            <a:r>
              <a:rPr lang="en-US" sz="2400" b="1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</a:rPr>
              <a:t>Setup process </a:t>
            </a:r>
          </a:p>
        </p:txBody>
      </p:sp>
      <p:sp>
        <p:nvSpPr>
          <p:cNvPr id="48" name="תיבת טקסט 47">
            <a:extLst>
              <a:ext uri="{FF2B5EF4-FFF2-40B4-BE49-F238E27FC236}">
                <a16:creationId xmlns:a16="http://schemas.microsoft.com/office/drawing/2014/main" id="{DBF4831C-A972-4209-B86E-48CC9B6CC3F0}"/>
              </a:ext>
            </a:extLst>
          </p:cNvPr>
          <p:cNvSpPr txBox="1"/>
          <p:nvPr/>
        </p:nvSpPr>
        <p:spPr>
          <a:xfrm>
            <a:off x="728300" y="3324903"/>
            <a:ext cx="3125276" cy="2281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3451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Administrators set staffing requirements and schedule next week's shifts according to business needs</a:t>
            </a:r>
          </a:p>
        </p:txBody>
      </p:sp>
      <p:sp>
        <p:nvSpPr>
          <p:cNvPr id="49" name="מלבן: פינות מעוגלות 48">
            <a:extLst>
              <a:ext uri="{FF2B5EF4-FFF2-40B4-BE49-F238E27FC236}">
                <a16:creationId xmlns:a16="http://schemas.microsoft.com/office/drawing/2014/main" id="{69B6A978-C0DB-4033-AEC6-EA08B6DB9FA5}"/>
              </a:ext>
            </a:extLst>
          </p:cNvPr>
          <p:cNvSpPr/>
          <p:nvPr/>
        </p:nvSpPr>
        <p:spPr>
          <a:xfrm>
            <a:off x="4085228" y="1724025"/>
            <a:ext cx="3150507" cy="47815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perspectiveFront">
              <a:rot lat="0" lon="10800000" rev="0"/>
            </a:camera>
            <a:lightRig rig="glow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 sz="2400" b="1" dirty="0">
              <a:solidFill>
                <a:srgbClr val="383838"/>
              </a:solidFill>
              <a:latin typeface="Montserrat Black" panose="00000A00000000000000" pitchFamily="2" charset="0"/>
              <a:ea typeface="Patrick Hand" pitchFamily="34" charset="-122"/>
            </a:endParaRPr>
          </a:p>
        </p:txBody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9731AAE3-F8AB-4657-AA3A-D1365289A79E}"/>
              </a:ext>
            </a:extLst>
          </p:cNvPr>
          <p:cNvSpPr/>
          <p:nvPr/>
        </p:nvSpPr>
        <p:spPr>
          <a:xfrm>
            <a:off x="4303189" y="2320553"/>
            <a:ext cx="2714584" cy="75849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696"/>
              </a:lnSpc>
              <a:buNone/>
            </a:pPr>
            <a:r>
              <a:rPr lang="en-US" sz="2400" b="1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</a:rPr>
              <a:t>Employee Submit</a:t>
            </a:r>
            <a:br>
              <a:rPr lang="en-US" sz="2400" b="1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</a:rPr>
            </a:br>
            <a:r>
              <a:rPr lang="en-US" sz="2400" b="1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</a:rPr>
              <a:t> Shift</a:t>
            </a:r>
          </a:p>
        </p:txBody>
      </p:sp>
      <p:sp>
        <p:nvSpPr>
          <p:cNvPr id="51" name="תיבת טקסט 50">
            <a:extLst>
              <a:ext uri="{FF2B5EF4-FFF2-40B4-BE49-F238E27FC236}">
                <a16:creationId xmlns:a16="http://schemas.microsoft.com/office/drawing/2014/main" id="{29CD6ECB-4D05-490A-A401-8FB7DF77823B}"/>
              </a:ext>
            </a:extLst>
          </p:cNvPr>
          <p:cNvSpPr txBox="1"/>
          <p:nvPr/>
        </p:nvSpPr>
        <p:spPr>
          <a:xfrm>
            <a:off x="4059008" y="3312054"/>
            <a:ext cx="3150507" cy="2281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3451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Employees enter their preferred shifts and availability for the upcoming week using an intuitive interface</a:t>
            </a:r>
          </a:p>
        </p:txBody>
      </p:sp>
      <p:sp>
        <p:nvSpPr>
          <p:cNvPr id="52" name="תיבת טקסט 51">
            <a:extLst>
              <a:ext uri="{FF2B5EF4-FFF2-40B4-BE49-F238E27FC236}">
                <a16:creationId xmlns:a16="http://schemas.microsoft.com/office/drawing/2014/main" id="{EB7071BA-0612-431A-930A-E78960107610}"/>
              </a:ext>
            </a:extLst>
          </p:cNvPr>
          <p:cNvSpPr txBox="1"/>
          <p:nvPr/>
        </p:nvSpPr>
        <p:spPr>
          <a:xfrm>
            <a:off x="7464995" y="3194535"/>
            <a:ext cx="3150507" cy="2730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3451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TeamTime's algorithm generates a schedule based on employee input, manager requirements, and business needs.</a:t>
            </a:r>
          </a:p>
        </p:txBody>
      </p:sp>
      <p:sp>
        <p:nvSpPr>
          <p:cNvPr id="53" name="תיבת טקסט 52">
            <a:extLst>
              <a:ext uri="{FF2B5EF4-FFF2-40B4-BE49-F238E27FC236}">
                <a16:creationId xmlns:a16="http://schemas.microsoft.com/office/drawing/2014/main" id="{E980AC22-5659-4392-ADC7-E22BE0B0614E}"/>
              </a:ext>
            </a:extLst>
          </p:cNvPr>
          <p:cNvSpPr txBox="1"/>
          <p:nvPr/>
        </p:nvSpPr>
        <p:spPr>
          <a:xfrm>
            <a:off x="10959482" y="2311470"/>
            <a:ext cx="282575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2696"/>
              </a:lnSpc>
              <a:buNone/>
            </a:pPr>
            <a:r>
              <a:rPr lang="en-US" sz="2400" b="1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</a:rPr>
              <a:t>Admin Review and Publication</a:t>
            </a:r>
          </a:p>
        </p:txBody>
      </p:sp>
      <p:pic>
        <p:nvPicPr>
          <p:cNvPr id="54" name="תמונה 53" descr="תמונה שמכילה שחור, חשיכה&#10;&#10;התיאור נוצר באופן אוטומטי">
            <a:extLst>
              <a:ext uri="{FF2B5EF4-FFF2-40B4-BE49-F238E27FC236}">
                <a16:creationId xmlns:a16="http://schemas.microsoft.com/office/drawing/2014/main" id="{3BD09B49-C1D3-4B83-8BE7-23EE9C18A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920" y="1051174"/>
            <a:ext cx="899912" cy="899912"/>
          </a:xfrm>
          <a:prstGeom prst="rect">
            <a:avLst/>
          </a:prstGeom>
        </p:spPr>
      </p:pic>
      <p:pic>
        <p:nvPicPr>
          <p:cNvPr id="9" name="תמונה 8" descr="תמונה שמכילה שחור, חשיכה&#10;&#10;התיאור נוצר באופן אוטומטי">
            <a:extLst>
              <a:ext uri="{FF2B5EF4-FFF2-40B4-BE49-F238E27FC236}">
                <a16:creationId xmlns:a16="http://schemas.microsoft.com/office/drawing/2014/main" id="{EEA0E26F-7F21-4C10-9BD3-63BF13EBAA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134487">
            <a:off x="6808901" y="5988071"/>
            <a:ext cx="1589284" cy="1589284"/>
          </a:xfrm>
          <a:prstGeom prst="rect">
            <a:avLst/>
          </a:prstGeom>
        </p:spPr>
      </p:pic>
      <p:pic>
        <p:nvPicPr>
          <p:cNvPr id="55" name="תמונה 54" descr="תמונה שמכילה שחור, חשיכה&#10;&#10;התיאור נוצר באופן אוטומטי">
            <a:extLst>
              <a:ext uri="{FF2B5EF4-FFF2-40B4-BE49-F238E27FC236}">
                <a16:creationId xmlns:a16="http://schemas.microsoft.com/office/drawing/2014/main" id="{AA9C90DB-163B-46A1-8025-4F5431A0FE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3176552">
            <a:off x="10190100" y="1031770"/>
            <a:ext cx="903657" cy="903657"/>
          </a:xfrm>
          <a:prstGeom prst="rect">
            <a:avLst/>
          </a:prstGeom>
        </p:spPr>
      </p:pic>
      <p:pic>
        <p:nvPicPr>
          <p:cNvPr id="30" name="Picture 5">
            <a:extLst>
              <a:ext uri="{FF2B5EF4-FFF2-40B4-BE49-F238E27FC236}">
                <a16:creationId xmlns:a16="http://schemas.microsoft.com/office/drawing/2014/main" id="{B98FE1D4-51A3-4F06-A0E8-828308BE1D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343624" y="1505681"/>
            <a:ext cx="3005082" cy="21253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1" name="Picture 7">
            <a:extLst>
              <a:ext uri="{FF2B5EF4-FFF2-40B4-BE49-F238E27FC236}">
                <a16:creationId xmlns:a16="http://schemas.microsoft.com/office/drawing/2014/main" id="{F8F629A8-B869-47EC-8E5B-A3DCBC7C45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9608" y="-4294627"/>
            <a:ext cx="3634565" cy="21253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2" name="Picture 9">
            <a:extLst>
              <a:ext uri="{FF2B5EF4-FFF2-40B4-BE49-F238E27FC236}">
                <a16:creationId xmlns:a16="http://schemas.microsoft.com/office/drawing/2014/main" id="{C57553A4-DE6F-47FF-98D5-2F597F805E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5080" y="14099771"/>
            <a:ext cx="6703902" cy="20023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3" name="Picture 11">
            <a:extLst>
              <a:ext uri="{FF2B5EF4-FFF2-40B4-BE49-F238E27FC236}">
                <a16:creationId xmlns:a16="http://schemas.microsoft.com/office/drawing/2014/main" id="{A42B7DC3-B42B-4E19-A339-D299CD46783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45201" y="-8088511"/>
            <a:ext cx="9332507" cy="14929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4" name="TextBox 12">
            <a:extLst>
              <a:ext uri="{FF2B5EF4-FFF2-40B4-BE49-F238E27FC236}">
                <a16:creationId xmlns:a16="http://schemas.microsoft.com/office/drawing/2014/main" id="{BAF07FA3-BF3A-4641-8915-A31CD558B133}"/>
              </a:ext>
            </a:extLst>
          </p:cNvPr>
          <p:cNvSpPr txBox="1"/>
          <p:nvPr/>
        </p:nvSpPr>
        <p:spPr>
          <a:xfrm>
            <a:off x="7684985" y="-8473638"/>
            <a:ext cx="3300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Montserrat Black" panose="00000A00000000000000" pitchFamily="2" charset="0"/>
              </a:rPr>
              <a:t>Submission Status</a:t>
            </a:r>
            <a:endParaRPr lang="en-IL" dirty="0">
              <a:latin typeface="Montserrat Black" panose="00000A00000000000000" pitchFamily="2" charset="0"/>
            </a:endParaRP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F2795CDB-725C-4392-871E-099FB0837254}"/>
              </a:ext>
            </a:extLst>
          </p:cNvPr>
          <p:cNvSpPr txBox="1"/>
          <p:nvPr/>
        </p:nvSpPr>
        <p:spPr>
          <a:xfrm>
            <a:off x="-7230608" y="848874"/>
            <a:ext cx="4807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Montserrat Black" panose="00000A00000000000000" pitchFamily="2" charset="0"/>
              </a:rPr>
              <a:t>Enable Automated</a:t>
            </a:r>
            <a:br>
              <a:rPr lang="en-US" dirty="0">
                <a:latin typeface="Montserrat Black" panose="00000A00000000000000" pitchFamily="2" charset="0"/>
              </a:rPr>
            </a:br>
            <a:r>
              <a:rPr lang="en-US" dirty="0">
                <a:latin typeface="Montserrat Black" panose="00000A00000000000000" pitchFamily="2" charset="0"/>
              </a:rPr>
              <a:t>Submission Deadline</a:t>
            </a:r>
            <a:endParaRPr lang="en-IL" dirty="0">
              <a:latin typeface="Montserrat Black" panose="00000A00000000000000" pitchFamily="2" charset="0"/>
            </a:endParaRPr>
          </a:p>
        </p:txBody>
      </p:sp>
      <p:sp>
        <p:nvSpPr>
          <p:cNvPr id="36" name="TextBox 14">
            <a:extLst>
              <a:ext uri="{FF2B5EF4-FFF2-40B4-BE49-F238E27FC236}">
                <a16:creationId xmlns:a16="http://schemas.microsoft.com/office/drawing/2014/main" id="{DF271956-2302-489A-A17F-9802829F9C88}"/>
              </a:ext>
            </a:extLst>
          </p:cNvPr>
          <p:cNvSpPr txBox="1"/>
          <p:nvPr/>
        </p:nvSpPr>
        <p:spPr>
          <a:xfrm>
            <a:off x="1449608" y="-4940958"/>
            <a:ext cx="4807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Montserrat Black" panose="00000A00000000000000" pitchFamily="2" charset="0"/>
              </a:rPr>
              <a:t>Admin Notes for </a:t>
            </a:r>
            <a:br>
              <a:rPr lang="en-US" dirty="0">
                <a:latin typeface="Montserrat Black" panose="00000A00000000000000" pitchFamily="2" charset="0"/>
              </a:rPr>
            </a:br>
            <a:r>
              <a:rPr lang="en-US" dirty="0">
                <a:latin typeface="Montserrat Black" panose="00000A00000000000000" pitchFamily="2" charset="0"/>
              </a:rPr>
              <a:t>Employee Communication</a:t>
            </a:r>
            <a:endParaRPr lang="en-IL" dirty="0">
              <a:latin typeface="Montserrat Black" panose="00000A00000000000000" pitchFamily="2" charset="0"/>
            </a:endParaRPr>
          </a:p>
        </p:txBody>
      </p:sp>
      <p:sp>
        <p:nvSpPr>
          <p:cNvPr id="37" name="TextBox 15">
            <a:extLst>
              <a:ext uri="{FF2B5EF4-FFF2-40B4-BE49-F238E27FC236}">
                <a16:creationId xmlns:a16="http://schemas.microsoft.com/office/drawing/2014/main" id="{A6641619-DF9B-4831-8B53-BC9720B01A31}"/>
              </a:ext>
            </a:extLst>
          </p:cNvPr>
          <p:cNvSpPr txBox="1"/>
          <p:nvPr/>
        </p:nvSpPr>
        <p:spPr>
          <a:xfrm>
            <a:off x="1554406" y="13770541"/>
            <a:ext cx="4807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Montserrat Black" panose="00000A00000000000000" pitchFamily="2" charset="0"/>
              </a:rPr>
              <a:t>Shift Template Management</a:t>
            </a:r>
            <a:endParaRPr lang="en-IL" dirty="0">
              <a:latin typeface="Montserrat Black" panose="00000A00000000000000" pitchFamily="2" charset="0"/>
            </a:endParaRPr>
          </a:p>
        </p:txBody>
      </p:sp>
      <p:pic>
        <p:nvPicPr>
          <p:cNvPr id="38" name="Picture 18">
            <a:extLst>
              <a:ext uri="{FF2B5EF4-FFF2-40B4-BE49-F238E27FC236}">
                <a16:creationId xmlns:a16="http://schemas.microsoft.com/office/drawing/2014/main" id="{B03D40B3-3C32-4175-A0C1-0FE2C071A5F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186900" y="6590338"/>
            <a:ext cx="3067478" cy="11717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9" name="TextBox 21">
            <a:extLst>
              <a:ext uri="{FF2B5EF4-FFF2-40B4-BE49-F238E27FC236}">
                <a16:creationId xmlns:a16="http://schemas.microsoft.com/office/drawing/2014/main" id="{FA1DF622-76A9-4558-B0EE-83F70002FE37}"/>
              </a:ext>
            </a:extLst>
          </p:cNvPr>
          <p:cNvSpPr txBox="1"/>
          <p:nvPr/>
        </p:nvSpPr>
        <p:spPr>
          <a:xfrm>
            <a:off x="19999331" y="6136242"/>
            <a:ext cx="8282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Montserrat Black" panose="00000A00000000000000" pitchFamily="2" charset="0"/>
              </a:rPr>
              <a:t>TeamTime's Algorithm</a:t>
            </a:r>
            <a:endParaRPr lang="en-IL" dirty="0">
              <a:latin typeface="Montserrat Black" panose="00000A00000000000000" pitchFamily="2" charset="0"/>
            </a:endParaRP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E727EA5F-EDCC-4093-9CF2-56A6B396FC18}"/>
              </a:ext>
            </a:extLst>
          </p:cNvPr>
          <p:cNvSpPr txBox="1"/>
          <p:nvPr/>
        </p:nvSpPr>
        <p:spPr>
          <a:xfrm>
            <a:off x="15254521" y="9948424"/>
            <a:ext cx="4807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Montserrat Black" panose="00000A00000000000000" pitchFamily="2" charset="0"/>
              </a:rPr>
              <a:t>Secure Login Page</a:t>
            </a:r>
            <a:endParaRPr lang="en-IL" dirty="0">
              <a:latin typeface="Montserrat Black" panose="00000A00000000000000" pitchFamily="2" charset="0"/>
            </a:endParaRPr>
          </a:p>
        </p:txBody>
      </p:sp>
      <p:pic>
        <p:nvPicPr>
          <p:cNvPr id="41" name="Picture 28">
            <a:extLst>
              <a:ext uri="{FF2B5EF4-FFF2-40B4-BE49-F238E27FC236}">
                <a16:creationId xmlns:a16="http://schemas.microsoft.com/office/drawing/2014/main" id="{329AAB8E-0001-4985-8D2B-81A6AA5DEEC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254521" y="10324903"/>
            <a:ext cx="3612722" cy="21310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40846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22" descr="תמונה שמכילה עיגול&#10;&#10;התיאור נוצר באופן אוטומטי">
            <a:extLst>
              <a:ext uri="{FF2B5EF4-FFF2-40B4-BE49-F238E27FC236}">
                <a16:creationId xmlns:a16="http://schemas.microsoft.com/office/drawing/2014/main" id="{ACDF29D6-36B5-3E5B-8CB2-6FCBBFBBE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108" y="398792"/>
            <a:ext cx="1399005" cy="1492968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1B730373-93E4-A70B-5B6B-B23425192D43}"/>
              </a:ext>
            </a:extLst>
          </p:cNvPr>
          <p:cNvSpPr/>
          <p:nvPr/>
        </p:nvSpPr>
        <p:spPr>
          <a:xfrm>
            <a:off x="-1718216" y="-368015"/>
            <a:ext cx="8179660" cy="7360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7440"/>
              </a:lnSpc>
              <a:buNone/>
            </a:pPr>
            <a:endParaRPr lang="en-US" sz="11500" dirty="0">
              <a:solidFill>
                <a:srgbClr val="383838"/>
              </a:solidFill>
              <a:latin typeface="Montserrat Black" panose="00000A00000000000000" pitchFamily="2" charset="0"/>
              <a:ea typeface="Patrick Hand" pitchFamily="34" charset="-122"/>
              <a:cs typeface="Patrick Hand" pitchFamily="34" charset="-120"/>
            </a:endParaRPr>
          </a:p>
          <a:p>
            <a:pPr marL="0" indent="0" algn="ctr">
              <a:lnSpc>
                <a:spcPts val="7440"/>
              </a:lnSpc>
              <a:buNone/>
            </a:pPr>
            <a:r>
              <a:rPr lang="en-US" sz="4400" dirty="0">
                <a:solidFill>
                  <a:srgbClr val="383838"/>
                </a:solidFill>
                <a:latin typeface="Montserrat Black" panose="00000A00000000000000" pitchFamily="2" charset="0"/>
              </a:rPr>
              <a:t>Features</a:t>
            </a:r>
            <a:endParaRPr lang="en-US" sz="5400" dirty="0">
              <a:latin typeface="Montserrat Black" panose="00000A00000000000000" pitchFamily="2" charset="0"/>
            </a:endParaRPr>
          </a:p>
        </p:txBody>
      </p:sp>
      <p:pic>
        <p:nvPicPr>
          <p:cNvPr id="4" name="תמונה 41" descr="תמונה שמכילה קל, מנורה&#10;&#10;התיאור נוצר באופן אוטומטי">
            <a:extLst>
              <a:ext uri="{FF2B5EF4-FFF2-40B4-BE49-F238E27FC236}">
                <a16:creationId xmlns:a16="http://schemas.microsoft.com/office/drawing/2014/main" id="{45A6ED91-1EA0-51ED-FD87-9BA9FA5DC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5180789">
            <a:off x="366966" y="1660983"/>
            <a:ext cx="472320" cy="5139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7DC609-FD2D-3ACA-2E98-40109D3657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5555" y="3123721"/>
            <a:ext cx="3005082" cy="21253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82EC4D-5825-1DB8-C00E-D72CFB9084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5031" y="3113245"/>
            <a:ext cx="3634565" cy="21253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8BAE49-FDA9-1C18-5EBA-792DC98579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4502" y="5770901"/>
            <a:ext cx="6703902" cy="20023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76C22F5-B78F-064F-5D7F-EDE2D4E143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6900" y="699611"/>
            <a:ext cx="9332507" cy="14929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4DA6F40-D101-6D22-4B45-4543B9860C36}"/>
              </a:ext>
            </a:extLst>
          </p:cNvPr>
          <p:cNvSpPr txBox="1"/>
          <p:nvPr/>
        </p:nvSpPr>
        <p:spPr>
          <a:xfrm>
            <a:off x="5156684" y="314484"/>
            <a:ext cx="3300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Montserrat Black" panose="00000A00000000000000" pitchFamily="2" charset="0"/>
              </a:rPr>
              <a:t>Submission Status</a:t>
            </a:r>
            <a:endParaRPr lang="en-IL" dirty="0">
              <a:latin typeface="Montserrat Black" panose="00000A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AEAA4E-3BF0-A14D-36E3-2BC75F447EF8}"/>
              </a:ext>
            </a:extLst>
          </p:cNvPr>
          <p:cNvSpPr txBox="1"/>
          <p:nvPr/>
        </p:nvSpPr>
        <p:spPr>
          <a:xfrm>
            <a:off x="1578571" y="2466914"/>
            <a:ext cx="4807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Montserrat Black" panose="00000A00000000000000" pitchFamily="2" charset="0"/>
              </a:rPr>
              <a:t>Enable Automated</a:t>
            </a:r>
            <a:br>
              <a:rPr lang="en-US" dirty="0">
                <a:latin typeface="Montserrat Black" panose="00000A00000000000000" pitchFamily="2" charset="0"/>
              </a:rPr>
            </a:br>
            <a:r>
              <a:rPr lang="en-US" dirty="0">
                <a:latin typeface="Montserrat Black" panose="00000A00000000000000" pitchFamily="2" charset="0"/>
              </a:rPr>
              <a:t>Submission Deadline</a:t>
            </a:r>
            <a:endParaRPr lang="en-IL" dirty="0">
              <a:latin typeface="Montserrat Black" panose="00000A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F4E08-DBD1-FF83-D742-7D279BD4237A}"/>
              </a:ext>
            </a:extLst>
          </p:cNvPr>
          <p:cNvSpPr txBox="1"/>
          <p:nvPr/>
        </p:nvSpPr>
        <p:spPr>
          <a:xfrm>
            <a:off x="5485031" y="2466914"/>
            <a:ext cx="4807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Montserrat Black" panose="00000A00000000000000" pitchFamily="2" charset="0"/>
              </a:rPr>
              <a:t>Admin Notes for </a:t>
            </a:r>
            <a:br>
              <a:rPr lang="en-US" dirty="0">
                <a:latin typeface="Montserrat Black" panose="00000A00000000000000" pitchFamily="2" charset="0"/>
              </a:rPr>
            </a:br>
            <a:r>
              <a:rPr lang="en-US" dirty="0">
                <a:latin typeface="Montserrat Black" panose="00000A00000000000000" pitchFamily="2" charset="0"/>
              </a:rPr>
              <a:t>Employee Communication</a:t>
            </a:r>
            <a:endParaRPr lang="en-IL" dirty="0">
              <a:latin typeface="Montserrat Black" panose="00000A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2A3DFB-39EB-8301-5EA5-B4253834BFC5}"/>
              </a:ext>
            </a:extLst>
          </p:cNvPr>
          <p:cNvSpPr txBox="1"/>
          <p:nvPr/>
        </p:nvSpPr>
        <p:spPr>
          <a:xfrm>
            <a:off x="1323828" y="5441671"/>
            <a:ext cx="4807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Montserrat Black" panose="00000A00000000000000" pitchFamily="2" charset="0"/>
              </a:rPr>
              <a:t>Shift Template Management</a:t>
            </a:r>
            <a:endParaRPr lang="en-IL" dirty="0">
              <a:latin typeface="Montserrat Black" panose="00000A00000000000000" pitchFamily="2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CB443D0-B2CA-4C61-FA8F-F4C6E79CA9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51030" y="3129212"/>
            <a:ext cx="3067478" cy="11717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C231A99-3EDD-E554-A788-50F826963CC8}"/>
              </a:ext>
            </a:extLst>
          </p:cNvPr>
          <p:cNvSpPr txBox="1"/>
          <p:nvPr/>
        </p:nvSpPr>
        <p:spPr>
          <a:xfrm>
            <a:off x="9851030" y="2738601"/>
            <a:ext cx="8282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Montserrat Black" panose="00000A00000000000000" pitchFamily="2" charset="0"/>
              </a:rPr>
              <a:t>TeamTime's Algorithm</a:t>
            </a:r>
            <a:endParaRPr lang="en-IL" dirty="0">
              <a:latin typeface="Montserrat Black" panose="00000A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D6BCA7-975D-7499-745F-65389FC4D891}"/>
              </a:ext>
            </a:extLst>
          </p:cNvPr>
          <p:cNvSpPr txBox="1"/>
          <p:nvPr/>
        </p:nvSpPr>
        <p:spPr>
          <a:xfrm>
            <a:off x="9115307" y="5394422"/>
            <a:ext cx="4807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Montserrat Black" panose="00000A00000000000000" pitchFamily="2" charset="0"/>
              </a:rPr>
              <a:t>Secure Login Page</a:t>
            </a:r>
            <a:endParaRPr lang="en-IL" dirty="0">
              <a:latin typeface="Montserrat Black" panose="00000A00000000000000" pitchFamily="2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9AE1CDF-37EA-DDE3-75F3-2AD5894BEF9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15307" y="5770901"/>
            <a:ext cx="3612722" cy="21310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1" name="מלבן: פינות מעוגלות 14">
            <a:extLst>
              <a:ext uri="{FF2B5EF4-FFF2-40B4-BE49-F238E27FC236}">
                <a16:creationId xmlns:a16="http://schemas.microsoft.com/office/drawing/2014/main" id="{9A2EF4D5-7F40-4EEF-8B73-372B496232A7}"/>
              </a:ext>
            </a:extLst>
          </p:cNvPr>
          <p:cNvSpPr/>
          <p:nvPr/>
        </p:nvSpPr>
        <p:spPr>
          <a:xfrm>
            <a:off x="1892113" y="-7473849"/>
            <a:ext cx="10120909" cy="114786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342900" indent="-342900">
              <a:lnSpc>
                <a:spcPts val="3451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Our algorithm utilizes linear programming to maximize shift coverage while meeting specific requirements.</a:t>
            </a:r>
          </a:p>
        </p:txBody>
      </p:sp>
      <p:sp>
        <p:nvSpPr>
          <p:cNvPr id="32" name="מלבן: פינות מעוגלות 14">
            <a:extLst>
              <a:ext uri="{FF2B5EF4-FFF2-40B4-BE49-F238E27FC236}">
                <a16:creationId xmlns:a16="http://schemas.microsoft.com/office/drawing/2014/main" id="{F9861004-9956-4338-BC2A-66990C2263B3}"/>
              </a:ext>
            </a:extLst>
          </p:cNvPr>
          <p:cNvSpPr/>
          <p:nvPr/>
        </p:nvSpPr>
        <p:spPr>
          <a:xfrm>
            <a:off x="1892114" y="-5736731"/>
            <a:ext cx="10120908" cy="166927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342900" indent="-342900">
              <a:lnSpc>
                <a:spcPts val="3451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By incorporating constraints such as </a:t>
            </a:r>
            <a:b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</a:br>
            <a: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employee availability, maximum desired shifts, and a limit of one shift per employee per day, it ensures optimal scheduling. </a:t>
            </a:r>
          </a:p>
        </p:txBody>
      </p:sp>
      <p:sp>
        <p:nvSpPr>
          <p:cNvPr id="33" name="מלבן: פינות מעוגלות 14">
            <a:extLst>
              <a:ext uri="{FF2B5EF4-FFF2-40B4-BE49-F238E27FC236}">
                <a16:creationId xmlns:a16="http://schemas.microsoft.com/office/drawing/2014/main" id="{4FBA5C45-F694-446F-87D3-1385431DB76C}"/>
              </a:ext>
            </a:extLst>
          </p:cNvPr>
          <p:cNvSpPr/>
          <p:nvPr/>
        </p:nvSpPr>
        <p:spPr>
          <a:xfrm>
            <a:off x="1892114" y="-3332198"/>
            <a:ext cx="10120908" cy="151936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342900" indent="-342900">
              <a:lnSpc>
                <a:spcPts val="3451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The number of employees per shift is considered as a constraint. </a:t>
            </a:r>
          </a:p>
          <a:p>
            <a:pPr marL="342900" indent="-342900">
              <a:lnSpc>
                <a:spcPts val="3451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The objective function, aimed at maximizing shift coverage while maintaining operational balance.</a:t>
            </a:r>
          </a:p>
        </p:txBody>
      </p:sp>
      <p:sp>
        <p:nvSpPr>
          <p:cNvPr id="34" name="TextBox 11">
            <a:extLst>
              <a:ext uri="{FF2B5EF4-FFF2-40B4-BE49-F238E27FC236}">
                <a16:creationId xmlns:a16="http://schemas.microsoft.com/office/drawing/2014/main" id="{6DC524E9-5DEA-468D-BB46-C00D3D0A4DF6}"/>
              </a:ext>
            </a:extLst>
          </p:cNvPr>
          <p:cNvSpPr txBox="1"/>
          <p:nvPr/>
        </p:nvSpPr>
        <p:spPr>
          <a:xfrm>
            <a:off x="2099605" y="-6236262"/>
            <a:ext cx="7552266" cy="486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451"/>
              </a:lnSpc>
            </a:pPr>
            <a:r>
              <a:rPr lang="en-US" b="1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T</a:t>
            </a:r>
            <a:r>
              <a:rPr lang="en-US" sz="1800" b="1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he algorithm address employee requirements:</a:t>
            </a: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80AFED44-74BD-40C7-ABB7-78F6EBAAF11F}"/>
              </a:ext>
            </a:extLst>
          </p:cNvPr>
          <p:cNvSpPr txBox="1"/>
          <p:nvPr/>
        </p:nvSpPr>
        <p:spPr>
          <a:xfrm>
            <a:off x="2026091" y="-3870075"/>
            <a:ext cx="7552266" cy="486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451"/>
              </a:lnSpc>
            </a:pPr>
            <a:r>
              <a:rPr lang="en-US" sz="1800" b="1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The algorithm address admin requirements:</a:t>
            </a:r>
          </a:p>
        </p:txBody>
      </p:sp>
    </p:spTree>
    <p:extLst>
      <p:ext uri="{BB962C8B-B14F-4D97-AF65-F5344CB8AC3E}">
        <p14:creationId xmlns:p14="http://schemas.microsoft.com/office/powerpoint/2010/main" val="17731987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4">
            <a:extLst>
              <a:ext uri="{FF2B5EF4-FFF2-40B4-BE49-F238E27FC236}">
                <a16:creationId xmlns:a16="http://schemas.microsoft.com/office/drawing/2014/main" id="{9F9EE6B1-DE94-7F88-7D11-353E3553BFDC}"/>
              </a:ext>
            </a:extLst>
          </p:cNvPr>
          <p:cNvSpPr/>
          <p:nvPr/>
        </p:nvSpPr>
        <p:spPr>
          <a:xfrm>
            <a:off x="9917489" y="21515"/>
            <a:ext cx="5184050" cy="822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pic>
        <p:nvPicPr>
          <p:cNvPr id="3" name="תמונה 22" descr="תמונה שמכילה עיגול&#10;&#10;התיאור נוצר באופן אוטומטי">
            <a:extLst>
              <a:ext uri="{FF2B5EF4-FFF2-40B4-BE49-F238E27FC236}">
                <a16:creationId xmlns:a16="http://schemas.microsoft.com/office/drawing/2014/main" id="{3721E52E-60A0-AA48-B0C4-1FCF4DC95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265" y="229069"/>
            <a:ext cx="1257378" cy="181587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מלבן: פינות מעוגלות 14">
            <a:extLst>
              <a:ext uri="{FF2B5EF4-FFF2-40B4-BE49-F238E27FC236}">
                <a16:creationId xmlns:a16="http://schemas.microsoft.com/office/drawing/2014/main" id="{F0C4E2A2-45DA-F39A-E2DA-A8D367174587}"/>
              </a:ext>
            </a:extLst>
          </p:cNvPr>
          <p:cNvSpPr/>
          <p:nvPr/>
        </p:nvSpPr>
        <p:spPr>
          <a:xfrm>
            <a:off x="729287" y="2377681"/>
            <a:ext cx="10120909" cy="114786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342900" indent="-342900">
              <a:lnSpc>
                <a:spcPts val="3451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Our algorithm utilizes linear programming to maximize shift coverage while meeting specific requirements.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026E494-B78F-DB23-D6DB-5508BD2E53BA}"/>
              </a:ext>
            </a:extLst>
          </p:cNvPr>
          <p:cNvSpPr/>
          <p:nvPr/>
        </p:nvSpPr>
        <p:spPr>
          <a:xfrm>
            <a:off x="1343647" y="573285"/>
            <a:ext cx="10120908" cy="68472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392"/>
              </a:lnSpc>
              <a:buNone/>
            </a:pPr>
            <a:r>
              <a:rPr lang="en-US" sz="4400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  <a:cs typeface="Patrick Hand" pitchFamily="34" charset="-120"/>
              </a:rPr>
              <a:t>The Scheduling Algorithm</a:t>
            </a:r>
            <a:endParaRPr lang="en-US" sz="4400" dirty="0">
              <a:latin typeface="Montserrat Black" panose="00000A00000000000000" pitchFamily="2" charset="0"/>
            </a:endParaRPr>
          </a:p>
        </p:txBody>
      </p:sp>
      <p:pic>
        <p:nvPicPr>
          <p:cNvPr id="7" name="תמונה 17">
            <a:extLst>
              <a:ext uri="{FF2B5EF4-FFF2-40B4-BE49-F238E27FC236}">
                <a16:creationId xmlns:a16="http://schemas.microsoft.com/office/drawing/2014/main" id="{58A92263-951E-0427-1706-FE001ED59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483" y="1385757"/>
            <a:ext cx="3146793" cy="302151"/>
          </a:xfrm>
          <a:prstGeom prst="rect">
            <a:avLst/>
          </a:prstGeom>
        </p:spPr>
      </p:pic>
      <p:pic>
        <p:nvPicPr>
          <p:cNvPr id="8" name="תמונה 41" descr="תמונה שמכילה קל, מנורה&#10;&#10;התיאור נוצר באופן אוטומטי">
            <a:extLst>
              <a:ext uri="{FF2B5EF4-FFF2-40B4-BE49-F238E27FC236}">
                <a16:creationId xmlns:a16="http://schemas.microsoft.com/office/drawing/2014/main" id="{0D83D175-3C97-4BE4-ED2B-0FC55A8A8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886438">
            <a:off x="426076" y="1557622"/>
            <a:ext cx="606424" cy="57965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" name="מלבן: פינות מעוגלות 14">
            <a:extLst>
              <a:ext uri="{FF2B5EF4-FFF2-40B4-BE49-F238E27FC236}">
                <a16:creationId xmlns:a16="http://schemas.microsoft.com/office/drawing/2014/main" id="{0ADFFF32-4E58-CDBF-0FE8-B250CF50670A}"/>
              </a:ext>
            </a:extLst>
          </p:cNvPr>
          <p:cNvSpPr/>
          <p:nvPr/>
        </p:nvSpPr>
        <p:spPr>
          <a:xfrm>
            <a:off x="729288" y="4114799"/>
            <a:ext cx="10120908" cy="166927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342900" indent="-342900">
              <a:lnSpc>
                <a:spcPts val="3451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By incorporating constraints such as </a:t>
            </a:r>
            <a:b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</a:br>
            <a: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employee availability, maximum desired shifts, and a limit of one shift per employee per day, it ensures optimal scheduling. </a:t>
            </a:r>
          </a:p>
        </p:txBody>
      </p:sp>
      <p:sp>
        <p:nvSpPr>
          <p:cNvPr id="10" name="מלבן: פינות מעוגלות 14">
            <a:extLst>
              <a:ext uri="{FF2B5EF4-FFF2-40B4-BE49-F238E27FC236}">
                <a16:creationId xmlns:a16="http://schemas.microsoft.com/office/drawing/2014/main" id="{3C59CC2C-A2C3-E4F7-1682-838B56F998B9}"/>
              </a:ext>
            </a:extLst>
          </p:cNvPr>
          <p:cNvSpPr/>
          <p:nvPr/>
        </p:nvSpPr>
        <p:spPr>
          <a:xfrm>
            <a:off x="729288" y="6519332"/>
            <a:ext cx="10120908" cy="151936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342900" indent="-342900">
              <a:lnSpc>
                <a:spcPts val="3451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The number of employees per shift is considered as a constraint. </a:t>
            </a:r>
          </a:p>
          <a:p>
            <a:pPr marL="342900" indent="-342900">
              <a:lnSpc>
                <a:spcPts val="3451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The objective function, aimed at maximizing shift coverage while maintaining operational balance.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553ED5-8794-38D4-5DBF-128053B28974}"/>
              </a:ext>
            </a:extLst>
          </p:cNvPr>
          <p:cNvSpPr txBox="1"/>
          <p:nvPr/>
        </p:nvSpPr>
        <p:spPr>
          <a:xfrm>
            <a:off x="936779" y="3615268"/>
            <a:ext cx="7552266" cy="486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451"/>
              </a:lnSpc>
            </a:pPr>
            <a:r>
              <a:rPr lang="en-US" b="1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T</a:t>
            </a:r>
            <a:r>
              <a:rPr lang="en-US" sz="1800" b="1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he algorithm address employee requirements: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CF6876-B1E7-5B58-EF4E-EC0ECB3DD79F}"/>
              </a:ext>
            </a:extLst>
          </p:cNvPr>
          <p:cNvSpPr txBox="1"/>
          <p:nvPr/>
        </p:nvSpPr>
        <p:spPr>
          <a:xfrm>
            <a:off x="863265" y="5981455"/>
            <a:ext cx="7552266" cy="486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451"/>
              </a:lnSpc>
            </a:pPr>
            <a:r>
              <a:rPr lang="en-US" sz="1800" b="1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The algorithm address admin requirements:</a:t>
            </a:r>
          </a:p>
        </p:txBody>
      </p:sp>
    </p:spTree>
    <p:extLst>
      <p:ext uri="{BB962C8B-B14F-4D97-AF65-F5344CB8AC3E}">
        <p14:creationId xmlns:p14="http://schemas.microsoft.com/office/powerpoint/2010/main" val="38622309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4">
            <a:extLst>
              <a:ext uri="{FF2B5EF4-FFF2-40B4-BE49-F238E27FC236}">
                <a16:creationId xmlns:a16="http://schemas.microsoft.com/office/drawing/2014/main" id="{9F9EE6B1-DE94-7F88-7D11-353E3553BFDC}"/>
              </a:ext>
            </a:extLst>
          </p:cNvPr>
          <p:cNvSpPr/>
          <p:nvPr/>
        </p:nvSpPr>
        <p:spPr>
          <a:xfrm>
            <a:off x="9917489" y="21515"/>
            <a:ext cx="5184050" cy="822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pic>
        <p:nvPicPr>
          <p:cNvPr id="3" name="תמונה 22" descr="תמונה שמכילה עיגול&#10;&#10;התיאור נוצר באופן אוטומטי">
            <a:extLst>
              <a:ext uri="{FF2B5EF4-FFF2-40B4-BE49-F238E27FC236}">
                <a16:creationId xmlns:a16="http://schemas.microsoft.com/office/drawing/2014/main" id="{3721E52E-60A0-AA48-B0C4-1FCF4DC95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265" y="229069"/>
            <a:ext cx="1257378" cy="181587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B026E494-B78F-DB23-D6DB-5508BD2E53BA}"/>
              </a:ext>
            </a:extLst>
          </p:cNvPr>
          <p:cNvSpPr/>
          <p:nvPr/>
        </p:nvSpPr>
        <p:spPr>
          <a:xfrm>
            <a:off x="1343647" y="573285"/>
            <a:ext cx="10120908" cy="68472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392"/>
              </a:lnSpc>
              <a:buNone/>
            </a:pPr>
            <a:r>
              <a:rPr lang="en-US" sz="4400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  <a:cs typeface="Patrick Hand" pitchFamily="34" charset="-120"/>
              </a:rPr>
              <a:t>The Scheduling Algorithm</a:t>
            </a:r>
            <a:endParaRPr lang="en-US" sz="4400" dirty="0">
              <a:latin typeface="Montserrat Black" panose="00000A00000000000000" pitchFamily="2" charset="0"/>
            </a:endParaRPr>
          </a:p>
        </p:txBody>
      </p:sp>
      <p:pic>
        <p:nvPicPr>
          <p:cNvPr id="7" name="תמונה 17">
            <a:extLst>
              <a:ext uri="{FF2B5EF4-FFF2-40B4-BE49-F238E27FC236}">
                <a16:creationId xmlns:a16="http://schemas.microsoft.com/office/drawing/2014/main" id="{58A92263-951E-0427-1706-FE001ED59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483" y="1385757"/>
            <a:ext cx="3146793" cy="302151"/>
          </a:xfrm>
          <a:prstGeom prst="rect">
            <a:avLst/>
          </a:prstGeom>
        </p:spPr>
      </p:pic>
      <p:pic>
        <p:nvPicPr>
          <p:cNvPr id="8" name="תמונה 41" descr="תמונה שמכילה קל, מנורה&#10;&#10;התיאור נוצר באופן אוטומטי">
            <a:extLst>
              <a:ext uri="{FF2B5EF4-FFF2-40B4-BE49-F238E27FC236}">
                <a16:creationId xmlns:a16="http://schemas.microsoft.com/office/drawing/2014/main" id="{0D83D175-3C97-4BE4-ED2B-0FC55A8A8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886438">
            <a:off x="426076" y="1557622"/>
            <a:ext cx="606424" cy="57965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0" name="מלבן: פינות מעוגלות 14">
            <a:extLst>
              <a:ext uri="{FF2B5EF4-FFF2-40B4-BE49-F238E27FC236}">
                <a16:creationId xmlns:a16="http://schemas.microsoft.com/office/drawing/2014/main" id="{3C59CC2C-A2C3-E4F7-1682-838B56F998B9}"/>
              </a:ext>
            </a:extLst>
          </p:cNvPr>
          <p:cNvSpPr/>
          <p:nvPr/>
        </p:nvSpPr>
        <p:spPr>
          <a:xfrm>
            <a:off x="8171828" y="2129036"/>
            <a:ext cx="6458572" cy="206020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342900" indent="-342900">
              <a:lnSpc>
                <a:spcPts val="3451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383838"/>
              </a:solidFill>
              <a:latin typeface="Montserrat Medium" panose="00000600000000000000" pitchFamily="2" charset="0"/>
              <a:ea typeface="Patrick Hand" pitchFamily="34" charset="-122"/>
            </a:endParaRPr>
          </a:p>
          <a:p>
            <a:pPr marL="342900" indent="-342900">
              <a:lnSpc>
                <a:spcPts val="3451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Linear programming consists of variables, objective function and constrains.</a:t>
            </a:r>
          </a:p>
        </p:txBody>
      </p:sp>
      <p:pic>
        <p:nvPicPr>
          <p:cNvPr id="13" name="Graphic 12" descr="Bell with solid fill">
            <a:extLst>
              <a:ext uri="{FF2B5EF4-FFF2-40B4-BE49-F238E27FC236}">
                <a16:creationId xmlns:a16="http://schemas.microsoft.com/office/drawing/2014/main" id="{47EF2790-4257-84FA-98AC-A756664BFA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90627" y="2309464"/>
            <a:ext cx="667436" cy="66743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8D809D9-ECDE-E4EE-CF85-C5801397894E}"/>
              </a:ext>
            </a:extLst>
          </p:cNvPr>
          <p:cNvSpPr txBox="1"/>
          <p:nvPr/>
        </p:nvSpPr>
        <p:spPr>
          <a:xfrm>
            <a:off x="9238145" y="2400817"/>
            <a:ext cx="275107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3300" dirty="0"/>
              <a:t>Reminder</a:t>
            </a:r>
          </a:p>
        </p:txBody>
      </p:sp>
      <p:sp>
        <p:nvSpPr>
          <p:cNvPr id="15" name="מלבן: פינות מעוגלות 14">
            <a:extLst>
              <a:ext uri="{FF2B5EF4-FFF2-40B4-BE49-F238E27FC236}">
                <a16:creationId xmlns:a16="http://schemas.microsoft.com/office/drawing/2014/main" id="{52B45D9D-B6AC-D75E-C079-2E7BAD6E7EA0}"/>
              </a:ext>
            </a:extLst>
          </p:cNvPr>
          <p:cNvSpPr/>
          <p:nvPr/>
        </p:nvSpPr>
        <p:spPr>
          <a:xfrm>
            <a:off x="385075" y="2129035"/>
            <a:ext cx="7027327" cy="371517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>
              <a:lnSpc>
                <a:spcPts val="3451"/>
              </a:lnSpc>
            </a:pPr>
            <a: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We will use </a:t>
            </a:r>
            <a:r>
              <a:rPr lang="en-US" sz="2000" b="1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variables</a:t>
            </a:r>
            <a: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 to simply explain the algorithm in detail:</a:t>
            </a:r>
          </a:p>
          <a:p>
            <a:pPr>
              <a:lnSpc>
                <a:spcPts val="3451"/>
              </a:lnSpc>
            </a:pPr>
            <a:endParaRPr lang="en-US" sz="2000" dirty="0">
              <a:solidFill>
                <a:srgbClr val="383838"/>
              </a:solidFill>
              <a:latin typeface="Montserrat Medium" panose="00000600000000000000" pitchFamily="2" charset="0"/>
              <a:ea typeface="Patrick Hand" pitchFamily="34" charset="-122"/>
            </a:endParaRPr>
          </a:p>
          <a:p>
            <a:pPr marL="342900" indent="-342900">
              <a:lnSpc>
                <a:spcPts val="3451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The index </a:t>
            </a:r>
            <a:r>
              <a:rPr lang="en-US" sz="2000" dirty="0" err="1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i</a:t>
            </a:r>
            <a: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 denotes the </a:t>
            </a:r>
            <a:r>
              <a:rPr lang="en-US" sz="2000" dirty="0" err="1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i-th</a:t>
            </a:r>
            <a: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 employee.</a:t>
            </a:r>
          </a:p>
          <a:p>
            <a:pPr marL="342900" indent="-342900">
              <a:lnSpc>
                <a:spcPts val="3451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The index j denotes the j-</a:t>
            </a:r>
            <a:r>
              <a:rPr lang="en-US" sz="2000" dirty="0" err="1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th</a:t>
            </a:r>
            <a: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 shift.</a:t>
            </a:r>
          </a:p>
          <a:p>
            <a:pPr marL="342900" indent="-342900">
              <a:lnSpc>
                <a:spcPts val="3451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xi,j</a:t>
            </a:r>
            <a:r>
              <a:rPr lang="en-US" sz="2000" b="1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​ represents the submission of employee </a:t>
            </a:r>
            <a:r>
              <a:rPr lang="en-US" sz="2000" b="1" dirty="0" err="1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i</a:t>
            </a:r>
            <a:r>
              <a:rPr lang="en-US" sz="2000" b="1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 for shift j</a:t>
            </a:r>
            <a: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מלבן: פינות מעוגלות 14">
                <a:extLst>
                  <a:ext uri="{FF2B5EF4-FFF2-40B4-BE49-F238E27FC236}">
                    <a16:creationId xmlns:a16="http://schemas.microsoft.com/office/drawing/2014/main" id="{B3FED193-49B7-920E-1BCB-8623FEA0E0C5}"/>
                  </a:ext>
                </a:extLst>
              </p:cNvPr>
              <p:cNvSpPr/>
              <p:nvPr/>
            </p:nvSpPr>
            <p:spPr>
              <a:xfrm>
                <a:off x="385074" y="6508473"/>
                <a:ext cx="3601139" cy="932581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>
                  <a:lnSpc>
                    <a:spcPts val="3451"/>
                  </a:lnSpc>
                </a:pPr>
                <a:r>
                  <a:rPr lang="en-US" sz="2300" dirty="0">
                    <a:solidFill>
                      <a:srgbClr val="383838"/>
                    </a:solidFill>
                    <a:latin typeface="Montserrat Medium" panose="00000600000000000000" pitchFamily="2" charset="0"/>
                    <a:ea typeface="Patrick Hand" pitchFamily="34" charset="-122"/>
                  </a:rPr>
                  <a:t>Maximize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300" i="1" smtClean="0">
                            <a:solidFill>
                              <a:srgbClr val="383838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300" b="0" i="1" smtClean="0">
                            <a:solidFill>
                              <a:srgbClr val="38383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nary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300" i="1" smtClean="0">
                            <a:solidFill>
                              <a:srgbClr val="383838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300" b="0" i="1" smtClean="0">
                            <a:solidFill>
                              <a:srgbClr val="383838"/>
                            </a:solidFill>
                            <a:latin typeface="Cambria Math" panose="02040503050406030204" pitchFamily="18" charset="0"/>
                          </a:rPr>
                          <m:t>𝑗𝑋𝑖</m:t>
                        </m:r>
                        <m:r>
                          <a:rPr lang="en-US" sz="2300" b="0" i="1" smtClean="0">
                            <a:solidFill>
                              <a:srgbClr val="383838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300" b="0" i="1" smtClean="0">
                            <a:solidFill>
                              <a:srgbClr val="383838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nary>
                  </m:oMath>
                </a14:m>
                <a:endParaRPr lang="en-US" sz="2300" dirty="0">
                  <a:solidFill>
                    <a:srgbClr val="383838"/>
                  </a:solidFill>
                  <a:latin typeface="Montserrat Medium" panose="00000600000000000000" pitchFamily="2" charset="0"/>
                  <a:ea typeface="Patrick Hand" pitchFamily="34" charset="-122"/>
                </a:endParaRPr>
              </a:p>
            </p:txBody>
          </p:sp>
        </mc:Choice>
        <mc:Fallback xmlns="">
          <p:sp>
            <p:nvSpPr>
              <p:cNvPr id="4" name="מלבן: פינות מעוגלות 14">
                <a:extLst>
                  <a:ext uri="{FF2B5EF4-FFF2-40B4-BE49-F238E27FC236}">
                    <a16:creationId xmlns:a16="http://schemas.microsoft.com/office/drawing/2014/main" id="{B3FED193-49B7-920E-1BCB-8623FEA0E0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74" y="6508473"/>
                <a:ext cx="3601139" cy="932581"/>
              </a:xfrm>
              <a:prstGeom prst="roundRect">
                <a:avLst/>
              </a:prstGeom>
              <a:blipFill>
                <a:blip r:embed="rId7"/>
                <a:stretch>
                  <a:fillRect t="-29333" b="-68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87F7E60-4D1B-1F00-2CBD-1E18D2A17786}"/>
              </a:ext>
            </a:extLst>
          </p:cNvPr>
          <p:cNvSpPr txBox="1"/>
          <p:nvPr/>
        </p:nvSpPr>
        <p:spPr>
          <a:xfrm>
            <a:off x="488948" y="6062197"/>
            <a:ext cx="4081831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2300" b="1" dirty="0"/>
              <a:t>Objective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מלבן: פינות מעוגלות 14">
                <a:extLst>
                  <a:ext uri="{FF2B5EF4-FFF2-40B4-BE49-F238E27FC236}">
                    <a16:creationId xmlns:a16="http://schemas.microsoft.com/office/drawing/2014/main" id="{8536628B-4A32-87B7-DA9F-A031AEF5F792}"/>
                  </a:ext>
                </a:extLst>
              </p:cNvPr>
              <p:cNvSpPr/>
              <p:nvPr/>
            </p:nvSpPr>
            <p:spPr>
              <a:xfrm>
                <a:off x="4745413" y="6519896"/>
                <a:ext cx="6719141" cy="932581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>
                  <a:lnSpc>
                    <a:spcPts val="3451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b="0" i="1" smtClean="0">
                          <a:solidFill>
                            <a:srgbClr val="383838"/>
                          </a:solidFill>
                          <a:latin typeface="Cambria Math" panose="02040503050406030204" pitchFamily="18" charset="0"/>
                          <a:ea typeface="Patrick Hand" pitchFamily="34" charset="-122"/>
                        </a:rPr>
                        <m:t>𝑋𝑖</m:t>
                      </m:r>
                      <m:r>
                        <a:rPr lang="en-US" sz="2300" b="0" i="1" smtClean="0">
                          <a:solidFill>
                            <a:srgbClr val="383838"/>
                          </a:solidFill>
                          <a:latin typeface="Cambria Math" panose="02040503050406030204" pitchFamily="18" charset="0"/>
                          <a:ea typeface="Patrick Hand" pitchFamily="34" charset="-122"/>
                        </a:rPr>
                        <m:t>,</m:t>
                      </m:r>
                      <m:r>
                        <a:rPr lang="en-US" sz="2300" b="0" i="1" smtClean="0">
                          <a:solidFill>
                            <a:srgbClr val="383838"/>
                          </a:solidFill>
                          <a:latin typeface="Cambria Math" panose="02040503050406030204" pitchFamily="18" charset="0"/>
                          <a:ea typeface="Patrick Hand" pitchFamily="34" charset="-122"/>
                        </a:rPr>
                        <m:t>𝑗</m:t>
                      </m:r>
                      <m:r>
                        <a:rPr lang="en-US" sz="2300" b="0" i="1" smtClean="0">
                          <a:solidFill>
                            <a:srgbClr val="383838"/>
                          </a:solidFill>
                          <a:latin typeface="Cambria Math" panose="02040503050406030204" pitchFamily="18" charset="0"/>
                          <a:ea typeface="Patrick Hand" pitchFamily="34" charset="-122"/>
                        </a:rPr>
                        <m:t>=</m:t>
                      </m:r>
                      <m:r>
                        <a:rPr lang="en-US" sz="2300" b="0" i="1" smtClean="0">
                          <a:solidFill>
                            <a:srgbClr val="383838"/>
                          </a:solidFill>
                          <a:latin typeface="Cambria Math" panose="02040503050406030204" pitchFamily="18" charset="0"/>
                          <a:ea typeface="Patrick Hand" pitchFamily="34" charset="-122"/>
                        </a:rPr>
                        <m:t>1</m:t>
                      </m:r>
                      <m:r>
                        <a:rPr lang="en-US" sz="2300" b="0" i="1" smtClean="0">
                          <a:solidFill>
                            <a:srgbClr val="383838"/>
                          </a:solidFill>
                          <a:latin typeface="Cambria Math" panose="02040503050406030204" pitchFamily="18" charset="0"/>
                          <a:ea typeface="Patrick Hand" pitchFamily="34" charset="-122"/>
                        </a:rPr>
                        <m:t> ↔</m:t>
                      </m:r>
                      <m:r>
                        <a:rPr lang="en-US" sz="2300" b="0" i="1" smtClean="0">
                          <a:solidFill>
                            <a:srgbClr val="38383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𝐸𝑚𝑝𝑙𝑜𝑦𝑒𝑒</m:t>
                      </m:r>
                      <m:r>
                        <a:rPr lang="en-US" sz="2300" b="0" i="1" smtClean="0">
                          <a:solidFill>
                            <a:srgbClr val="38383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300" b="0" i="1" smtClean="0">
                          <a:solidFill>
                            <a:srgbClr val="38383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sz="2300" b="0" i="1" smtClean="0">
                          <a:solidFill>
                            <a:srgbClr val="38383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300" b="0" i="1" smtClean="0">
                          <a:solidFill>
                            <a:srgbClr val="38383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𝑖𝑠</m:t>
                      </m:r>
                      <m:r>
                        <a:rPr lang="en-US" sz="2300" b="0" i="1" smtClean="0">
                          <a:solidFill>
                            <a:srgbClr val="38383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300" b="0" i="1" smtClean="0">
                          <a:solidFill>
                            <a:srgbClr val="38383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𝑠𝑢𝑏𝑚𝑖𝑡𝑡𝑒𝑑</m:t>
                      </m:r>
                      <m:r>
                        <a:rPr lang="en-US" sz="2300" b="0" i="1" smtClean="0">
                          <a:solidFill>
                            <a:srgbClr val="38383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300" b="0" i="1" smtClean="0">
                          <a:solidFill>
                            <a:srgbClr val="38383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𝑡𝑜</m:t>
                      </m:r>
                      <m:r>
                        <a:rPr lang="en-US" sz="2300" b="0" i="1" smtClean="0">
                          <a:solidFill>
                            <a:srgbClr val="38383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300" b="0" i="1" smtClean="0">
                          <a:solidFill>
                            <a:srgbClr val="38383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sz="2300" b="0" i="1" smtClean="0">
                          <a:solidFill>
                            <a:srgbClr val="38383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sz="2300" b="0" i="1" smtClean="0">
                          <a:solidFill>
                            <a:srgbClr val="38383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𝑖𝑓𝑡</m:t>
                      </m:r>
                      <m:r>
                        <a:rPr lang="en-US" sz="2300" b="0" i="1" smtClean="0">
                          <a:solidFill>
                            <a:srgbClr val="38383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300" b="0" i="1" smtClean="0">
                          <a:solidFill>
                            <a:srgbClr val="38383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sz="2300" dirty="0">
                  <a:solidFill>
                    <a:srgbClr val="383838"/>
                  </a:solidFill>
                  <a:latin typeface="Montserrat Medium" panose="00000600000000000000" pitchFamily="2" charset="0"/>
                  <a:ea typeface="Patrick Hand" pitchFamily="34" charset="-122"/>
                </a:endParaRPr>
              </a:p>
            </p:txBody>
          </p:sp>
        </mc:Choice>
        <mc:Fallback xmlns="">
          <p:sp>
            <p:nvSpPr>
              <p:cNvPr id="9" name="מלבן: פינות מעוגלות 14">
                <a:extLst>
                  <a:ext uri="{FF2B5EF4-FFF2-40B4-BE49-F238E27FC236}">
                    <a16:creationId xmlns:a16="http://schemas.microsoft.com/office/drawing/2014/main" id="{8536628B-4A32-87B7-DA9F-A031AEF5F7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5413" y="6519896"/>
                <a:ext cx="6719141" cy="932581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CAC8B47-87F9-B262-A607-36F19F47CC80}"/>
              </a:ext>
            </a:extLst>
          </p:cNvPr>
          <p:cNvSpPr txBox="1"/>
          <p:nvPr/>
        </p:nvSpPr>
        <p:spPr>
          <a:xfrm>
            <a:off x="4849288" y="6073620"/>
            <a:ext cx="4081831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2300" b="1" dirty="0"/>
              <a:t>Linear Programmimg Output</a:t>
            </a:r>
          </a:p>
        </p:txBody>
      </p:sp>
      <p:sp>
        <p:nvSpPr>
          <p:cNvPr id="16" name="מלבן: פינות מעוגלות 15">
            <a:extLst>
              <a:ext uri="{FF2B5EF4-FFF2-40B4-BE49-F238E27FC236}">
                <a16:creationId xmlns:a16="http://schemas.microsoft.com/office/drawing/2014/main" id="{70C082E8-E1BB-4619-BCF7-EB65FE267A99}"/>
              </a:ext>
            </a:extLst>
          </p:cNvPr>
          <p:cNvSpPr/>
          <p:nvPr/>
        </p:nvSpPr>
        <p:spPr>
          <a:xfrm>
            <a:off x="-9032456" y="2612297"/>
            <a:ext cx="7119297" cy="53882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342900" indent="-342900">
              <a:lnSpc>
                <a:spcPts val="3451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Ensure that for each shift, the number of assigned employees does not exceed the required number of employees per shift.</a:t>
            </a:r>
          </a:p>
          <a:p>
            <a:pPr marL="342900" indent="-342900">
              <a:lnSpc>
                <a:spcPts val="3451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383838"/>
              </a:solidFill>
              <a:latin typeface="Montserrat Medium" panose="00000600000000000000" pitchFamily="2" charset="0"/>
              <a:ea typeface="Patrick Hand" pitchFamily="34" charset="-122"/>
            </a:endParaRPr>
          </a:p>
          <a:p>
            <a:pPr marL="342900" indent="-342900">
              <a:lnSpc>
                <a:spcPts val="3451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Ensure that each employee can only be assigned to one shift per day and manage blocked shifts.</a:t>
            </a:r>
          </a:p>
        </p:txBody>
      </p:sp>
    </p:spTree>
    <p:extLst>
      <p:ext uri="{BB962C8B-B14F-4D97-AF65-F5344CB8AC3E}">
        <p14:creationId xmlns:p14="http://schemas.microsoft.com/office/powerpoint/2010/main" val="3692841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4">
            <a:extLst>
              <a:ext uri="{FF2B5EF4-FFF2-40B4-BE49-F238E27FC236}">
                <a16:creationId xmlns:a16="http://schemas.microsoft.com/office/drawing/2014/main" id="{9F9EE6B1-DE94-7F88-7D11-353E3553BFDC}"/>
              </a:ext>
            </a:extLst>
          </p:cNvPr>
          <p:cNvSpPr/>
          <p:nvPr/>
        </p:nvSpPr>
        <p:spPr>
          <a:xfrm>
            <a:off x="9917489" y="21515"/>
            <a:ext cx="5184050" cy="822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pic>
        <p:nvPicPr>
          <p:cNvPr id="3" name="תמונה 22" descr="תמונה שמכילה עיגול&#10;&#10;התיאור נוצר באופן אוטומטי">
            <a:extLst>
              <a:ext uri="{FF2B5EF4-FFF2-40B4-BE49-F238E27FC236}">
                <a16:creationId xmlns:a16="http://schemas.microsoft.com/office/drawing/2014/main" id="{3721E52E-60A0-AA48-B0C4-1FCF4DC95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265" y="229069"/>
            <a:ext cx="1257378" cy="181587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B026E494-B78F-DB23-D6DB-5508BD2E53BA}"/>
              </a:ext>
            </a:extLst>
          </p:cNvPr>
          <p:cNvSpPr/>
          <p:nvPr/>
        </p:nvSpPr>
        <p:spPr>
          <a:xfrm>
            <a:off x="1343647" y="573285"/>
            <a:ext cx="10120908" cy="68472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392"/>
              </a:lnSpc>
              <a:buNone/>
            </a:pPr>
            <a:r>
              <a:rPr lang="en-US" sz="4400" dirty="0">
                <a:solidFill>
                  <a:srgbClr val="383838"/>
                </a:solidFill>
                <a:latin typeface="Montserrat Black" panose="00000A00000000000000" pitchFamily="2" charset="0"/>
                <a:ea typeface="Patrick Hand" pitchFamily="34" charset="-122"/>
                <a:cs typeface="Patrick Hand" pitchFamily="34" charset="-120"/>
              </a:rPr>
              <a:t>The Scheduling Algorithm</a:t>
            </a:r>
            <a:endParaRPr lang="en-US" sz="4400" dirty="0">
              <a:latin typeface="Montserrat Black" panose="00000A00000000000000" pitchFamily="2" charset="0"/>
            </a:endParaRPr>
          </a:p>
        </p:txBody>
      </p:sp>
      <p:pic>
        <p:nvPicPr>
          <p:cNvPr id="7" name="תמונה 17">
            <a:extLst>
              <a:ext uri="{FF2B5EF4-FFF2-40B4-BE49-F238E27FC236}">
                <a16:creationId xmlns:a16="http://schemas.microsoft.com/office/drawing/2014/main" id="{58A92263-951E-0427-1706-FE001ED59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483" y="1385757"/>
            <a:ext cx="3146793" cy="302151"/>
          </a:xfrm>
          <a:prstGeom prst="rect">
            <a:avLst/>
          </a:prstGeom>
        </p:spPr>
      </p:pic>
      <p:pic>
        <p:nvPicPr>
          <p:cNvPr id="8" name="תמונה 41" descr="תמונה שמכילה קל, מנורה&#10;&#10;התיאור נוצר באופן אוטומטי">
            <a:extLst>
              <a:ext uri="{FF2B5EF4-FFF2-40B4-BE49-F238E27FC236}">
                <a16:creationId xmlns:a16="http://schemas.microsoft.com/office/drawing/2014/main" id="{0D83D175-3C97-4BE4-ED2B-0FC55A8A8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886438">
            <a:off x="426076" y="1557622"/>
            <a:ext cx="606424" cy="57965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8D809D9-ECDE-E4EE-CF85-C5801397894E}"/>
              </a:ext>
            </a:extLst>
          </p:cNvPr>
          <p:cNvSpPr txBox="1"/>
          <p:nvPr/>
        </p:nvSpPr>
        <p:spPr>
          <a:xfrm>
            <a:off x="8135999" y="1400402"/>
            <a:ext cx="408183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3300" dirty="0"/>
              <a:t>Source Code</a:t>
            </a:r>
          </a:p>
        </p:txBody>
      </p:sp>
      <p:sp>
        <p:nvSpPr>
          <p:cNvPr id="15" name="מלבן: פינות מעוגלות 14">
            <a:extLst>
              <a:ext uri="{FF2B5EF4-FFF2-40B4-BE49-F238E27FC236}">
                <a16:creationId xmlns:a16="http://schemas.microsoft.com/office/drawing/2014/main" id="{52B45D9D-B6AC-D75E-C079-2E7BAD6E7EA0}"/>
              </a:ext>
            </a:extLst>
          </p:cNvPr>
          <p:cNvSpPr/>
          <p:nvPr/>
        </p:nvSpPr>
        <p:spPr>
          <a:xfrm>
            <a:off x="464315" y="2612297"/>
            <a:ext cx="7119297" cy="53882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342900" indent="-342900">
              <a:lnSpc>
                <a:spcPts val="3451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Ensure that for each shift, the number of assigned employees does not exceed the required number of employees per shift.</a:t>
            </a:r>
          </a:p>
          <a:p>
            <a:pPr marL="342900" indent="-342900">
              <a:lnSpc>
                <a:spcPts val="3451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383838"/>
              </a:solidFill>
              <a:latin typeface="Montserrat Medium" panose="00000600000000000000" pitchFamily="2" charset="0"/>
              <a:ea typeface="Patrick Hand" pitchFamily="34" charset="-122"/>
            </a:endParaRPr>
          </a:p>
          <a:p>
            <a:pPr marL="342900" indent="-342900">
              <a:lnSpc>
                <a:spcPts val="3451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Ensure that each employee can only be assigned to one shift per day and manage blocked shifts.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5A4537-9ECA-A25E-BAC1-B29DD643CCA4}"/>
              </a:ext>
            </a:extLst>
          </p:cNvPr>
          <p:cNvSpPr txBox="1"/>
          <p:nvPr/>
        </p:nvSpPr>
        <p:spPr>
          <a:xfrm>
            <a:off x="307842" y="2098078"/>
            <a:ext cx="7551964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L" sz="2300" dirty="0"/>
              <a:t>Constrains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06B2EE-678C-0043-99F3-370F293BEA8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118" t="9197" r="3206" b="4377"/>
          <a:stretch/>
        </p:blipFill>
        <p:spPr>
          <a:xfrm>
            <a:off x="8135999" y="2089077"/>
            <a:ext cx="6783471" cy="5998284"/>
          </a:xfrm>
          <a:prstGeom prst="rect">
            <a:avLst/>
          </a:prstGeom>
        </p:spPr>
      </p:pic>
      <p:pic>
        <p:nvPicPr>
          <p:cNvPr id="26" name="Graphic 25" descr="Line arrow: Straight with solid fill">
            <a:extLst>
              <a:ext uri="{FF2B5EF4-FFF2-40B4-BE49-F238E27FC236}">
                <a16:creationId xmlns:a16="http://schemas.microsoft.com/office/drawing/2014/main" id="{3C2744B6-F3BC-972D-1304-3380AC87D4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14130" y="4114800"/>
            <a:ext cx="1202506" cy="914400"/>
          </a:xfrm>
          <a:prstGeom prst="rect">
            <a:avLst/>
          </a:prstGeom>
        </p:spPr>
      </p:pic>
      <p:sp>
        <p:nvSpPr>
          <p:cNvPr id="16" name="מלבן: פינות מעוגלות 15">
            <a:extLst>
              <a:ext uri="{FF2B5EF4-FFF2-40B4-BE49-F238E27FC236}">
                <a16:creationId xmlns:a16="http://schemas.microsoft.com/office/drawing/2014/main" id="{EF95306F-533F-4389-B301-2C40F612662F}"/>
              </a:ext>
            </a:extLst>
          </p:cNvPr>
          <p:cNvSpPr/>
          <p:nvPr/>
        </p:nvSpPr>
        <p:spPr>
          <a:xfrm>
            <a:off x="-10116258" y="2579401"/>
            <a:ext cx="7355666" cy="529706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342900" indent="-342900">
              <a:lnSpc>
                <a:spcPts val="3451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Ensure that each employee does not exceed their individual maximum allowable shifts.</a:t>
            </a:r>
          </a:p>
          <a:p>
            <a:pPr marL="342900" indent="-342900">
              <a:lnSpc>
                <a:spcPts val="3451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383838"/>
              </a:solidFill>
              <a:latin typeface="Montserrat Medium" panose="00000600000000000000" pitchFamily="2" charset="0"/>
              <a:ea typeface="Patrick Hand" pitchFamily="34" charset="-122"/>
            </a:endParaRPr>
          </a:p>
          <a:p>
            <a:pPr marL="342900" indent="-342900">
              <a:lnSpc>
                <a:spcPts val="3451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Ensure that employees are only assigned to shifts they have requested and marked as available, ensuring no assignment to shifts beyond the employee's requested shifts.</a:t>
            </a:r>
          </a:p>
          <a:p>
            <a:pPr marL="342900" indent="-342900">
              <a:lnSpc>
                <a:spcPts val="3451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383838"/>
              </a:solidFill>
              <a:latin typeface="Montserrat Medium" panose="00000600000000000000" pitchFamily="2" charset="0"/>
              <a:ea typeface="Patrick Hand" pitchFamily="34" charset="-122"/>
            </a:endParaRPr>
          </a:p>
          <a:p>
            <a:pPr marL="342900" indent="-342900">
              <a:lnSpc>
                <a:spcPts val="3451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83838"/>
                </a:solidFill>
                <a:latin typeface="Montserrat Medium" panose="00000600000000000000" pitchFamily="2" charset="0"/>
                <a:ea typeface="Patrick Hand" pitchFamily="34" charset="-122"/>
              </a:rPr>
              <a:t>And more…</a:t>
            </a:r>
          </a:p>
        </p:txBody>
      </p:sp>
    </p:spTree>
    <p:extLst>
      <p:ext uri="{BB962C8B-B14F-4D97-AF65-F5344CB8AC3E}">
        <p14:creationId xmlns:p14="http://schemas.microsoft.com/office/powerpoint/2010/main" val="29554809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8002</TotalTime>
  <Words>1036</Words>
  <Application>Microsoft Office PowerPoint</Application>
  <PresentationFormat>מותאם אישית</PresentationFormat>
  <Paragraphs>152</Paragraphs>
  <Slides>13</Slides>
  <Notes>9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7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13</vt:i4>
      </vt:variant>
    </vt:vector>
  </HeadingPairs>
  <TitlesOfParts>
    <vt:vector size="21" baseType="lpstr">
      <vt:lpstr>Arial</vt:lpstr>
      <vt:lpstr>Calibri</vt:lpstr>
      <vt:lpstr>Cambria Math</vt:lpstr>
      <vt:lpstr>Montserrat</vt:lpstr>
      <vt:lpstr>Montserrat Black</vt:lpstr>
      <vt:lpstr>Montserrat Medium</vt:lpstr>
      <vt:lpstr>Patrick Hand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איתמר זנד</cp:lastModifiedBy>
  <cp:revision>14</cp:revision>
  <cp:lastPrinted>2024-07-17T15:45:20Z</cp:lastPrinted>
  <dcterms:created xsi:type="dcterms:W3CDTF">2024-07-11T22:08:30Z</dcterms:created>
  <dcterms:modified xsi:type="dcterms:W3CDTF">2024-07-17T20:56:46Z</dcterms:modified>
</cp:coreProperties>
</file>