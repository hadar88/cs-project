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2404050" cy="43205400"/>
  <p:notesSz cx="6858000" cy="9144000"/>
  <p:custShowLst>
    <p:custShow name="Custom Show 1" id="0">
      <p:sldLst/>
    </p:custShow>
  </p:custShowLst>
  <p:defaultTextStyle>
    <a:defPPr>
      <a:defRPr lang="he-IL"/>
    </a:defPPr>
    <a:lvl1pPr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159000" indent="-1701800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319588" indent="-3405188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6480175" indent="-5108575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8640763" indent="-6811963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56945E-4681-CEA1-A764-B85329A2F3A7}" name="Daniel Kaufman" initials="DK" userId="Daniel Kauf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mine Nassar" initials="YN" lastIdx="6" clrIdx="0">
    <p:extLst>
      <p:ext uri="{19B8F6BF-5375-455C-9EA6-DF929625EA0E}">
        <p15:presenceInfo xmlns:p15="http://schemas.microsoft.com/office/powerpoint/2012/main" userId="f9abce8d0fab17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1A9B"/>
    <a:srgbClr val="BFC8C8"/>
    <a:srgbClr val="EFD5CD"/>
    <a:srgbClr val="EBEAE4"/>
    <a:srgbClr val="D2D6D5"/>
    <a:srgbClr val="D9DFDF"/>
    <a:srgbClr val="A9AEA0"/>
    <a:srgbClr val="868D79"/>
    <a:srgbClr val="F1A1E7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32" autoAdjust="0"/>
    <p:restoredTop sz="94660"/>
  </p:normalViewPr>
  <p:slideViewPr>
    <p:cSldViewPr snapToGrid="0">
      <p:cViewPr varScale="1">
        <p:scale>
          <a:sx n="18" d="100"/>
          <a:sy n="18" d="100"/>
        </p:scale>
        <p:origin x="3516" y="174"/>
      </p:cViewPr>
      <p:guideLst>
        <p:guide orient="horz" pos="13608"/>
        <p:guide pos="10206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B7AD15-15F9-4DA9-98C2-32499DDEEC2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5FDB82-6BB1-4F0B-81E8-05CCA133938C}">
      <dgm:prSet custT="1"/>
      <dgm:spPr/>
      <dgm:t>
        <a:bodyPr/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Enhanced</a:t>
          </a:r>
          <a:br>
            <a:rPr lang="en-US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</a:b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Decision-Making </a:t>
          </a:r>
          <a:endParaRPr lang="en-US" sz="4400" kern="1200" dirty="0">
            <a:solidFill>
              <a:srgbClr val="1F497D"/>
            </a:solidFill>
            <a:latin typeface="Calibri"/>
            <a:ea typeface="+mn-ea"/>
            <a:cs typeface="Calibri"/>
          </a:endParaRPr>
        </a:p>
      </dgm:t>
    </dgm:pt>
    <dgm:pt modelId="{EA91EFF2-E302-4068-8807-DC3FE3F0295C}" type="parTrans" cxnId="{9F9199D6-0524-42D8-82E9-74CF1CDAE6A4}">
      <dgm:prSet/>
      <dgm:spPr/>
      <dgm:t>
        <a:bodyPr/>
        <a:lstStyle/>
        <a:p>
          <a:endParaRPr lang="en-US"/>
        </a:p>
      </dgm:t>
    </dgm:pt>
    <dgm:pt modelId="{D22F8C19-026C-4648-9D5D-351A0638F387}" type="sibTrans" cxnId="{9F9199D6-0524-42D8-82E9-74CF1CDAE6A4}">
      <dgm:prSet/>
      <dgm:spPr/>
      <dgm:t>
        <a:bodyPr/>
        <a:lstStyle/>
        <a:p>
          <a:endParaRPr lang="en-US"/>
        </a:p>
      </dgm:t>
    </dgm:pt>
    <dgm:pt modelId="{C6D0DD31-0359-48B4-A3D2-57AD43560F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Improved Course Selection Experience</a:t>
          </a:r>
          <a:endParaRPr lang="en-US" sz="4400" kern="1200" dirty="0">
            <a:solidFill>
              <a:srgbClr val="1F497D"/>
            </a:solidFill>
            <a:latin typeface="Calibri"/>
            <a:ea typeface="+mn-ea"/>
            <a:cs typeface="Calibri"/>
          </a:endParaRPr>
        </a:p>
      </dgm:t>
    </dgm:pt>
    <dgm:pt modelId="{C464E2D1-4941-4BDA-BD8A-F53A5049513A}" type="parTrans" cxnId="{16424F48-8A1F-4F16-8336-28A7CB10B27A}">
      <dgm:prSet/>
      <dgm:spPr/>
      <dgm:t>
        <a:bodyPr/>
        <a:lstStyle/>
        <a:p>
          <a:endParaRPr lang="en-US"/>
        </a:p>
      </dgm:t>
    </dgm:pt>
    <dgm:pt modelId="{5D8F6B04-9449-4D62-8F87-232CA70E83EA}" type="sibTrans" cxnId="{16424F48-8A1F-4F16-8336-28A7CB10B27A}">
      <dgm:prSet/>
      <dgm:spPr/>
      <dgm:t>
        <a:bodyPr/>
        <a:lstStyle/>
        <a:p>
          <a:endParaRPr lang="en-US"/>
        </a:p>
      </dgm:t>
    </dgm:pt>
    <dgm:pt modelId="{2E9321F6-CE0E-4E1D-B03F-B546F88CEC0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4400" kern="1200" dirty="0">
              <a:solidFill>
                <a:schemeClr val="tx2"/>
              </a:solidFill>
              <a:latin typeface="+mn-lt"/>
              <a:ea typeface="+mn-ea"/>
              <a:cs typeface="Calibri"/>
            </a:rPr>
            <a:t>Community and Engagement</a:t>
          </a:r>
        </a:p>
      </dgm:t>
    </dgm:pt>
    <dgm:pt modelId="{B12847AE-6C04-4FE9-8AF5-70A2440F113A}" type="parTrans" cxnId="{111FC46C-3968-4FF2-A8C7-E7BC151D18E9}">
      <dgm:prSet/>
      <dgm:spPr/>
      <dgm:t>
        <a:bodyPr/>
        <a:lstStyle/>
        <a:p>
          <a:endParaRPr lang="en-US"/>
        </a:p>
      </dgm:t>
    </dgm:pt>
    <dgm:pt modelId="{2717A3C0-650F-4929-A26F-46F1CFBD698B}" type="sibTrans" cxnId="{111FC46C-3968-4FF2-A8C7-E7BC151D18E9}">
      <dgm:prSet/>
      <dgm:spPr/>
      <dgm:t>
        <a:bodyPr/>
        <a:lstStyle/>
        <a:p>
          <a:endParaRPr lang="en-US"/>
        </a:p>
      </dgm:t>
    </dgm:pt>
    <dgm:pt modelId="{7B3704B4-A0F2-43A3-8A3F-90B2DB9C2C15}" type="pres">
      <dgm:prSet presAssocID="{81B7AD15-15F9-4DA9-98C2-32499DDEEC28}" presName="root" presStyleCnt="0">
        <dgm:presLayoutVars>
          <dgm:dir/>
          <dgm:resizeHandles val="exact"/>
        </dgm:presLayoutVars>
      </dgm:prSet>
      <dgm:spPr/>
    </dgm:pt>
    <dgm:pt modelId="{3F77912D-6984-4882-9B52-A3A53C42AF72}" type="pres">
      <dgm:prSet presAssocID="{BD5FDB82-6BB1-4F0B-81E8-05CCA133938C}" presName="compNode" presStyleCnt="0"/>
      <dgm:spPr/>
    </dgm:pt>
    <dgm:pt modelId="{76C66826-3828-4259-9685-74B0FC38BEDE}" type="pres">
      <dgm:prSet presAssocID="{BD5FDB82-6BB1-4F0B-81E8-05CCA133938C}" presName="iconRect" presStyleLbl="node1" presStyleIdx="0" presStyleCnt="3" custLinFactY="-30780" custLinFactNeighborX="20112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B8D9D07-6298-4EF0-9FFF-719AE8015DBD}" type="pres">
      <dgm:prSet presAssocID="{BD5FDB82-6BB1-4F0B-81E8-05CCA133938C}" presName="spaceRect" presStyleCnt="0"/>
      <dgm:spPr/>
    </dgm:pt>
    <dgm:pt modelId="{0B53F3FB-A94D-4F90-A241-01C51976F352}" type="pres">
      <dgm:prSet presAssocID="{BD5FDB82-6BB1-4F0B-81E8-05CCA133938C}" presName="textRect" presStyleLbl="revTx" presStyleIdx="0" presStyleCnt="3" custScaleX="149689" custLinFactY="-63101" custLinFactNeighborX="10428" custLinFactNeighborY="-100000">
        <dgm:presLayoutVars>
          <dgm:chMax val="1"/>
          <dgm:chPref val="1"/>
        </dgm:presLayoutVars>
      </dgm:prSet>
      <dgm:spPr/>
    </dgm:pt>
    <dgm:pt modelId="{302920CD-3A38-4365-A9C7-ACD7AAF407F7}" type="pres">
      <dgm:prSet presAssocID="{D22F8C19-026C-4648-9D5D-351A0638F387}" presName="sibTrans" presStyleCnt="0"/>
      <dgm:spPr/>
    </dgm:pt>
    <dgm:pt modelId="{DABEEAD9-822F-4128-A54F-FE2E0C10C965}" type="pres">
      <dgm:prSet presAssocID="{C6D0DD31-0359-48B4-A3D2-57AD43560F8E}" presName="compNode" presStyleCnt="0"/>
      <dgm:spPr/>
    </dgm:pt>
    <dgm:pt modelId="{9E711852-A7D6-4411-93FB-5F1A50E58B9F}" type="pres">
      <dgm:prSet presAssocID="{C6D0DD31-0359-48B4-A3D2-57AD43560F8E}" presName="iconRect" presStyleLbl="node1" presStyleIdx="1" presStyleCnt="3" custLinFactY="-22803" custLinFactNeighborX="17278" custLinFactNeighborY="-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1A7AB3-FCBD-44B1-9DE5-1E36FF128738}" type="pres">
      <dgm:prSet presAssocID="{C6D0DD31-0359-48B4-A3D2-57AD43560F8E}" presName="spaceRect" presStyleCnt="0"/>
      <dgm:spPr/>
    </dgm:pt>
    <dgm:pt modelId="{765D18A5-AB76-4923-8EAF-881D6F6B068A}" type="pres">
      <dgm:prSet presAssocID="{C6D0DD31-0359-48B4-A3D2-57AD43560F8E}" presName="textRect" presStyleLbl="revTx" presStyleIdx="1" presStyleCnt="3" custScaleX="178353" custLinFactY="-64433" custLinFactNeighborX="12659" custLinFactNeighborY="-100000">
        <dgm:presLayoutVars>
          <dgm:chMax val="1"/>
          <dgm:chPref val="1"/>
        </dgm:presLayoutVars>
      </dgm:prSet>
      <dgm:spPr/>
    </dgm:pt>
    <dgm:pt modelId="{F9CC631F-C95F-40C2-8F10-25EED6E266B6}" type="pres">
      <dgm:prSet presAssocID="{5D8F6B04-9449-4D62-8F87-232CA70E83EA}" presName="sibTrans" presStyleCnt="0"/>
      <dgm:spPr/>
    </dgm:pt>
    <dgm:pt modelId="{0F29BCBF-48DF-4980-96C9-83190780AE2E}" type="pres">
      <dgm:prSet presAssocID="{2E9321F6-CE0E-4E1D-B03F-B546F88CEC08}" presName="compNode" presStyleCnt="0"/>
      <dgm:spPr/>
    </dgm:pt>
    <dgm:pt modelId="{F780652C-040E-4A54-A193-5D9EC3FF4FB2}" type="pres">
      <dgm:prSet presAssocID="{2E9321F6-CE0E-4E1D-B03F-B546F88CEC08}" presName="iconRect" presStyleLbl="node1" presStyleIdx="2" presStyleCnt="3" custScaleX="110083" custScaleY="108140" custLinFactY="-24111" custLinFactNeighborX="-2884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EA604FE-EBDD-49BD-952D-66E43B61E8C1}" type="pres">
      <dgm:prSet presAssocID="{2E9321F6-CE0E-4E1D-B03F-B546F88CEC08}" presName="spaceRect" presStyleCnt="0"/>
      <dgm:spPr/>
    </dgm:pt>
    <dgm:pt modelId="{F00B6AC8-955C-46C9-9D4E-A4F2A2FB6CD0}" type="pres">
      <dgm:prSet presAssocID="{2E9321F6-CE0E-4E1D-B03F-B546F88CEC08}" presName="textRect" presStyleLbl="revTx" presStyleIdx="2" presStyleCnt="3" custScaleX="146771" custLinFactY="-63299" custLinFactNeighborX="-2119" custLinFactNeighborY="-100000">
        <dgm:presLayoutVars>
          <dgm:chMax val="1"/>
          <dgm:chPref val="1"/>
        </dgm:presLayoutVars>
      </dgm:prSet>
      <dgm:spPr/>
    </dgm:pt>
  </dgm:ptLst>
  <dgm:cxnLst>
    <dgm:cxn modelId="{6B49A112-F34E-4725-8BF3-BF0702C6569A}" type="presOf" srcId="{2E9321F6-CE0E-4E1D-B03F-B546F88CEC08}" destId="{F00B6AC8-955C-46C9-9D4E-A4F2A2FB6CD0}" srcOrd="0" destOrd="0" presId="urn:microsoft.com/office/officeart/2018/2/layout/IconLabelList"/>
    <dgm:cxn modelId="{A18CA018-D386-405D-99E1-EC0CC82A6D4C}" type="presOf" srcId="{BD5FDB82-6BB1-4F0B-81E8-05CCA133938C}" destId="{0B53F3FB-A94D-4F90-A241-01C51976F352}" srcOrd="0" destOrd="0" presId="urn:microsoft.com/office/officeart/2018/2/layout/IconLabelList"/>
    <dgm:cxn modelId="{16424F48-8A1F-4F16-8336-28A7CB10B27A}" srcId="{81B7AD15-15F9-4DA9-98C2-32499DDEEC28}" destId="{C6D0DD31-0359-48B4-A3D2-57AD43560F8E}" srcOrd="1" destOrd="0" parTransId="{C464E2D1-4941-4BDA-BD8A-F53A5049513A}" sibTransId="{5D8F6B04-9449-4D62-8F87-232CA70E83EA}"/>
    <dgm:cxn modelId="{25CA8549-44DB-4140-81FF-8194A94E897B}" type="presOf" srcId="{81B7AD15-15F9-4DA9-98C2-32499DDEEC28}" destId="{7B3704B4-A0F2-43A3-8A3F-90B2DB9C2C15}" srcOrd="0" destOrd="0" presId="urn:microsoft.com/office/officeart/2018/2/layout/IconLabelList"/>
    <dgm:cxn modelId="{111FC46C-3968-4FF2-A8C7-E7BC151D18E9}" srcId="{81B7AD15-15F9-4DA9-98C2-32499DDEEC28}" destId="{2E9321F6-CE0E-4E1D-B03F-B546F88CEC08}" srcOrd="2" destOrd="0" parTransId="{B12847AE-6C04-4FE9-8AF5-70A2440F113A}" sibTransId="{2717A3C0-650F-4929-A26F-46F1CFBD698B}"/>
    <dgm:cxn modelId="{D91AB6A2-CAB4-49F1-AED6-D91C70B0E4C7}" type="presOf" srcId="{C6D0DD31-0359-48B4-A3D2-57AD43560F8E}" destId="{765D18A5-AB76-4923-8EAF-881D6F6B068A}" srcOrd="0" destOrd="0" presId="urn:microsoft.com/office/officeart/2018/2/layout/IconLabelList"/>
    <dgm:cxn modelId="{9F9199D6-0524-42D8-82E9-74CF1CDAE6A4}" srcId="{81B7AD15-15F9-4DA9-98C2-32499DDEEC28}" destId="{BD5FDB82-6BB1-4F0B-81E8-05CCA133938C}" srcOrd="0" destOrd="0" parTransId="{EA91EFF2-E302-4068-8807-DC3FE3F0295C}" sibTransId="{D22F8C19-026C-4648-9D5D-351A0638F387}"/>
    <dgm:cxn modelId="{CB7A869B-4E57-4377-9209-BAF343A0D2C7}" type="presParOf" srcId="{7B3704B4-A0F2-43A3-8A3F-90B2DB9C2C15}" destId="{3F77912D-6984-4882-9B52-A3A53C42AF72}" srcOrd="0" destOrd="0" presId="urn:microsoft.com/office/officeart/2018/2/layout/IconLabelList"/>
    <dgm:cxn modelId="{6E7FA89E-68B1-4368-931B-39210264C790}" type="presParOf" srcId="{3F77912D-6984-4882-9B52-A3A53C42AF72}" destId="{76C66826-3828-4259-9685-74B0FC38BEDE}" srcOrd="0" destOrd="0" presId="urn:microsoft.com/office/officeart/2018/2/layout/IconLabelList"/>
    <dgm:cxn modelId="{B998E0D2-A5F7-4D8C-A5ED-283F5BE56D28}" type="presParOf" srcId="{3F77912D-6984-4882-9B52-A3A53C42AF72}" destId="{9B8D9D07-6298-4EF0-9FFF-719AE8015DBD}" srcOrd="1" destOrd="0" presId="urn:microsoft.com/office/officeart/2018/2/layout/IconLabelList"/>
    <dgm:cxn modelId="{2DA93CB2-3928-421A-A14D-45ADBA9506AA}" type="presParOf" srcId="{3F77912D-6984-4882-9B52-A3A53C42AF72}" destId="{0B53F3FB-A94D-4F90-A241-01C51976F352}" srcOrd="2" destOrd="0" presId="urn:microsoft.com/office/officeart/2018/2/layout/IconLabelList"/>
    <dgm:cxn modelId="{B92EFBED-219D-4AD3-8588-EA73DFE1025F}" type="presParOf" srcId="{7B3704B4-A0F2-43A3-8A3F-90B2DB9C2C15}" destId="{302920CD-3A38-4365-A9C7-ACD7AAF407F7}" srcOrd="1" destOrd="0" presId="urn:microsoft.com/office/officeart/2018/2/layout/IconLabelList"/>
    <dgm:cxn modelId="{DDD7576D-42E6-4888-A57A-459C4900FA2E}" type="presParOf" srcId="{7B3704B4-A0F2-43A3-8A3F-90B2DB9C2C15}" destId="{DABEEAD9-822F-4128-A54F-FE2E0C10C965}" srcOrd="2" destOrd="0" presId="urn:microsoft.com/office/officeart/2018/2/layout/IconLabelList"/>
    <dgm:cxn modelId="{CD6F941B-D8DB-4A36-BD9F-0581A30E91A5}" type="presParOf" srcId="{DABEEAD9-822F-4128-A54F-FE2E0C10C965}" destId="{9E711852-A7D6-4411-93FB-5F1A50E58B9F}" srcOrd="0" destOrd="0" presId="urn:microsoft.com/office/officeart/2018/2/layout/IconLabelList"/>
    <dgm:cxn modelId="{DF151BE2-E19E-423A-9C11-90BB8572EFC0}" type="presParOf" srcId="{DABEEAD9-822F-4128-A54F-FE2E0C10C965}" destId="{E71A7AB3-FCBD-44B1-9DE5-1E36FF128738}" srcOrd="1" destOrd="0" presId="urn:microsoft.com/office/officeart/2018/2/layout/IconLabelList"/>
    <dgm:cxn modelId="{17738C7C-69AD-4B23-9C1C-7722EF03042F}" type="presParOf" srcId="{DABEEAD9-822F-4128-A54F-FE2E0C10C965}" destId="{765D18A5-AB76-4923-8EAF-881D6F6B068A}" srcOrd="2" destOrd="0" presId="urn:microsoft.com/office/officeart/2018/2/layout/IconLabelList"/>
    <dgm:cxn modelId="{E7C2E38A-0F5D-49E8-8B30-BB80A44A1855}" type="presParOf" srcId="{7B3704B4-A0F2-43A3-8A3F-90B2DB9C2C15}" destId="{F9CC631F-C95F-40C2-8F10-25EED6E266B6}" srcOrd="3" destOrd="0" presId="urn:microsoft.com/office/officeart/2018/2/layout/IconLabelList"/>
    <dgm:cxn modelId="{B63222C5-FEB4-493A-A8D1-370BC3552069}" type="presParOf" srcId="{7B3704B4-A0F2-43A3-8A3F-90B2DB9C2C15}" destId="{0F29BCBF-48DF-4980-96C9-83190780AE2E}" srcOrd="4" destOrd="0" presId="urn:microsoft.com/office/officeart/2018/2/layout/IconLabelList"/>
    <dgm:cxn modelId="{137F9166-B1CC-4610-BDF3-D7239FC30C24}" type="presParOf" srcId="{0F29BCBF-48DF-4980-96C9-83190780AE2E}" destId="{F780652C-040E-4A54-A193-5D9EC3FF4FB2}" srcOrd="0" destOrd="0" presId="urn:microsoft.com/office/officeart/2018/2/layout/IconLabelList"/>
    <dgm:cxn modelId="{E85A82B0-5BE1-49EA-8D31-FCA1843ECAB1}" type="presParOf" srcId="{0F29BCBF-48DF-4980-96C9-83190780AE2E}" destId="{5EA604FE-EBDD-49BD-952D-66E43B61E8C1}" srcOrd="1" destOrd="0" presId="urn:microsoft.com/office/officeart/2018/2/layout/IconLabelList"/>
    <dgm:cxn modelId="{8231FA42-2997-4122-B265-3D903FFF27CF}" type="presParOf" srcId="{0F29BCBF-48DF-4980-96C9-83190780AE2E}" destId="{F00B6AC8-955C-46C9-9D4E-A4F2A2FB6C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66826-3828-4259-9685-74B0FC38BEDE}">
      <dsp:nvSpPr>
        <dsp:cNvPr id="0" name=""/>
        <dsp:cNvSpPr/>
      </dsp:nvSpPr>
      <dsp:spPr>
        <a:xfrm>
          <a:off x="2055027" y="0"/>
          <a:ext cx="1424206" cy="14242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3F3FB-A94D-4F90-A241-01C51976F352}">
      <dsp:nvSpPr>
        <dsp:cNvPr id="0" name=""/>
        <dsp:cNvSpPr/>
      </dsp:nvSpPr>
      <dsp:spPr>
        <a:xfrm>
          <a:off x="441974" y="1484464"/>
          <a:ext cx="4737511" cy="138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Enhanced</a:t>
          </a:r>
          <a:br>
            <a:rPr lang="en-US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</a:b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Decision-Making </a:t>
          </a:r>
          <a:endParaRPr lang="en-US" sz="4400" kern="1200" dirty="0">
            <a:solidFill>
              <a:srgbClr val="1F497D"/>
            </a:solidFill>
            <a:latin typeface="Calibri"/>
            <a:ea typeface="+mn-ea"/>
            <a:cs typeface="Calibri"/>
          </a:endParaRPr>
        </a:p>
      </dsp:txBody>
      <dsp:txXfrm>
        <a:off x="441974" y="1484464"/>
        <a:ext cx="4737511" cy="1389622"/>
      </dsp:txXfrm>
    </dsp:sp>
    <dsp:sp modelId="{9E711852-A7D6-4411-93FB-5F1A50E58B9F}">
      <dsp:nvSpPr>
        <dsp:cNvPr id="0" name=""/>
        <dsp:cNvSpPr/>
      </dsp:nvSpPr>
      <dsp:spPr>
        <a:xfrm>
          <a:off x="7759629" y="80856"/>
          <a:ext cx="1424206" cy="14242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D18A5-AB76-4923-8EAF-881D6F6B068A}">
      <dsp:nvSpPr>
        <dsp:cNvPr id="0" name=""/>
        <dsp:cNvSpPr/>
      </dsp:nvSpPr>
      <dsp:spPr>
        <a:xfrm>
          <a:off x="5803953" y="1465955"/>
          <a:ext cx="5644699" cy="138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4400" kern="1200" dirty="0">
              <a:solidFill>
                <a:srgbClr val="1F497D"/>
              </a:solidFill>
              <a:latin typeface="Calibri"/>
              <a:ea typeface="+mn-ea"/>
              <a:cs typeface="Calibri"/>
            </a:rPr>
            <a:t>Improved Course Selection Experience</a:t>
          </a:r>
          <a:endParaRPr lang="en-US" sz="4400" kern="1200" dirty="0">
            <a:solidFill>
              <a:srgbClr val="1F497D"/>
            </a:solidFill>
            <a:latin typeface="Calibri"/>
            <a:ea typeface="+mn-ea"/>
            <a:cs typeface="Calibri"/>
          </a:endParaRPr>
        </a:p>
      </dsp:txBody>
      <dsp:txXfrm>
        <a:off x="5803953" y="1465955"/>
        <a:ext cx="5644699" cy="1389622"/>
      </dsp:txXfrm>
    </dsp:sp>
    <dsp:sp modelId="{F780652C-040E-4A54-A193-5D9EC3FF4FB2}">
      <dsp:nvSpPr>
        <dsp:cNvPr id="0" name=""/>
        <dsp:cNvSpPr/>
      </dsp:nvSpPr>
      <dsp:spPr>
        <a:xfrm>
          <a:off x="13099466" y="33245"/>
          <a:ext cx="1567809" cy="1540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B6AC8-955C-46C9-9D4E-A4F2A2FB6CD0}">
      <dsp:nvSpPr>
        <dsp:cNvPr id="0" name=""/>
        <dsp:cNvSpPr/>
      </dsp:nvSpPr>
      <dsp:spPr>
        <a:xfrm>
          <a:off x="11534801" y="1510696"/>
          <a:ext cx="4645159" cy="138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tx2"/>
              </a:solidFill>
              <a:latin typeface="+mn-lt"/>
              <a:ea typeface="+mn-ea"/>
              <a:cs typeface="Calibri"/>
            </a:rPr>
            <a:t>Community and Engagement</a:t>
          </a:r>
        </a:p>
      </dsp:txBody>
      <dsp:txXfrm>
        <a:off x="11534801" y="1510696"/>
        <a:ext cx="4645159" cy="1389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76FFE8-0872-46ED-B508-DF2666DF2539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18C859-372D-49E3-8A80-B70FD6D6E5FB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090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D6CD24D-66C6-491C-BDA9-72C033E8BE25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81F5BAB-182F-4052-A80D-C27D201FAC0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3647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מציין מיקום של תמונת שקופית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מציין מיקום של הערות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dirty="0"/>
          </a:p>
        </p:txBody>
      </p:sp>
      <p:sp>
        <p:nvSpPr>
          <p:cNvPr id="14340" name="מציין מיקום של מספר שקופית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4319588" eaLnBrk="1" fontAlgn="base" hangingPunct="1">
              <a:spcBef>
                <a:spcPct val="0"/>
              </a:spcBef>
              <a:spcAft>
                <a:spcPct val="0"/>
              </a:spcAft>
            </a:pPr>
            <a:fld id="{FF2852EE-4A5F-4BC9-925B-CAB801A6B275}" type="slidenum">
              <a:rPr lang="he-IL" sz="1200" smtClean="0">
                <a:latin typeface="Calibri" pitchFamily="34" charset="0"/>
              </a:rPr>
              <a:pPr defTabSz="4319588" eaLnBrk="1" fontAlgn="base" hangingPunct="1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he-IL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4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572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2DBCA46-4825-4F4A-A158-E243A8117FAB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A7640E2-F6CB-425F-AC46-E72C8A5628F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327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4BA0395-DB79-40D1-AAE7-7294A94B573C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74B2FEF-46F5-4542-9CFF-53391F56CE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352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F1BF2C8-4D12-499B-BEE8-D2F1E6D5E649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BED6E5C-BEF5-4DC5-A73A-9CF82C371D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085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7FA80BA-C9F3-4A8A-AF94-86A26EF0A512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29B35DE-0099-4176-9274-9E700E77E5E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274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C193E0E-37D8-4F1F-9BCE-4DB7DACC128D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3C71013-23EF-4BFB-B4F1-67C3DEE1A770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140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30BB425-E2B9-46C6-B526-28A0A80DF399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44EA4D7-3BB5-497D-A012-A78C8ECEC0E6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771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91158F9-C711-4495-80F1-9BD3BF1ED2C0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BB3E9E7-6365-4BE9-94EF-3201192859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030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1846918-13CB-4C5B-B266-133BEE066C82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E5E3F5-9EDF-407D-8C1F-0739F77A82A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134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85C90B1-8F41-4B17-B25D-A01D6521BF57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C3A3041-9AA5-4DCC-87DB-03C4ECFB07DE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727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132E137-6C43-4784-915D-D6413E1220F1}" type="datetimeFigureOut">
              <a:rPr lang="he-IL"/>
              <a:pPr>
                <a:defRPr/>
              </a:pPr>
              <a:t>ו'/תמוז/תשפ"ד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34C5412-4362-492E-A8F6-54826C0DFB87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590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/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fontAlgn="auto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A68A2E-CE63-6F55-CBE7-ECDBF076E80C}"/>
              </a:ext>
            </a:extLst>
          </p:cNvPr>
          <p:cNvSpPr/>
          <p:nvPr/>
        </p:nvSpPr>
        <p:spPr>
          <a:xfrm>
            <a:off x="25158" y="6476332"/>
            <a:ext cx="32378891" cy="36703946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GB" dirty="0"/>
          </a:p>
        </p:txBody>
      </p:sp>
      <p:sp>
        <p:nvSpPr>
          <p:cNvPr id="12290" name="TextBox 6"/>
          <p:cNvSpPr txBox="1">
            <a:spLocks noChangeArrowheads="1"/>
          </p:cNvSpPr>
          <p:nvPr/>
        </p:nvSpPr>
        <p:spPr bwMode="auto">
          <a:xfrm>
            <a:off x="-5044053" y="2734564"/>
            <a:ext cx="42492151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10000" b="1" kern="1400" spc="-50" dirty="0">
                <a:solidFill>
                  <a:srgbClr val="000000"/>
                </a:solidFill>
                <a:latin typeface="Arial"/>
                <a:cs typeface="Arial"/>
              </a:rPr>
              <a:t>Courses Reviews - A System For Rating Courses</a:t>
            </a:r>
          </a:p>
          <a:p>
            <a:pPr algn="ctr"/>
            <a:endParaRPr lang="en-US" sz="9600" b="1" kern="1400" spc="-50" dirty="0"/>
          </a:p>
        </p:txBody>
      </p:sp>
      <p:sp>
        <p:nvSpPr>
          <p:cNvPr id="12291" name="TextBox 9"/>
          <p:cNvSpPr txBox="1">
            <a:spLocks noChangeArrowheads="1"/>
          </p:cNvSpPr>
          <p:nvPr/>
        </p:nvSpPr>
        <p:spPr bwMode="auto">
          <a:xfrm>
            <a:off x="3929281" y="4293368"/>
            <a:ext cx="2738003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/>
            <a:r>
              <a:rPr lang="en-US" sz="8000" b="1" i="1" dirty="0">
                <a:solidFill>
                  <a:srgbClr val="000099"/>
                </a:solidFill>
                <a:latin typeface="Calibri"/>
                <a:cs typeface="David"/>
              </a:rPr>
              <a:t>Lior Soffer, Yuval Liman, Michal Regev, Shir Gordon</a:t>
            </a:r>
          </a:p>
        </p:txBody>
      </p:sp>
      <p:sp>
        <p:nvSpPr>
          <p:cNvPr id="12292" name="TextBox 10"/>
          <p:cNvSpPr txBox="1">
            <a:spLocks noChangeArrowheads="1"/>
          </p:cNvSpPr>
          <p:nvPr/>
        </p:nvSpPr>
        <p:spPr bwMode="auto">
          <a:xfrm>
            <a:off x="5726277" y="5173380"/>
            <a:ext cx="210026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sz="8000" b="1" i="1" dirty="0">
                <a:solidFill>
                  <a:srgbClr val="000099"/>
                </a:solidFill>
                <a:latin typeface="Calibri"/>
                <a:cs typeface="David"/>
              </a:rPr>
              <a:t>Advisor: Dr. Niv Gilboa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297" y="683101"/>
            <a:ext cx="19631489" cy="2107308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algn="ctr" defTabSz="4320540" rtl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b="1" dirty="0" err="1">
                <a:solidFill>
                  <a:srgbClr val="000099"/>
                </a:solidFill>
                <a:latin typeface="+mn-lt"/>
                <a:cs typeface="David"/>
              </a:rPr>
              <a:t>הפקולטה</a:t>
            </a:r>
            <a:r>
              <a:rPr lang="en-US" sz="8800" b="1" dirty="0">
                <a:solidFill>
                  <a:srgbClr val="000099"/>
                </a:solidFill>
                <a:latin typeface="+mn-lt"/>
                <a:cs typeface="David"/>
              </a:rPr>
              <a:t> </a:t>
            </a:r>
            <a:r>
              <a:rPr lang="en-US" sz="8800" b="1" dirty="0" err="1">
                <a:solidFill>
                  <a:srgbClr val="000099"/>
                </a:solidFill>
                <a:latin typeface="+mn-lt"/>
                <a:cs typeface="David"/>
              </a:rPr>
              <a:t>למדעי</a:t>
            </a:r>
            <a:r>
              <a:rPr lang="en-US" sz="8800" b="1" dirty="0">
                <a:solidFill>
                  <a:srgbClr val="000099"/>
                </a:solidFill>
                <a:latin typeface="+mn-lt"/>
                <a:cs typeface="David"/>
              </a:rPr>
              <a:t> </a:t>
            </a:r>
            <a:r>
              <a:rPr lang="en-US" sz="8800" b="1" dirty="0" err="1">
                <a:solidFill>
                  <a:srgbClr val="000099"/>
                </a:solidFill>
                <a:latin typeface="+mn-lt"/>
                <a:cs typeface="David"/>
              </a:rPr>
              <a:t>הטבע</a:t>
            </a:r>
            <a:endParaRPr lang="en-US" dirty="0">
              <a:solidFill>
                <a:srgbClr val="000000"/>
              </a:solidFill>
            </a:endParaRPr>
          </a:p>
          <a:p>
            <a:pPr algn="ctr" defTabSz="4320540" rtl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b="1" dirty="0" err="1">
                <a:solidFill>
                  <a:srgbClr val="000099"/>
                </a:solidFill>
                <a:latin typeface="Calibri"/>
                <a:cs typeface="David"/>
              </a:rPr>
              <a:t>המחלקה</a:t>
            </a:r>
            <a:r>
              <a:rPr lang="en-US" sz="8800" b="1" dirty="0">
                <a:solidFill>
                  <a:srgbClr val="000099"/>
                </a:solidFill>
                <a:latin typeface="Calibri"/>
                <a:cs typeface="David"/>
              </a:rPr>
              <a:t> </a:t>
            </a:r>
            <a:r>
              <a:rPr lang="en-US" sz="8800" b="1" dirty="0" err="1">
                <a:solidFill>
                  <a:srgbClr val="000099"/>
                </a:solidFill>
                <a:latin typeface="Calibri"/>
                <a:cs typeface="David"/>
              </a:rPr>
              <a:t>למדעי</a:t>
            </a:r>
            <a:r>
              <a:rPr lang="en-US" sz="8800" b="1" dirty="0">
                <a:solidFill>
                  <a:srgbClr val="000099"/>
                </a:solidFill>
                <a:latin typeface="Calibri"/>
                <a:cs typeface="David"/>
              </a:rPr>
              <a:t> </a:t>
            </a:r>
            <a:r>
              <a:rPr lang="en-US" sz="8800" b="1" dirty="0" err="1">
                <a:solidFill>
                  <a:srgbClr val="000099"/>
                </a:solidFill>
                <a:latin typeface="Calibri"/>
                <a:cs typeface="David"/>
              </a:rPr>
              <a:t>המחשב</a:t>
            </a:r>
            <a:endParaRPr lang="en-US" sz="8800" b="1" dirty="0">
              <a:solidFill>
                <a:srgbClr val="000099"/>
              </a:solidFill>
              <a:latin typeface="Calibri"/>
              <a:cs typeface="David"/>
            </a:endParaRPr>
          </a:p>
        </p:txBody>
      </p:sp>
      <p:sp>
        <p:nvSpPr>
          <p:cNvPr id="144" name="Rectangle 8">
            <a:extLst>
              <a:ext uri="{FF2B5EF4-FFF2-40B4-BE49-F238E27FC236}">
                <a16:creationId xmlns:a16="http://schemas.microsoft.com/office/drawing/2014/main" id="{1649DF04-A6E1-5FB2-E1C1-19084273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Rectangle 9">
            <a:extLst>
              <a:ext uri="{FF2B5EF4-FFF2-40B4-BE49-F238E27FC236}">
                <a16:creationId xmlns:a16="http://schemas.microsoft.com/office/drawing/2014/main" id="{5D391ABA-0C7F-1FEC-37A9-C1538D27D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11">
            <a:extLst>
              <a:ext uri="{FF2B5EF4-FFF2-40B4-BE49-F238E27FC236}">
                <a16:creationId xmlns:a16="http://schemas.microsoft.com/office/drawing/2014/main" id="{7F29AD4F-115C-6D01-D95F-768CE2419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Rectangle 12">
            <a:extLst>
              <a:ext uri="{FF2B5EF4-FFF2-40B4-BE49-F238E27FC236}">
                <a16:creationId xmlns:a16="http://schemas.microsoft.com/office/drawing/2014/main" id="{4784F02D-635B-59E1-CFFA-24E6E3AE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Rectangle 14">
            <a:extLst>
              <a:ext uri="{FF2B5EF4-FFF2-40B4-BE49-F238E27FC236}">
                <a16:creationId xmlns:a16="http://schemas.microsoft.com/office/drawing/2014/main" id="{DAD2F332-F3A5-AC9C-49D4-3AB603429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5">
            <a:extLst>
              <a:ext uri="{FF2B5EF4-FFF2-40B4-BE49-F238E27FC236}">
                <a16:creationId xmlns:a16="http://schemas.microsoft.com/office/drawing/2014/main" id="{DFCF6075-B1A4-AE40-B2E4-7EB05DE72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ectangle 18">
            <a:extLst>
              <a:ext uri="{FF2B5EF4-FFF2-40B4-BE49-F238E27FC236}">
                <a16:creationId xmlns:a16="http://schemas.microsoft.com/office/drawing/2014/main" id="{D245D589-1891-8F17-B463-C0056D704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Rectangle 5">
            <a:extLst>
              <a:ext uri="{FF2B5EF4-FFF2-40B4-BE49-F238E27FC236}">
                <a16:creationId xmlns:a16="http://schemas.microsoft.com/office/drawing/2014/main" id="{9A35D15C-A079-596C-A862-4B5723E46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Rectangle 7">
            <a:extLst>
              <a:ext uri="{FF2B5EF4-FFF2-40B4-BE49-F238E27FC236}">
                <a16:creationId xmlns:a16="http://schemas.microsoft.com/office/drawing/2014/main" id="{A3024DA6-569D-CBE3-ACE5-F478B83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9">
            <a:extLst>
              <a:ext uri="{FF2B5EF4-FFF2-40B4-BE49-F238E27FC236}">
                <a16:creationId xmlns:a16="http://schemas.microsoft.com/office/drawing/2014/main" id="{E95B36CB-628B-555D-3E45-EF625C7FD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8" descr="You too, embrace cross-platform development with React Native"/>
          <p:cNvSpPr>
            <a:spLocks noChangeAspect="1" noChangeArrowheads="1"/>
          </p:cNvSpPr>
          <p:nvPr/>
        </p:nvSpPr>
        <p:spPr bwMode="auto">
          <a:xfrm>
            <a:off x="321833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5" name="AutoShape 10" descr="You too, embrace cross-platform development with React Native"/>
          <p:cNvSpPr>
            <a:spLocks noChangeAspect="1" noChangeArrowheads="1"/>
          </p:cNvSpPr>
          <p:nvPr/>
        </p:nvSpPr>
        <p:spPr bwMode="auto">
          <a:xfrm>
            <a:off x="3233578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21" name="AutoShape 10" descr="👍">
            <a:extLst>
              <a:ext uri="{FF2B5EF4-FFF2-40B4-BE49-F238E27FC236}">
                <a16:creationId xmlns:a16="http://schemas.microsoft.com/office/drawing/2014/main" id="{3E18DA69-08A7-ED6C-B7EC-9D3166D6B1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84690" y="20246081"/>
            <a:ext cx="6518635" cy="651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2" name="Rectangle 11" descr="dfdf">
            <a:extLst>
              <a:ext uri="{FF2B5EF4-FFF2-40B4-BE49-F238E27FC236}">
                <a16:creationId xmlns:a16="http://schemas.microsoft.com/office/drawing/2014/main" id="{81B56A5A-0A73-D109-6919-CA80866DA913}"/>
              </a:ext>
            </a:extLst>
          </p:cNvPr>
          <p:cNvSpPr/>
          <p:nvPr/>
        </p:nvSpPr>
        <p:spPr>
          <a:xfrm>
            <a:off x="18230838" y="8962539"/>
            <a:ext cx="13812632" cy="11922682"/>
          </a:xfrm>
          <a:prstGeom prst="rect">
            <a:avLst/>
          </a:prstGeom>
          <a:solidFill>
            <a:srgbClr val="D2D6D5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>
              <a:lnSpc>
                <a:spcPct val="150000"/>
              </a:lnSpc>
            </a:pPr>
            <a:r>
              <a:rPr lang="en-US" sz="5000" b="1" dirty="0">
                <a:solidFill>
                  <a:schemeClr val="tx2"/>
                </a:solidFill>
                <a:cs typeface="Calibri"/>
              </a:rPr>
              <a:t> Challenges Faced by Students: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0654A3-D792-79A9-F726-5F4AAD695194}"/>
              </a:ext>
            </a:extLst>
          </p:cNvPr>
          <p:cNvSpPr txBox="1"/>
          <p:nvPr/>
        </p:nvSpPr>
        <p:spPr>
          <a:xfrm>
            <a:off x="18281895" y="10407347"/>
            <a:ext cx="13176918" cy="1024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+mn-lt"/>
                <a:cs typeface="Calibri"/>
              </a:rPr>
              <a:t>Limited Information: </a:t>
            </a:r>
            <a:r>
              <a:rPr lang="en-US" sz="4400" dirty="0">
                <a:solidFill>
                  <a:schemeClr val="tx2"/>
                </a:solidFill>
                <a:latin typeface="+mn-lt"/>
                <a:cs typeface="Calibri"/>
              </a:rPr>
              <a:t>Students often rely on brief course descriptions and syllabus, which may not provide enough insight into the effort required, the difficulty level, and the course's relevance to industry standards.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tx2"/>
              </a:solidFill>
              <a:latin typeface="+mn-lt"/>
              <a:cs typeface="Calibr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+mn-lt"/>
                <a:cs typeface="Calibri"/>
              </a:rPr>
              <a:t>Lack of Peer Reviews: </a:t>
            </a:r>
            <a:r>
              <a:rPr lang="en-US" sz="4400" dirty="0">
                <a:solidFill>
                  <a:schemeClr val="tx2"/>
                </a:solidFill>
                <a:latin typeface="+mn-lt"/>
                <a:cs typeface="Calibri"/>
              </a:rPr>
              <a:t>While some students may have informal conversations with peers about elective courses, there is no centralized platform to access diversity reviews.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tx2"/>
              </a:solidFill>
              <a:latin typeface="+mn-lt"/>
              <a:cs typeface="Calibr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+mn-lt"/>
                <a:cs typeface="Calibri"/>
              </a:rPr>
              <a:t>Difficulty in Decision Making: </a:t>
            </a:r>
            <a:r>
              <a:rPr lang="en-US" sz="4400" dirty="0">
                <a:solidFill>
                  <a:schemeClr val="tx2"/>
                </a:solidFill>
                <a:latin typeface="+mn-lt"/>
                <a:cs typeface="Calibri"/>
              </a:rPr>
              <a:t>The absence of detailed reviews and ratings makes it challenging for students to compare courses and decide which ones align best with their interests and career goals.</a:t>
            </a:r>
            <a:endParaRPr lang="en-IL" sz="4400" dirty="0">
              <a:solidFill>
                <a:schemeClr val="tx2"/>
              </a:solidFill>
              <a:latin typeface="+mn-lt"/>
              <a:cs typeface="Calibri"/>
            </a:endParaRPr>
          </a:p>
        </p:txBody>
      </p:sp>
      <p:sp>
        <p:nvSpPr>
          <p:cNvPr id="35" name="Rectangle 34" descr="dfdf">
            <a:extLst>
              <a:ext uri="{FF2B5EF4-FFF2-40B4-BE49-F238E27FC236}">
                <a16:creationId xmlns:a16="http://schemas.microsoft.com/office/drawing/2014/main" id="{37B374E6-F797-B26C-4B50-B6B20A68ED66}"/>
              </a:ext>
            </a:extLst>
          </p:cNvPr>
          <p:cNvSpPr/>
          <p:nvPr/>
        </p:nvSpPr>
        <p:spPr>
          <a:xfrm>
            <a:off x="409123" y="9021001"/>
            <a:ext cx="17574077" cy="3290673"/>
          </a:xfrm>
          <a:prstGeom prst="rect">
            <a:avLst/>
          </a:prstGeom>
          <a:solidFill>
            <a:srgbClr val="D2D6D5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endParaRPr lang="en-US" sz="8000" b="1" dirty="0">
              <a:solidFill>
                <a:srgbClr val="AC1A9B"/>
              </a:solidFill>
              <a:cs typeface="Calibri"/>
            </a:endParaRP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53009A6C-EE7D-432A-72C2-ECE80E3F7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6852832"/>
              </p:ext>
            </p:extLst>
          </p:nvPr>
        </p:nvGraphicFramePr>
        <p:xfrm>
          <a:off x="971440" y="9285941"/>
          <a:ext cx="16358964" cy="69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3" name="Rectangle 42" descr="dfdf">
            <a:extLst>
              <a:ext uri="{FF2B5EF4-FFF2-40B4-BE49-F238E27FC236}">
                <a16:creationId xmlns:a16="http://schemas.microsoft.com/office/drawing/2014/main" id="{C17139F2-6A9F-7092-E0CC-79AC3C5F573A}"/>
              </a:ext>
            </a:extLst>
          </p:cNvPr>
          <p:cNvSpPr/>
          <p:nvPr/>
        </p:nvSpPr>
        <p:spPr>
          <a:xfrm>
            <a:off x="415147" y="14165902"/>
            <a:ext cx="17568053" cy="6719319"/>
          </a:xfrm>
          <a:prstGeom prst="rect">
            <a:avLst/>
          </a:prstGeom>
          <a:solidFill>
            <a:srgbClr val="D2D6D5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endParaRPr lang="en-US" sz="8000" b="1" dirty="0">
              <a:solidFill>
                <a:srgbClr val="AC1A9B"/>
              </a:solidFill>
              <a:cs typeface="Calibri"/>
            </a:endParaRP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A431D8-7CD4-2F93-A736-661855E77339}"/>
              </a:ext>
            </a:extLst>
          </p:cNvPr>
          <p:cNvGrpSpPr/>
          <p:nvPr/>
        </p:nvGrpSpPr>
        <p:grpSpPr>
          <a:xfrm>
            <a:off x="2644123" y="14357438"/>
            <a:ext cx="12860963" cy="7929127"/>
            <a:chOff x="20590166" y="12399193"/>
            <a:chExt cx="9123047" cy="7929127"/>
          </a:xfrm>
        </p:grpSpPr>
        <p:sp>
          <p:nvSpPr>
            <p:cNvPr id="45" name="Title 1">
              <a:extLst>
                <a:ext uri="{FF2B5EF4-FFF2-40B4-BE49-F238E27FC236}">
                  <a16:creationId xmlns:a16="http://schemas.microsoft.com/office/drawing/2014/main" id="{A2967D78-6C4D-0D1D-DFD7-7C7AD986CDC7}"/>
                </a:ext>
              </a:extLst>
            </p:cNvPr>
            <p:cNvSpPr txBox="1">
              <a:spLocks/>
            </p:cNvSpPr>
            <p:nvPr/>
          </p:nvSpPr>
          <p:spPr>
            <a:xfrm>
              <a:off x="25522791" y="14948349"/>
              <a:ext cx="4190422" cy="3339882"/>
            </a:xfrm>
            <a:prstGeom prst="rect">
              <a:avLst/>
            </a:prstGeom>
          </p:spPr>
          <p:txBody>
            <a:bodyPr/>
            <a:lstStyle>
              <a:lvl1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2pPr>
              <a:lvl3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3pPr>
              <a:lvl4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4pPr>
              <a:lvl5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5pPr>
              <a:lvl6pPr marL="4572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6pPr>
              <a:lvl7pPr marL="9144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7pPr>
              <a:lvl8pPr marL="13716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8pPr>
              <a:lvl9pPr marL="18288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9pPr>
            </a:lstStyle>
            <a:p>
              <a:pPr rtl="0"/>
              <a:r>
                <a:rPr lang="en-US" sz="4800" b="1" dirty="0">
                  <a:solidFill>
                    <a:schemeClr val="tx2"/>
                  </a:solidFill>
                </a:rPr>
                <a:t>course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Course number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Course name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Average rates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Reviews counter</a:t>
              </a:r>
            </a:p>
            <a:p>
              <a:pPr algn="l" rtl="0"/>
              <a:endParaRPr lang="en-US" sz="4000" dirty="0"/>
            </a:p>
            <a:p>
              <a:pPr algn="r" rtl="0"/>
              <a:endParaRPr lang="en-IL" sz="4000" dirty="0"/>
            </a:p>
          </p:txBody>
        </p:sp>
        <p:sp>
          <p:nvSpPr>
            <p:cNvPr id="46" name="Title 1">
              <a:extLst>
                <a:ext uri="{FF2B5EF4-FFF2-40B4-BE49-F238E27FC236}">
                  <a16:creationId xmlns:a16="http://schemas.microsoft.com/office/drawing/2014/main" id="{7B6822F4-B41F-7AE3-6426-DEE1B4B9C97B}"/>
                </a:ext>
              </a:extLst>
            </p:cNvPr>
            <p:cNvSpPr txBox="1">
              <a:spLocks/>
            </p:cNvSpPr>
            <p:nvPr/>
          </p:nvSpPr>
          <p:spPr>
            <a:xfrm>
              <a:off x="20674309" y="12421795"/>
              <a:ext cx="4096241" cy="7906525"/>
            </a:xfrm>
            <a:prstGeom prst="rect">
              <a:avLst/>
            </a:prstGeom>
          </p:spPr>
          <p:txBody>
            <a:bodyPr/>
            <a:lstStyle>
              <a:lvl1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2pPr>
              <a:lvl3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3pPr>
              <a:lvl4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4pPr>
              <a:lvl5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5pPr>
              <a:lvl6pPr marL="4572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6pPr>
              <a:lvl7pPr marL="9144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7pPr>
              <a:lvl8pPr marL="13716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8pPr>
              <a:lvl9pPr marL="18288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9pPr>
            </a:lstStyle>
            <a:p>
              <a:pPr rtl="0"/>
              <a:r>
                <a:rPr lang="en-US" sz="4800" b="1" dirty="0">
                  <a:solidFill>
                    <a:schemeClr val="tx2"/>
                  </a:solidFill>
                </a:rPr>
                <a:t>Review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User name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Course number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Course name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Lecturer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Year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Semester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Effort level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Interest level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Relevance to industry</a:t>
              </a:r>
            </a:p>
            <a:p>
              <a:pPr algn="l" rtl="0"/>
              <a:endParaRPr lang="en-US" sz="4000" dirty="0"/>
            </a:p>
            <a:p>
              <a:pPr algn="l" rtl="0"/>
              <a:endParaRPr lang="en-US" sz="40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1002C13-481E-B025-38B6-69EB6A5FA1CD}"/>
                </a:ext>
              </a:extLst>
            </p:cNvPr>
            <p:cNvSpPr/>
            <p:nvPr/>
          </p:nvSpPr>
          <p:spPr>
            <a:xfrm>
              <a:off x="20590166" y="12399194"/>
              <a:ext cx="4311084" cy="6368288"/>
            </a:xfrm>
            <a:prstGeom prst="rect">
              <a:avLst/>
            </a:prstGeom>
            <a:noFill/>
            <a:ln w="12700">
              <a:solidFill>
                <a:srgbClr val="AC1A9B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IL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A535A71-1CC2-AC5D-4244-CBDAE229FA77}"/>
                </a:ext>
              </a:extLst>
            </p:cNvPr>
            <p:cNvSpPr/>
            <p:nvPr/>
          </p:nvSpPr>
          <p:spPr>
            <a:xfrm>
              <a:off x="25402129" y="14900533"/>
              <a:ext cx="4311084" cy="3339882"/>
            </a:xfrm>
            <a:prstGeom prst="rect">
              <a:avLst/>
            </a:prstGeom>
            <a:noFill/>
            <a:ln w="12700">
              <a:solidFill>
                <a:srgbClr val="AC1A9B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IL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61C40B9-D1D1-DE5B-8449-F09E133B4D71}"/>
                </a:ext>
              </a:extLst>
            </p:cNvPr>
            <p:cNvSpPr/>
            <p:nvPr/>
          </p:nvSpPr>
          <p:spPr>
            <a:xfrm>
              <a:off x="25402129" y="12399193"/>
              <a:ext cx="4311084" cy="2081605"/>
            </a:xfrm>
            <a:prstGeom prst="rect">
              <a:avLst/>
            </a:prstGeom>
            <a:noFill/>
            <a:ln w="12700">
              <a:solidFill>
                <a:srgbClr val="AC1A9B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IL"/>
            </a:p>
          </p:txBody>
        </p:sp>
        <p:sp>
          <p:nvSpPr>
            <p:cNvPr id="50" name="Title 1">
              <a:extLst>
                <a:ext uri="{FF2B5EF4-FFF2-40B4-BE49-F238E27FC236}">
                  <a16:creationId xmlns:a16="http://schemas.microsoft.com/office/drawing/2014/main" id="{9FC0DA1D-EF80-CB68-D871-00BE9E56E52F}"/>
                </a:ext>
              </a:extLst>
            </p:cNvPr>
            <p:cNvSpPr txBox="1">
              <a:spLocks/>
            </p:cNvSpPr>
            <p:nvPr/>
          </p:nvSpPr>
          <p:spPr>
            <a:xfrm>
              <a:off x="25523823" y="12399193"/>
              <a:ext cx="4067697" cy="2174314"/>
            </a:xfrm>
            <a:prstGeom prst="rect">
              <a:avLst/>
            </a:prstGeom>
          </p:spPr>
          <p:txBody>
            <a:bodyPr/>
            <a:lstStyle>
              <a:lvl1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2pPr>
              <a:lvl3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3pPr>
              <a:lvl4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4pPr>
              <a:lvl5pPr algn="ctr" defTabSz="4319588" rtl="1" eaLnBrk="0" fontAlgn="base" hangingPunct="0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5pPr>
              <a:lvl6pPr marL="4572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6pPr>
              <a:lvl7pPr marL="9144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7pPr>
              <a:lvl8pPr marL="13716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8pPr>
              <a:lvl9pPr marL="1828800" algn="ctr" defTabSz="4319588" rtl="1" fontAlgn="base">
                <a:spcBef>
                  <a:spcPct val="0"/>
                </a:spcBef>
                <a:spcAft>
                  <a:spcPct val="0"/>
                </a:spcAft>
                <a:defRPr sz="2080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defRPr>
              </a:lvl9pPr>
            </a:lstStyle>
            <a:p>
              <a:r>
                <a:rPr lang="en-US" sz="4800" b="1" dirty="0">
                  <a:solidFill>
                    <a:schemeClr val="tx2"/>
                  </a:solidFill>
                </a:rPr>
                <a:t>User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Email</a:t>
              </a:r>
            </a:p>
            <a:p>
              <a:pPr marL="571500" indent="-571500" algn="l" rtl="0"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tx2"/>
                  </a:solidFill>
                </a:rPr>
                <a:t>Password</a:t>
              </a:r>
              <a:endParaRPr lang="en-IL" sz="4000" dirty="0">
                <a:solidFill>
                  <a:schemeClr val="tx2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9ACB0C9-4C9A-A1B9-C242-07123B3F4CD0}"/>
                </a:ext>
              </a:extLst>
            </p:cNvPr>
            <p:cNvCxnSpPr>
              <a:cxnSpLocks/>
            </p:cNvCxnSpPr>
            <p:nvPr/>
          </p:nvCxnSpPr>
          <p:spPr>
            <a:xfrm>
              <a:off x="23695742" y="13528962"/>
              <a:ext cx="1613463" cy="0"/>
            </a:xfrm>
            <a:prstGeom prst="straightConnector1">
              <a:avLst/>
            </a:prstGeom>
            <a:ln w="38100">
              <a:solidFill>
                <a:srgbClr val="AC1A9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97F51AC-B10F-0F30-B59D-63E2AE04BB71}"/>
                </a:ext>
              </a:extLst>
            </p:cNvPr>
            <p:cNvCxnSpPr>
              <a:cxnSpLocks/>
            </p:cNvCxnSpPr>
            <p:nvPr/>
          </p:nvCxnSpPr>
          <p:spPr>
            <a:xfrm>
              <a:off x="24595397" y="14163729"/>
              <a:ext cx="1000308" cy="1680874"/>
            </a:xfrm>
            <a:prstGeom prst="straightConnector1">
              <a:avLst/>
            </a:prstGeom>
            <a:ln w="38100">
              <a:solidFill>
                <a:srgbClr val="AC1A9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 descr="dfdf">
            <a:extLst>
              <a:ext uri="{FF2B5EF4-FFF2-40B4-BE49-F238E27FC236}">
                <a16:creationId xmlns:a16="http://schemas.microsoft.com/office/drawing/2014/main" id="{03E5696A-9683-6FC8-FE1C-36FB0137DC3D}"/>
              </a:ext>
            </a:extLst>
          </p:cNvPr>
          <p:cNvSpPr/>
          <p:nvPr/>
        </p:nvSpPr>
        <p:spPr>
          <a:xfrm>
            <a:off x="11057901" y="22812624"/>
            <a:ext cx="10368000" cy="86368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7000" b="1" dirty="0">
                <a:solidFill>
                  <a:srgbClr val="AC1A9B"/>
                </a:solidFill>
                <a:cs typeface="Calibri"/>
              </a:rPr>
              <a:t>Security</a:t>
            </a:r>
          </a:p>
          <a:p>
            <a:r>
              <a:rPr lang="en-US" sz="4400" b="1" dirty="0">
                <a:solidFill>
                  <a:schemeClr val="tx2"/>
                </a:solidFill>
                <a:cs typeface="Calibri"/>
              </a:rPr>
              <a:t>Protected Pages - </a:t>
            </a:r>
            <a:r>
              <a:rPr lang="en-US" sz="4400" dirty="0">
                <a:solidFill>
                  <a:schemeClr val="tx2"/>
                </a:solidFill>
                <a:cs typeface="Calibri"/>
              </a:rPr>
              <a:t>Only logged-in users can access system pages,</a:t>
            </a:r>
          </a:p>
          <a:p>
            <a:r>
              <a:rPr lang="en-US" sz="4400" b="1" dirty="0">
                <a:solidFill>
                  <a:schemeClr val="tx2"/>
                </a:solidFill>
                <a:cs typeface="Calibri"/>
              </a:rPr>
              <a:t>Registration is restricted </a:t>
            </a:r>
            <a:r>
              <a:rPr lang="en-US" sz="4400" dirty="0">
                <a:solidFill>
                  <a:schemeClr val="tx2"/>
                </a:solidFill>
                <a:cs typeface="Calibri"/>
              </a:rPr>
              <a:t>to users with a university email address to verify affiliation.</a:t>
            </a:r>
          </a:p>
          <a:p>
            <a:endParaRPr lang="en-US" sz="4400" dirty="0">
              <a:solidFill>
                <a:schemeClr val="tx2"/>
              </a:solidFill>
              <a:cs typeface="Calibri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501D3B7-501E-53C5-C446-94987D5D8A25}"/>
              </a:ext>
            </a:extLst>
          </p:cNvPr>
          <p:cNvGrpSpPr/>
          <p:nvPr/>
        </p:nvGrpSpPr>
        <p:grpSpPr>
          <a:xfrm>
            <a:off x="11070468" y="31644227"/>
            <a:ext cx="10368000" cy="9765809"/>
            <a:chOff x="20390380" y="30950734"/>
            <a:chExt cx="9736955" cy="10029068"/>
          </a:xfrm>
          <a:noFill/>
        </p:grpSpPr>
        <p:sp>
          <p:nvSpPr>
            <p:cNvPr id="61" name="Rectangle: Rounded Corners 60" descr="dfdf">
              <a:extLst>
                <a:ext uri="{FF2B5EF4-FFF2-40B4-BE49-F238E27FC236}">
                  <a16:creationId xmlns:a16="http://schemas.microsoft.com/office/drawing/2014/main" id="{337C6195-7A83-CD7A-A4CA-064B1253B4F7}"/>
                </a:ext>
              </a:extLst>
            </p:cNvPr>
            <p:cNvSpPr/>
            <p:nvPr/>
          </p:nvSpPr>
          <p:spPr>
            <a:xfrm>
              <a:off x="20390380" y="30950734"/>
              <a:ext cx="9736955" cy="1002906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1" anchor="t"/>
            <a:lstStyle/>
            <a:p>
              <a:pPr algn="ctr"/>
              <a:r>
                <a:rPr lang="en-US" sz="7000" b="1" dirty="0">
                  <a:solidFill>
                    <a:srgbClr val="AC1A9B"/>
                  </a:solidFill>
                  <a:cs typeface="Calibri"/>
                </a:rPr>
                <a:t>Managing my reviews</a:t>
              </a:r>
            </a:p>
            <a:p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Track my Reviews: </a:t>
              </a:r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Display all reviews posted by the logged-in user,</a:t>
              </a:r>
            </a:p>
            <a:p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Delete Review: </a:t>
              </a:r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Users have the option to delete their specific reviews if needed. </a:t>
              </a:r>
            </a:p>
            <a:p>
              <a:endParaRPr lang="en-US" sz="4400" dirty="0">
                <a:solidFill>
                  <a:schemeClr val="tx2"/>
                </a:solidFill>
                <a:cs typeface="Calibri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845DEA5-A5A4-5BC9-8AE4-0F2D78907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14306"/>
            <a:stretch/>
          </p:blipFill>
          <p:spPr>
            <a:xfrm>
              <a:off x="20597740" y="35850884"/>
              <a:ext cx="9458651" cy="4559344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59" name="Rectangle 58" descr="dfdf">
            <a:extLst>
              <a:ext uri="{FF2B5EF4-FFF2-40B4-BE49-F238E27FC236}">
                <a16:creationId xmlns:a16="http://schemas.microsoft.com/office/drawing/2014/main" id="{D3D74C92-1D8E-0509-7FBF-3F4FDCA64D66}"/>
              </a:ext>
            </a:extLst>
          </p:cNvPr>
          <p:cNvSpPr/>
          <p:nvPr/>
        </p:nvSpPr>
        <p:spPr>
          <a:xfrm>
            <a:off x="21695290" y="22812624"/>
            <a:ext cx="10368000" cy="86368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7000" b="1" dirty="0">
                <a:solidFill>
                  <a:srgbClr val="AC1A9B"/>
                </a:solidFill>
                <a:cs typeface="Calibri"/>
              </a:rPr>
              <a:t>Searching </a:t>
            </a:r>
          </a:p>
          <a:p>
            <a:r>
              <a:rPr lang="en-US" sz="4400" b="1" dirty="0">
                <a:solidFill>
                  <a:schemeClr val="tx2"/>
                </a:solidFill>
                <a:cs typeface="Calibri"/>
              </a:rPr>
              <a:t>On type search </a:t>
            </a:r>
            <a:r>
              <a:rPr lang="en-US" sz="4400" dirty="0">
                <a:solidFill>
                  <a:schemeClr val="tx2"/>
                </a:solidFill>
                <a:cs typeface="Calibri"/>
              </a:rPr>
              <a:t>by course name</a:t>
            </a: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sp>
        <p:nvSpPr>
          <p:cNvPr id="63" name="Rectangle 62" descr="dfdf">
            <a:extLst>
              <a:ext uri="{FF2B5EF4-FFF2-40B4-BE49-F238E27FC236}">
                <a16:creationId xmlns:a16="http://schemas.microsoft.com/office/drawing/2014/main" id="{8EDF4C7E-E71B-5837-5B11-DEA47D13B8DC}"/>
              </a:ext>
            </a:extLst>
          </p:cNvPr>
          <p:cNvSpPr/>
          <p:nvPr/>
        </p:nvSpPr>
        <p:spPr>
          <a:xfrm>
            <a:off x="423150" y="22823428"/>
            <a:ext cx="10368000" cy="6972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7000" b="1" dirty="0">
                <a:solidFill>
                  <a:srgbClr val="AC1A9B"/>
                </a:solidFill>
                <a:cs typeface="Calibri"/>
              </a:rPr>
              <a:t>View Course Reviews</a:t>
            </a:r>
          </a:p>
          <a:p>
            <a:r>
              <a:rPr lang="en-US" sz="4400" b="1" dirty="0">
                <a:solidFill>
                  <a:schemeClr val="tx2"/>
                </a:solidFill>
                <a:cs typeface="Calibri"/>
              </a:rPr>
              <a:t>Display reviews </a:t>
            </a:r>
            <a:r>
              <a:rPr lang="en-US" sz="4400" dirty="0">
                <a:solidFill>
                  <a:schemeClr val="tx2"/>
                </a:solidFill>
                <a:cs typeface="Calibri"/>
              </a:rPr>
              <a:t>for specific courses using the relationships between database tables.</a:t>
            </a:r>
            <a:endParaRPr lang="en-US" sz="5000" dirty="0">
              <a:solidFill>
                <a:schemeClr val="tx2"/>
              </a:solidFill>
              <a:cs typeface="Calibri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C8232B9-6497-0118-8565-22E4A238F60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21007"/>
          <a:stretch/>
        </p:blipFill>
        <p:spPr>
          <a:xfrm>
            <a:off x="881647" y="25403291"/>
            <a:ext cx="9612183" cy="4271036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E084C084-6BF3-CA48-2947-AB891CEC1482}"/>
              </a:ext>
            </a:extLst>
          </p:cNvPr>
          <p:cNvGrpSpPr/>
          <p:nvPr/>
        </p:nvGrpSpPr>
        <p:grpSpPr>
          <a:xfrm>
            <a:off x="415222" y="30034438"/>
            <a:ext cx="10368000" cy="11375598"/>
            <a:chOff x="-198973" y="26726581"/>
            <a:chExt cx="11123865" cy="11119918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0" name="Rectangle: Rounded Corners 59" descr="dfdf">
              <a:extLst>
                <a:ext uri="{FF2B5EF4-FFF2-40B4-BE49-F238E27FC236}">
                  <a16:creationId xmlns:a16="http://schemas.microsoft.com/office/drawing/2014/main" id="{70B7E60A-8562-C7B7-8C4F-6916B5CE8171}"/>
                </a:ext>
              </a:extLst>
            </p:cNvPr>
            <p:cNvSpPr/>
            <p:nvPr/>
          </p:nvSpPr>
          <p:spPr>
            <a:xfrm>
              <a:off x="-198973" y="26726581"/>
              <a:ext cx="11123865" cy="1111991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1" anchor="t"/>
            <a:lstStyle/>
            <a:p>
              <a:pPr algn="ctr"/>
              <a:r>
                <a:rPr lang="en-US" sz="7000" b="1" dirty="0">
                  <a:solidFill>
                    <a:srgbClr val="AC1A9B"/>
                  </a:solidFill>
                  <a:cs typeface="Calibri"/>
                </a:rPr>
                <a:t>Adding review</a:t>
              </a:r>
            </a:p>
            <a:p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Single Comment</a:t>
              </a:r>
            </a:p>
            <a:p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Limitation: 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Each user is restricted to 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one comment per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course to ensure 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reliable feedback,</a:t>
              </a:r>
              <a:br>
                <a:rPr lang="en-US" sz="4400" dirty="0">
                  <a:solidFill>
                    <a:schemeClr val="tx2"/>
                  </a:solidFill>
                  <a:cs typeface="Calibri"/>
                </a:rPr>
              </a:br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Dynamic Average</a:t>
              </a:r>
            </a:p>
            <a:p>
              <a:r>
                <a:rPr lang="en-US" sz="4400" b="1" dirty="0">
                  <a:solidFill>
                    <a:schemeClr val="tx2"/>
                  </a:solidFill>
                  <a:cs typeface="Calibri"/>
                </a:rPr>
                <a:t>Grades: 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Average grades are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Automatically updated </a:t>
              </a:r>
            </a:p>
            <a:p>
              <a:r>
                <a:rPr lang="en-US" sz="4400" dirty="0">
                  <a:solidFill>
                    <a:schemeClr val="tx2"/>
                  </a:solidFill>
                  <a:cs typeface="Calibri"/>
                </a:rPr>
                <a:t>with each new review.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544EB5E-9B4C-49F0-DDF7-D0B5641E7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49974" y="28008372"/>
              <a:ext cx="4523258" cy="9473011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A6BC95A-4FB2-500B-0022-C4171E6E55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9602" t="26678" r="29504" b="20755"/>
          <a:stretch/>
        </p:blipFill>
        <p:spPr>
          <a:xfrm>
            <a:off x="12335166" y="26833166"/>
            <a:ext cx="7315041" cy="4313612"/>
          </a:xfrm>
          <a:prstGeom prst="rect">
            <a:avLst/>
          </a:prstGeom>
        </p:spPr>
      </p:pic>
      <p:sp>
        <p:nvSpPr>
          <p:cNvPr id="91" name="Rectangle 90" descr="dfdf">
            <a:extLst>
              <a:ext uri="{FF2B5EF4-FFF2-40B4-BE49-F238E27FC236}">
                <a16:creationId xmlns:a16="http://schemas.microsoft.com/office/drawing/2014/main" id="{E507F3B3-174A-B1C8-4EBA-F25E1A19EBEB}"/>
              </a:ext>
            </a:extLst>
          </p:cNvPr>
          <p:cNvSpPr/>
          <p:nvPr/>
        </p:nvSpPr>
        <p:spPr>
          <a:xfrm>
            <a:off x="409123" y="7403612"/>
            <a:ext cx="17574077" cy="1323439"/>
          </a:xfrm>
          <a:prstGeom prst="rect">
            <a:avLst/>
          </a:prstGeom>
          <a:solidFill>
            <a:srgbClr val="BFC8C8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8000" b="1" dirty="0">
                <a:solidFill>
                  <a:srgbClr val="AC1A9B"/>
                </a:solidFill>
                <a:cs typeface="Calibri"/>
              </a:rPr>
              <a:t>Main Goals</a:t>
            </a:r>
          </a:p>
          <a:p>
            <a:pPr algn="ctr"/>
            <a:endParaRPr lang="en-US" sz="8000" b="1" dirty="0">
              <a:solidFill>
                <a:srgbClr val="AC1A9B"/>
              </a:solidFill>
              <a:cs typeface="Calibri"/>
            </a:endParaRP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sp>
        <p:nvSpPr>
          <p:cNvPr id="92" name="Rectangle 91" descr="dfdf">
            <a:extLst>
              <a:ext uri="{FF2B5EF4-FFF2-40B4-BE49-F238E27FC236}">
                <a16:creationId xmlns:a16="http://schemas.microsoft.com/office/drawing/2014/main" id="{B035DA89-C811-047A-1FD4-AD45716F6C76}"/>
              </a:ext>
            </a:extLst>
          </p:cNvPr>
          <p:cNvSpPr/>
          <p:nvPr/>
        </p:nvSpPr>
        <p:spPr>
          <a:xfrm>
            <a:off x="18230837" y="7384551"/>
            <a:ext cx="13812632" cy="1300446"/>
          </a:xfrm>
          <a:prstGeom prst="rect">
            <a:avLst/>
          </a:prstGeom>
          <a:solidFill>
            <a:srgbClr val="BFC8C8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8000" b="1" dirty="0">
                <a:solidFill>
                  <a:srgbClr val="AC1A9B"/>
                </a:solidFill>
                <a:cs typeface="Calibri"/>
              </a:rPr>
              <a:t>Motivation</a:t>
            </a:r>
          </a:p>
        </p:txBody>
      </p:sp>
      <p:sp>
        <p:nvSpPr>
          <p:cNvPr id="94" name="Rectangle 93" descr="dfdf">
            <a:extLst>
              <a:ext uri="{FF2B5EF4-FFF2-40B4-BE49-F238E27FC236}">
                <a16:creationId xmlns:a16="http://schemas.microsoft.com/office/drawing/2014/main" id="{BBCD601D-AB42-545D-F119-D212DCAB7CDA}"/>
              </a:ext>
            </a:extLst>
          </p:cNvPr>
          <p:cNvSpPr/>
          <p:nvPr/>
        </p:nvSpPr>
        <p:spPr>
          <a:xfrm>
            <a:off x="409124" y="12561248"/>
            <a:ext cx="17574076" cy="1339282"/>
          </a:xfrm>
          <a:prstGeom prst="rect">
            <a:avLst/>
          </a:prstGeom>
          <a:solidFill>
            <a:srgbClr val="BFC8C8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8000" b="1" dirty="0">
                <a:solidFill>
                  <a:srgbClr val="AC1A9B"/>
                </a:solidFill>
                <a:cs typeface="Calibri"/>
              </a:rPr>
              <a:t>DataBase Relations</a:t>
            </a:r>
          </a:p>
          <a:p>
            <a:pPr algn="ctr"/>
            <a:endParaRPr lang="en-US" sz="8000" b="1" dirty="0">
              <a:solidFill>
                <a:srgbClr val="AC1A9B"/>
              </a:solidFill>
              <a:cs typeface="Calibri"/>
            </a:endParaRP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sp>
        <p:nvSpPr>
          <p:cNvPr id="96" name="Rectangle 95" descr="dfdf">
            <a:extLst>
              <a:ext uri="{FF2B5EF4-FFF2-40B4-BE49-F238E27FC236}">
                <a16:creationId xmlns:a16="http://schemas.microsoft.com/office/drawing/2014/main" id="{AE72AA49-5EF4-09AF-9637-0FAE984F6734}"/>
              </a:ext>
            </a:extLst>
          </p:cNvPr>
          <p:cNvSpPr/>
          <p:nvPr/>
        </p:nvSpPr>
        <p:spPr>
          <a:xfrm>
            <a:off x="409123" y="21187203"/>
            <a:ext cx="31634347" cy="1323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8000" b="1" dirty="0">
                <a:solidFill>
                  <a:schemeClr val="bg1"/>
                </a:solidFill>
                <a:cs typeface="Calibri"/>
              </a:rPr>
              <a:t>Features of the system</a:t>
            </a:r>
          </a:p>
          <a:p>
            <a:pPr algn="ctr"/>
            <a:endParaRPr lang="en-US" sz="8000" b="1" dirty="0">
              <a:solidFill>
                <a:srgbClr val="AC1A9B"/>
              </a:solidFill>
              <a:cs typeface="Calibri"/>
            </a:endParaRP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sp>
        <p:nvSpPr>
          <p:cNvPr id="97" name="Rectangle 96" descr="dfdf">
            <a:extLst>
              <a:ext uri="{FF2B5EF4-FFF2-40B4-BE49-F238E27FC236}">
                <a16:creationId xmlns:a16="http://schemas.microsoft.com/office/drawing/2014/main" id="{64C009EF-0C85-E1E4-4690-3C7865A25563}"/>
              </a:ext>
            </a:extLst>
          </p:cNvPr>
          <p:cNvSpPr/>
          <p:nvPr/>
        </p:nvSpPr>
        <p:spPr>
          <a:xfrm>
            <a:off x="21683331" y="31644227"/>
            <a:ext cx="10368000" cy="97658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t"/>
          <a:lstStyle/>
          <a:p>
            <a:pPr algn="ctr"/>
            <a:r>
              <a:rPr lang="en-US" sz="7000" b="1" dirty="0">
                <a:solidFill>
                  <a:srgbClr val="AC1A9B"/>
                </a:solidFill>
                <a:cs typeface="Calibri"/>
              </a:rPr>
              <a:t>sorting</a:t>
            </a:r>
          </a:p>
          <a:p>
            <a:r>
              <a:rPr lang="en-US" sz="4400" b="1" dirty="0">
                <a:solidFill>
                  <a:schemeClr val="tx2"/>
                </a:solidFill>
                <a:cs typeface="Calibri"/>
              </a:rPr>
              <a:t>Sort</a:t>
            </a:r>
            <a:r>
              <a:rPr lang="en-US" sz="4400" dirty="0">
                <a:solidFill>
                  <a:schemeClr val="tx2"/>
                </a:solidFill>
                <a:cs typeface="Calibri"/>
              </a:rPr>
              <a:t> courses by average rate based on selected category. </a:t>
            </a:r>
          </a:p>
          <a:p>
            <a:endParaRPr lang="en-US" sz="5000" b="1" dirty="0">
              <a:solidFill>
                <a:schemeClr val="tx2"/>
              </a:solidFill>
              <a:cs typeface="Calibri"/>
            </a:endParaRP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4E664967-8D1C-67AA-48FA-5D52420614A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31968"/>
          <a:stretch/>
        </p:blipFill>
        <p:spPr>
          <a:xfrm>
            <a:off x="22715314" y="34242861"/>
            <a:ext cx="8422870" cy="6964222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24ED04A1-C2AA-4686-46EF-DAF981ED95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31968" b="10160"/>
          <a:stretch/>
        </p:blipFill>
        <p:spPr>
          <a:xfrm>
            <a:off x="22477142" y="24757400"/>
            <a:ext cx="8661042" cy="6433588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10547EB-F33A-D152-2881-4784D9933FD3}"/>
              </a:ext>
            </a:extLst>
          </p:cNvPr>
          <p:cNvGrpSpPr/>
          <p:nvPr/>
        </p:nvGrpSpPr>
        <p:grpSpPr>
          <a:xfrm>
            <a:off x="11609529" y="41497197"/>
            <a:ext cx="9435133" cy="1740130"/>
            <a:chOff x="1586305" y="5792863"/>
            <a:chExt cx="6445669" cy="1164154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9D46CEA-6188-634A-CAD3-0774D92B6EBF}"/>
                </a:ext>
              </a:extLst>
            </p:cNvPr>
            <p:cNvGrpSpPr/>
            <p:nvPr/>
          </p:nvGrpSpPr>
          <p:grpSpPr>
            <a:xfrm>
              <a:off x="2900983" y="5792863"/>
              <a:ext cx="5130991" cy="1164154"/>
              <a:chOff x="3067130" y="5830253"/>
              <a:chExt cx="5130991" cy="1164154"/>
            </a:xfrm>
          </p:grpSpPr>
          <p:pic>
            <p:nvPicPr>
              <p:cNvPr id="105" name="Picture 104" descr="25 HTML &amp; CSS Tutorials. Learn HTML &amp; CSS by exploring these 25… | by  Brandon Morelli | codeburst">
                <a:extLst>
                  <a:ext uri="{FF2B5EF4-FFF2-40B4-BE49-F238E27FC236}">
                    <a16:creationId xmlns:a16="http://schemas.microsoft.com/office/drawing/2014/main" id="{680D5163-EE62-0CAF-C893-A3D7D88E9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73029" y="5916880"/>
                <a:ext cx="1271801" cy="1077527"/>
              </a:xfrm>
              <a:prstGeom prst="rect">
                <a:avLst/>
              </a:prstGeom>
            </p:spPr>
          </p:pic>
          <p:pic>
            <p:nvPicPr>
              <p:cNvPr id="106" name="Picture 105" descr="Introduction to JavaScript - JBSTechInfo | A Technology Driven Group">
                <a:extLst>
                  <a:ext uri="{FF2B5EF4-FFF2-40B4-BE49-F238E27FC236}">
                    <a16:creationId xmlns:a16="http://schemas.microsoft.com/office/drawing/2014/main" id="{E82DA25C-EC6B-47E3-971E-4438379853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67130" y="6048224"/>
                <a:ext cx="1236007" cy="754911"/>
              </a:xfrm>
              <a:prstGeom prst="rect">
                <a:avLst/>
              </a:prstGeom>
            </p:spPr>
          </p:pic>
          <p:pic>
            <p:nvPicPr>
              <p:cNvPr id="107" name="Picture 106" descr="How to get started with MongoDB in 10 minutes | by Navindu Jayatilake |  We've moved to freeCodeCamp.org/news | Medium">
                <a:extLst>
                  <a:ext uri="{FF2B5EF4-FFF2-40B4-BE49-F238E27FC236}">
                    <a16:creationId xmlns:a16="http://schemas.microsoft.com/office/drawing/2014/main" id="{EEC75866-509F-6CC7-1CAD-4A4859BD10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26945" y="6048224"/>
                <a:ext cx="976438" cy="764761"/>
              </a:xfrm>
              <a:prstGeom prst="rect">
                <a:avLst/>
              </a:prstGeom>
            </p:spPr>
          </p:pic>
          <p:pic>
            <p:nvPicPr>
              <p:cNvPr id="108" name="Picture 107" descr="10 Best Practices to Secure Your Node.js Application in Production | by  Afser Ali | Medium">
                <a:extLst>
                  <a:ext uri="{FF2B5EF4-FFF2-40B4-BE49-F238E27FC236}">
                    <a16:creationId xmlns:a16="http://schemas.microsoft.com/office/drawing/2014/main" id="{F453A4FA-A4BD-8F88-97FA-E4FFF700A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83314" y="5830253"/>
                <a:ext cx="995484" cy="1077527"/>
              </a:xfrm>
              <a:prstGeom prst="rect">
                <a:avLst/>
              </a:prstGeom>
            </p:spPr>
          </p:pic>
          <p:pic>
            <p:nvPicPr>
              <p:cNvPr id="109" name="Picture 108" descr="Postman logo, tech companies, png | PNGWing">
                <a:extLst>
                  <a:ext uri="{FF2B5EF4-FFF2-40B4-BE49-F238E27FC236}">
                    <a16:creationId xmlns:a16="http://schemas.microsoft.com/office/drawing/2014/main" id="{8993E013-BEAB-D77D-9845-DC32DFC7AF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5439" b="95088" l="10000" r="90000">
                            <a14:foregroundMark x1="54783" y1="30175" x2="54783" y2="30175"/>
                            <a14:foregroundMark x1="52500" y1="26491" x2="52500" y2="26491"/>
                            <a14:foregroundMark x1="52283" y1="39123" x2="52283" y2="39123"/>
                            <a14:foregroundMark x1="47283" y1="42632" x2="47283" y2="42632"/>
                            <a14:foregroundMark x1="59239" y1="17193" x2="59239" y2="17193"/>
                            <a14:foregroundMark x1="62065" y1="19298" x2="62065" y2="19298"/>
                            <a14:foregroundMark x1="48370" y1="5614" x2="48370" y2="5614"/>
                            <a14:foregroundMark x1="16304" y1="94912" x2="16304" y2="94912"/>
                            <a14:foregroundMark x1="26413" y1="93860" x2="26413" y2="93860"/>
                            <a14:foregroundMark x1="38913" y1="91228" x2="38913" y2="91228"/>
                            <a14:foregroundMark x1="48804" y1="92456" x2="48804" y2="92456"/>
                            <a14:foregroundMark x1="56739" y1="94035" x2="56739" y2="94035"/>
                            <a14:foregroundMark x1="69239" y1="95088" x2="69239" y2="95088"/>
                            <a14:foregroundMark x1="78913" y1="92982" x2="78913" y2="9298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43933" y="6048224"/>
                <a:ext cx="1154188" cy="7150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4" name="Picture 103" descr="Vercel Logo PNG vector in SVG, PDF, AI, CDR format">
              <a:extLst>
                <a:ext uri="{FF2B5EF4-FFF2-40B4-BE49-F238E27FC236}">
                  <a16:creationId xmlns:a16="http://schemas.microsoft.com/office/drawing/2014/main" id="{B9FFA95E-D7E9-275E-A172-D78D2F87C7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6305" y="5828252"/>
              <a:ext cx="1344222" cy="10067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641092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1" anchor="ctr"/>
      <a:lstStyle>
        <a:defPPr algn="ctr">
          <a:defRPr/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308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1</vt:i4>
      </vt:variant>
    </vt:vector>
  </HeadingPairs>
  <TitlesOfParts>
    <vt:vector size="5" baseType="lpstr">
      <vt:lpstr>Arial</vt:lpstr>
      <vt:lpstr>Calibri</vt:lpstr>
      <vt:lpstr>ערכת נושא Office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Regev, Michal</cp:lastModifiedBy>
  <cp:revision>12</cp:revision>
  <dcterms:created xsi:type="dcterms:W3CDTF">2010-03-24T06:07:16Z</dcterms:created>
  <dcterms:modified xsi:type="dcterms:W3CDTF">2024-07-12T13:03:41Z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2024-07-12T13:03:41Z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ed0cc99a-4aee-49b7-a48f-f032215f8c8e</vt:lpwstr>
  </property>
  <property fmtid="{D5CDD505-2E9C-101B-9397-08002B2CF9AE}" pid="8" name="MSIP_Label_a7bd41d9-d1d6-4f41-bf46-97f0241fcca2_ContentBits">
    <vt:lpwstr>0</vt:lpwstr>
  </property>
</Properties>
</file>