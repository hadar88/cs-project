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2404050" cy="43205400"/>
  <p:notesSz cx="6858000" cy="9144000"/>
  <p:custShowLst>
    <p:custShow name="Custom Show 1" id="0">
      <p:sldLst/>
    </p:custShow>
  </p:custShowLst>
  <p:defaultTextStyle>
    <a:defPPr>
      <a:defRPr lang="he-IL"/>
    </a:defPPr>
    <a:lvl1pPr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2159000" indent="-1701800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4319588" indent="-3405188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6480175" indent="-5108575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8640763" indent="-6811963" algn="l" defTabSz="4319588" rtl="0" fontAlgn="base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r" defTabSz="914400" rtl="1" eaLnBrk="1" latinLnBrk="0" hangingPunct="1">
      <a:defRPr sz="85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356945E-4681-CEA1-A764-B85329A2F3A7}" name="Daniel Kaufman" initials="DK" userId="Daniel Kauf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mine Nassar" initials="YN" lastIdx="6" clrIdx="0">
    <p:extLst>
      <p:ext uri="{19B8F6BF-5375-455C-9EA6-DF929625EA0E}">
        <p15:presenceInfo xmlns:p15="http://schemas.microsoft.com/office/powerpoint/2012/main" userId="f9abce8d0fab17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6E5E7"/>
    <a:srgbClr val="EBEDFF"/>
    <a:srgbClr val="CDD2FF"/>
    <a:srgbClr val="D9E6FF"/>
    <a:srgbClr val="E1EBFF"/>
    <a:srgbClr val="A3C2FF"/>
    <a:srgbClr val="D1D5FF"/>
    <a:srgbClr val="C3D7FF"/>
    <a:srgbClr val="B9D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>
    <p:restoredLeft sz="84380"/>
    <p:restoredTop sz="93993" autoAdjust="0"/>
  </p:normalViewPr>
  <p:slideViewPr>
    <p:cSldViewPr>
      <p:cViewPr>
        <p:scale>
          <a:sx n="33" d="100"/>
          <a:sy n="33" d="100"/>
        </p:scale>
        <p:origin x="2094" y="54"/>
      </p:cViewPr>
      <p:guideLst>
        <p:guide orient="horz" pos="13608"/>
        <p:guide pos="102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1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F76FFE8-0872-46ED-B508-DF2666DF2539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A18C859-372D-49E3-8A80-B70FD6D6E5FB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3090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D6CD24D-66C6-491C-BDA9-72C033E8BE25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defTabSz="4320540" rtl="1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81F5BAB-182F-4052-A80D-C27D201FAC0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36472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מציין מיקום של תמונת שקופית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מציין מיקום של הערות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dirty="0"/>
          </a:p>
        </p:txBody>
      </p:sp>
      <p:sp>
        <p:nvSpPr>
          <p:cNvPr id="14340" name="מציין מיקום של מספר שקופית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4319588" eaLnBrk="1" fontAlgn="base" hangingPunct="1">
              <a:spcBef>
                <a:spcPct val="0"/>
              </a:spcBef>
              <a:spcAft>
                <a:spcPct val="0"/>
              </a:spcAft>
            </a:pPr>
            <a:fld id="{FF2852EE-4A5F-4BC9-925B-CAB801A6B275}" type="slidenum">
              <a:rPr lang="he-IL" sz="1200" smtClean="0">
                <a:latin typeface="Calibri" pitchFamily="34" charset="0"/>
              </a:rPr>
              <a:pPr defTabSz="4319588" eaLnBrk="1" fontAlgn="base" hangingPunct="1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he-IL" sz="1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4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572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2DBCA46-4825-4F4A-A158-E243A8117FAB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A7640E2-F6CB-425F-AC46-E72C8A5628F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327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696" y="27763473"/>
            <a:ext cx="27543443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4BA0395-DB79-40D1-AAE7-7294A94B573C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74B2FEF-46F5-4542-9CFF-53391F56CE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352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846" y="63507940"/>
            <a:ext cx="51402048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85960" y="63507940"/>
            <a:ext cx="51402051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F1BF2C8-4D12-499B-BEE8-D2F1E6D5E649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BED6E5C-BEF5-4DC5-A73A-9CF82C371D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085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7FA80BA-C9F3-4A8A-AF94-86A26EF0A512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729B35DE-0099-4176-9274-9E700E77E5E2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274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C193E0E-37D8-4F1F-9BCE-4DB7DACC128D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3C71013-23EF-4BFB-B4F1-67C3DEE1A770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140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30BB425-E2B9-46C6-B526-28A0A80DF399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44EA4D7-3BB5-497D-A012-A78C8ECEC0E6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3771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4" y="1720215"/>
            <a:ext cx="10660709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20204" y="9041133"/>
            <a:ext cx="10660709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91158F9-C711-4495-80F1-9BD3BF1ED2C0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BB3E9E7-6365-4BE9-94EF-3201192859A9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030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1846918-13CB-4C5B-B266-133BEE066C82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E5E3F5-9EDF-407D-8C1F-0739F77A82AC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134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185C90B1-8F41-4B17-B25D-A01D6521BF57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C3A3041-9AA5-4DCC-87DB-03C4ECFB07DE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727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847" y="10901365"/>
            <a:ext cx="76970870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232235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A132E137-6C43-4784-915D-D6413E1220F1}" type="datetimeFigureOut">
              <a:rPr lang="he-IL"/>
              <a:pPr>
                <a:defRPr/>
              </a:pPr>
              <a:t>ז'/תמוז/תשפ"ד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11071225" y="40044688"/>
            <a:ext cx="10261600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620838" y="40044688"/>
            <a:ext cx="7559675" cy="2300287"/>
          </a:xfrm>
          <a:prstGeom prst="rect">
            <a:avLst/>
          </a:prstGeom>
        </p:spPr>
        <p:txBody>
          <a:bodyPr/>
          <a:lstStyle>
            <a:lvl1pPr algn="r" defTabSz="4320540" rtl="1"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E34C5412-4362-492E-A8F6-54826C0DFB87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590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/>
          <p:cNvSpPr>
            <a:spLocks/>
          </p:cNvSpPr>
          <p:nvPr userDrawn="1"/>
        </p:nvSpPr>
        <p:spPr>
          <a:xfrm>
            <a:off x="0" y="-42863"/>
            <a:ext cx="32404050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fontAlgn="auto">
              <a:spcBef>
                <a:spcPts val="0"/>
              </a:spcBef>
              <a:spcAft>
                <a:spcPts val="0"/>
              </a:spcAft>
              <a:defRPr/>
            </a:pPr>
            <a:endParaRPr lang="he-IL"/>
          </a:p>
        </p:txBody>
      </p:sp>
      <p:pic>
        <p:nvPicPr>
          <p:cNvPr id="1027" name="Picture 2" descr="C:\Documents and Settings\adam\Desktop\Ben Gurion Logo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938" y="0"/>
            <a:ext cx="21601112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מלבן 33">
            <a:extLst>
              <a:ext uri="{FF2B5EF4-FFF2-40B4-BE49-F238E27FC236}">
                <a16:creationId xmlns:a16="http://schemas.microsoft.com/office/drawing/2014/main" id="{030E4F9A-84A2-9D14-0E4E-BAAF7515C2CD}"/>
              </a:ext>
            </a:extLst>
          </p:cNvPr>
          <p:cNvSpPr/>
          <p:nvPr/>
        </p:nvSpPr>
        <p:spPr>
          <a:xfrm>
            <a:off x="496854" y="38966310"/>
            <a:ext cx="14940845" cy="339149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endParaRPr lang="en-US" sz="4600" dirty="0"/>
          </a:p>
        </p:txBody>
      </p:sp>
      <p:sp>
        <p:nvSpPr>
          <p:cNvPr id="2" name="Rectangle 1"/>
          <p:cNvSpPr/>
          <p:nvPr/>
        </p:nvSpPr>
        <p:spPr>
          <a:xfrm>
            <a:off x="-68262" y="6496819"/>
            <a:ext cx="32404050" cy="36734534"/>
          </a:xfrm>
          <a:prstGeom prst="rect">
            <a:avLst/>
          </a:prstGeom>
          <a:solidFill>
            <a:srgbClr val="CDD2FF"/>
          </a:solidFill>
          <a:ln>
            <a:solidFill>
              <a:srgbClr val="B9D1F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2290" name="TextBox 6"/>
          <p:cNvSpPr txBox="1">
            <a:spLocks noChangeArrowheads="1"/>
          </p:cNvSpPr>
          <p:nvPr/>
        </p:nvSpPr>
        <p:spPr bwMode="auto">
          <a:xfrm>
            <a:off x="-5044053" y="2734564"/>
            <a:ext cx="42492151" cy="1431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4319588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en-US" altLang="he-IL" sz="10000" b="1" dirty="0">
                <a:latin typeface="Calibri" panose="020F0502020204030204" pitchFamily="34" charset="0"/>
                <a:cs typeface="David" panose="020E0502060401010101" pitchFamily="34" charset="-79"/>
              </a:rPr>
              <a:t>Looking into LLM Hallucinations </a:t>
            </a:r>
            <a:endParaRPr lang="he-IL" altLang="he-IL" sz="10000" b="1" dirty="0">
              <a:latin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12291" name="TextBox 9"/>
          <p:cNvSpPr txBox="1">
            <a:spLocks noChangeArrowheads="1"/>
          </p:cNvSpPr>
          <p:nvPr/>
        </p:nvSpPr>
        <p:spPr bwMode="auto">
          <a:xfrm>
            <a:off x="4797731" y="4239090"/>
            <a:ext cx="23417731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altLang="he-IL" sz="8000" b="1" dirty="0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Yuval </a:t>
            </a:r>
            <a:r>
              <a:rPr lang="en-US" altLang="he-IL" sz="8000" b="1" dirty="0" err="1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Assif</a:t>
            </a:r>
            <a:r>
              <a:rPr lang="en-US" altLang="he-IL" sz="8000" b="1" dirty="0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, Yoav Kor, Ohad Carmel, Yuval Reuveni</a:t>
            </a:r>
            <a:endParaRPr lang="he-IL" altLang="he-IL" sz="8000" b="1" dirty="0">
              <a:solidFill>
                <a:srgbClr val="000099"/>
              </a:solidFill>
              <a:latin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12292" name="TextBox 10"/>
          <p:cNvSpPr txBox="1">
            <a:spLocks noChangeArrowheads="1"/>
          </p:cNvSpPr>
          <p:nvPr/>
        </p:nvSpPr>
        <p:spPr bwMode="auto">
          <a:xfrm>
            <a:off x="2160465" y="5173380"/>
            <a:ext cx="2801111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defTabSz="968375" eaLnBrk="0" hangingPunct="0"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l" defTabSz="968375" rtl="0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rtl="1" eaLnBrk="1" hangingPunct="1"/>
            <a:r>
              <a:rPr lang="en-US" altLang="he-IL" sz="8000" b="1" dirty="0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Instructors: Dr. Yuval Pinter, Mr. </a:t>
            </a:r>
            <a:r>
              <a:rPr lang="en-US" altLang="he-IL" sz="8000" b="1" dirty="0" err="1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Nitay</a:t>
            </a:r>
            <a:r>
              <a:rPr lang="en-US" altLang="he-IL" sz="8000" b="1" dirty="0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 Calderon, Mr. </a:t>
            </a:r>
            <a:r>
              <a:rPr lang="en-US" altLang="he-IL" sz="8000" b="1" dirty="0" err="1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Itzik</a:t>
            </a:r>
            <a:r>
              <a:rPr lang="en-US" altLang="he-IL" sz="8000" b="1" dirty="0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US" altLang="he-IL" sz="8000" b="1" dirty="0" err="1">
                <a:solidFill>
                  <a:srgbClr val="000099"/>
                </a:solidFill>
                <a:latin typeface="Calibri" panose="020F0502020204030204" pitchFamily="34" charset="0"/>
                <a:cs typeface="David" panose="020E0502060401010101" pitchFamily="34" charset="-79"/>
              </a:rPr>
              <a:t>Fradkin</a:t>
            </a:r>
            <a:endParaRPr lang="en-US" altLang="he-IL" sz="8000" b="1" dirty="0">
              <a:solidFill>
                <a:srgbClr val="FFCB97"/>
              </a:solidFill>
              <a:latin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8297" y="683101"/>
            <a:ext cx="19631489" cy="20978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defTabSz="4320540" rtl="1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he-IL" sz="8800" b="1" dirty="0">
                <a:solidFill>
                  <a:srgbClr val="000099"/>
                </a:solidFill>
                <a:latin typeface="+mn-lt"/>
                <a:cs typeface="David" pitchFamily="2" charset="-79"/>
              </a:rPr>
              <a:t>הפקולטה למדעי הטבע</a:t>
            </a:r>
          </a:p>
          <a:p>
            <a:pPr marL="1371600" indent="-1371600" algn="ctr" defTabSz="4320540" rtl="1" eaLnBrk="1" fontAlgn="auto" hangingPunct="1">
              <a:lnSpc>
                <a:spcPts val="75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he-IL" sz="8800" b="1" dirty="0">
                <a:solidFill>
                  <a:srgbClr val="000099"/>
                </a:solidFill>
                <a:latin typeface="+mn-lt"/>
                <a:cs typeface="David" pitchFamily="2" charset="-79"/>
              </a:rPr>
              <a:t>המחלקה למדעי המחשב</a:t>
            </a:r>
            <a:endParaRPr lang="he-IL" sz="8800" dirty="0">
              <a:latin typeface="+mn-lt"/>
              <a:cs typeface="+mn-cs"/>
            </a:endParaRPr>
          </a:p>
        </p:txBody>
      </p:sp>
      <p:sp>
        <p:nvSpPr>
          <p:cNvPr id="144" name="Rectangle 8">
            <a:extLst>
              <a:ext uri="{FF2B5EF4-FFF2-40B4-BE49-F238E27FC236}">
                <a16:creationId xmlns:a16="http://schemas.microsoft.com/office/drawing/2014/main" id="{1649DF04-A6E1-5FB2-E1C1-190842730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Rectangle 9">
            <a:extLst>
              <a:ext uri="{FF2B5EF4-FFF2-40B4-BE49-F238E27FC236}">
                <a16:creationId xmlns:a16="http://schemas.microsoft.com/office/drawing/2014/main" id="{5D391ABA-0C7F-1FEC-37A9-C1538D27D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11">
            <a:extLst>
              <a:ext uri="{FF2B5EF4-FFF2-40B4-BE49-F238E27FC236}">
                <a16:creationId xmlns:a16="http://schemas.microsoft.com/office/drawing/2014/main" id="{7F29AD4F-115C-6D01-D95F-768CE2419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Rectangle 12">
            <a:extLst>
              <a:ext uri="{FF2B5EF4-FFF2-40B4-BE49-F238E27FC236}">
                <a16:creationId xmlns:a16="http://schemas.microsoft.com/office/drawing/2014/main" id="{4784F02D-635B-59E1-CFFA-24E6E3AE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Rectangle 14">
            <a:extLst>
              <a:ext uri="{FF2B5EF4-FFF2-40B4-BE49-F238E27FC236}">
                <a16:creationId xmlns:a16="http://schemas.microsoft.com/office/drawing/2014/main" id="{DAD2F332-F3A5-AC9C-49D4-3AB603429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90" y="3107674"/>
            <a:ext cx="120621" cy="88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Rectangle 15">
            <a:extLst>
              <a:ext uri="{FF2B5EF4-FFF2-40B4-BE49-F238E27FC236}">
                <a16:creationId xmlns:a16="http://schemas.microsoft.com/office/drawing/2014/main" id="{DFCF6075-B1A4-AE40-B2E4-7EB05DE72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Rectangle 18">
            <a:extLst>
              <a:ext uri="{FF2B5EF4-FFF2-40B4-BE49-F238E27FC236}">
                <a16:creationId xmlns:a16="http://schemas.microsoft.com/office/drawing/2014/main" id="{D245D589-1891-8F17-B463-C0056D704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67" y="3815492"/>
            <a:ext cx="120621" cy="24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695" tIns="29850" rIns="59695" bIns="29850" numCol="1" anchor="ctr" anchorCtr="0" compatLnSpc="1">
            <a:prstTxWarp prst="textNoShape">
              <a:avLst/>
            </a:prstTxWarp>
            <a:spAutoFit/>
          </a:bodyPr>
          <a:lstStyle/>
          <a:p>
            <a:pPr defTabSz="597014">
              <a:tabLst>
                <a:tab pos="2379776" algn="l"/>
              </a:tabLst>
            </a:pPr>
            <a:endParaRPr lang="en-US" sz="117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Rectangle 5">
            <a:extLst>
              <a:ext uri="{FF2B5EF4-FFF2-40B4-BE49-F238E27FC236}">
                <a16:creationId xmlns:a16="http://schemas.microsoft.com/office/drawing/2014/main" id="{9A35D15C-A079-596C-A862-4B5723E46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1" name="Rectangle 7">
            <a:extLst>
              <a:ext uri="{FF2B5EF4-FFF2-40B4-BE49-F238E27FC236}">
                <a16:creationId xmlns:a16="http://schemas.microsoft.com/office/drawing/2014/main" id="{A3024DA6-569D-CBE3-ACE5-F478B8376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9">
            <a:extLst>
              <a:ext uri="{FF2B5EF4-FFF2-40B4-BE49-F238E27FC236}">
                <a16:creationId xmlns:a16="http://schemas.microsoft.com/office/drawing/2014/main" id="{E95B36CB-628B-555D-3E45-EF625C7FD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28" y="2958250"/>
            <a:ext cx="120746" cy="88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59757" tIns="29878" rIns="59757" bIns="29878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535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8" descr="You too, embrace cross-platform development with React Native"/>
          <p:cNvSpPr>
            <a:spLocks noChangeAspect="1" noChangeArrowheads="1"/>
          </p:cNvSpPr>
          <p:nvPr/>
        </p:nvSpPr>
        <p:spPr bwMode="auto">
          <a:xfrm>
            <a:off x="321833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5" name="AutoShape 10" descr="You too, embrace cross-platform development with React Native"/>
          <p:cNvSpPr>
            <a:spLocks noChangeAspect="1" noChangeArrowheads="1"/>
          </p:cNvSpPr>
          <p:nvPr/>
        </p:nvSpPr>
        <p:spPr bwMode="auto">
          <a:xfrm>
            <a:off x="32335788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1037" name="Picture 13" descr="C:\Users\USER\OneDrive\שולחן העבודה\j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443" y="39763502"/>
            <a:ext cx="2156787" cy="2344365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</p:pic>
      <p:sp>
        <p:nvSpPr>
          <p:cNvPr id="121" name="AutoShape 10" descr="👍">
            <a:extLst>
              <a:ext uri="{FF2B5EF4-FFF2-40B4-BE49-F238E27FC236}">
                <a16:creationId xmlns:a16="http://schemas.microsoft.com/office/drawing/2014/main" id="{3E18DA69-08A7-ED6C-B7EC-9D3166D6B1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884690" y="19980608"/>
            <a:ext cx="6518635" cy="651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10" name="תמונה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3464" y="39735787"/>
            <a:ext cx="2428161" cy="24281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108BBEE2-7E3D-3FC3-1C71-137F20B38D0E}"/>
              </a:ext>
            </a:extLst>
          </p:cNvPr>
          <p:cNvSpPr/>
          <p:nvPr/>
        </p:nvSpPr>
        <p:spPr>
          <a:xfrm>
            <a:off x="438546" y="7665387"/>
            <a:ext cx="31526958" cy="464440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1" algn="just"/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These days many people rely on language models for various tasks.</a:t>
            </a:r>
          </a:p>
          <a:p>
            <a:pPr lvl="1" algn="just"/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However, many language models provide incorrect answers with full confidence and without any disclaimers.</a:t>
            </a:r>
          </a:p>
          <a:p>
            <a:pPr lvl="1" algn="just"/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Even when a model uses hedging, it is not always directly correlated to the hallucination of the model.</a:t>
            </a:r>
          </a:p>
          <a:p>
            <a:pPr lvl="1" algn="just"/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Currently, there is no method that allow the user to estimate the reliability of the answer that the model provides.</a:t>
            </a:r>
          </a:p>
        </p:txBody>
      </p:sp>
      <p:pic>
        <p:nvPicPr>
          <p:cNvPr id="12" name="תמונה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26418" y="32208460"/>
            <a:ext cx="15758395" cy="104925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3B9EFDA2-841A-7712-CAB6-23DE8AF44B4F}"/>
              </a:ext>
            </a:extLst>
          </p:cNvPr>
          <p:cNvSpPr/>
          <p:nvPr/>
        </p:nvSpPr>
        <p:spPr>
          <a:xfrm>
            <a:off x="13564747" y="6939431"/>
            <a:ext cx="5883697" cy="10378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Background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5C74C5C-D427-91D4-5908-C54F27835D43}"/>
              </a:ext>
            </a:extLst>
          </p:cNvPr>
          <p:cNvSpPr/>
          <p:nvPr/>
        </p:nvSpPr>
        <p:spPr>
          <a:xfrm>
            <a:off x="432273" y="13548640"/>
            <a:ext cx="31526958" cy="5705028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Experiment goal – evaluate user trust in a Generative AI model by analyzing their betting behavior regarding the correctness of statements related to AI-generated photo description.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part in the experiment:</a:t>
            </a:r>
          </a:p>
          <a:p>
            <a:pPr marL="3016250" lvl="1" indent="-857250" algn="just">
              <a:buFont typeface="Courier New" panose="02070309020205020404" pitchFamily="49" charset="0"/>
              <a:buChar char="o"/>
            </a:pP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Generate the data from visual language model (</a:t>
            </a:r>
            <a:r>
              <a:rPr lang="en-US" sz="50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Llava</a:t>
            </a: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for both the experiment and the model training + evaluation.</a:t>
            </a:r>
          </a:p>
          <a:p>
            <a:pPr marL="3016250" lvl="1" indent="-857250" algn="just">
              <a:buFont typeface="Courier New" panose="02070309020205020404" pitchFamily="49" charset="0"/>
              <a:buChar char="o"/>
            </a:pP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 a model that aims to predict the hallucinations of the language model.</a:t>
            </a:r>
          </a:p>
          <a:p>
            <a:pPr marL="3016250" lvl="1" indent="-857250" algn="just">
              <a:buFont typeface="Courier New" panose="02070309020205020404" pitchFamily="49" charset="0"/>
              <a:buChar char="o"/>
            </a:pPr>
            <a:r>
              <a:rPr lang="en-US" sz="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Create experimental setup - the toolset and the interface.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609D8A6-993F-0827-5F75-F4B6C0862F1B}"/>
              </a:ext>
            </a:extLst>
          </p:cNvPr>
          <p:cNvSpPr/>
          <p:nvPr/>
        </p:nvSpPr>
        <p:spPr>
          <a:xfrm>
            <a:off x="13564747" y="12719733"/>
            <a:ext cx="5883697" cy="10378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Goals 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6EDECC4-64B0-2059-20D7-B0162AFFAA90}"/>
              </a:ext>
            </a:extLst>
          </p:cNvPr>
          <p:cNvSpPr/>
          <p:nvPr/>
        </p:nvSpPr>
        <p:spPr>
          <a:xfrm>
            <a:off x="19955979" y="31298432"/>
            <a:ext cx="8559681" cy="10378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Experimental setup 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C8B0E1C-C00F-5242-998F-867DD98EEFAA}"/>
              </a:ext>
            </a:extLst>
          </p:cNvPr>
          <p:cNvSpPr/>
          <p:nvPr/>
        </p:nvSpPr>
        <p:spPr>
          <a:xfrm>
            <a:off x="417714" y="32836912"/>
            <a:ext cx="14940845" cy="1797656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sz="4600" dirty="0"/>
              <a:t>Cross-platform web application for experiments - using React, NodeJS, MongoDB.</a:t>
            </a: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29BCE243-080F-3C7D-2EF2-3736938E2A8A}"/>
              </a:ext>
            </a:extLst>
          </p:cNvPr>
          <p:cNvSpPr/>
          <p:nvPr/>
        </p:nvSpPr>
        <p:spPr>
          <a:xfrm>
            <a:off x="444819" y="35248629"/>
            <a:ext cx="14913740" cy="2059858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lvl="0"/>
            <a:r>
              <a:rPr lang="en-US" sz="4600" dirty="0"/>
              <a:t>Online experiments -  tracking participant responses, reaction times, and facilitating comprehensive data analysis.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73392FAF-E984-6D92-F3F4-A7949D72CC7C}"/>
              </a:ext>
            </a:extLst>
          </p:cNvPr>
          <p:cNvSpPr/>
          <p:nvPr/>
        </p:nvSpPr>
        <p:spPr>
          <a:xfrm>
            <a:off x="16192084" y="19836009"/>
            <a:ext cx="15758395" cy="111529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857250" indent="-857250" algn="just">
              <a:buFont typeface="Arial" panose="020B0604020202020204" pitchFamily="34" charset="0"/>
              <a:buChar char="•"/>
            </a:pPr>
            <a:endParaRPr lang="en-US" sz="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09E4C6E9-E527-DF84-8023-7A5D02EC1B55}"/>
              </a:ext>
            </a:extLst>
          </p:cNvPr>
          <p:cNvSpPr/>
          <p:nvPr/>
        </p:nvSpPr>
        <p:spPr>
          <a:xfrm>
            <a:off x="21163766" y="19484750"/>
            <a:ext cx="5883697" cy="10378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Model </a:t>
            </a:r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5E220059-84CB-AED4-B054-FA63EFE71960}"/>
              </a:ext>
            </a:extLst>
          </p:cNvPr>
          <p:cNvSpPr/>
          <p:nvPr/>
        </p:nvSpPr>
        <p:spPr>
          <a:xfrm>
            <a:off x="443902" y="24661646"/>
            <a:ext cx="14940844" cy="2016829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600" dirty="0">
                <a:ln w="0"/>
                <a:solidFill>
                  <a:schemeClr val="tx1"/>
                </a:solidFill>
              </a:rPr>
              <a:t>We propose to fine-tune a pre-trained BERT model with auxiliary classification feed forward neural network head.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1B9C6765-6746-E71E-FD66-56D0EA5949A3}"/>
              </a:ext>
            </a:extLst>
          </p:cNvPr>
          <p:cNvSpPr/>
          <p:nvPr/>
        </p:nvSpPr>
        <p:spPr>
          <a:xfrm>
            <a:off x="453571" y="20738604"/>
            <a:ext cx="15027413" cy="103783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600" dirty="0">
                <a:ln w="0"/>
                <a:solidFill>
                  <a:schemeClr val="tx1"/>
                </a:solidFill>
              </a:rPr>
              <a:t>We aim to find a way to detect the model’s hallucinations.</a:t>
            </a:r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5159D556-2DA5-E2A6-D811-3C66F2506244}"/>
              </a:ext>
            </a:extLst>
          </p:cNvPr>
          <p:cNvSpPr/>
          <p:nvPr/>
        </p:nvSpPr>
        <p:spPr>
          <a:xfrm>
            <a:off x="418675" y="22390496"/>
            <a:ext cx="14939884" cy="1565524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600" dirty="0">
                <a:ln w="0"/>
                <a:solidFill>
                  <a:schemeClr val="tx1"/>
                </a:solidFill>
              </a:rPr>
              <a:t>Our goal is to determine for each word (each token, actually) if it is a hallucination or not.</a:t>
            </a:r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D184DABB-1F9F-1DB5-546E-45A27E30150B}"/>
              </a:ext>
            </a:extLst>
          </p:cNvPr>
          <p:cNvSpPr/>
          <p:nvPr/>
        </p:nvSpPr>
        <p:spPr>
          <a:xfrm>
            <a:off x="417713" y="27430585"/>
            <a:ext cx="14940844" cy="268387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1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600" dirty="0">
                <a:ln w="0"/>
                <a:solidFill>
                  <a:schemeClr val="tx1"/>
                </a:solidFill>
              </a:rPr>
              <a:t>We add an additional dimension into the embeddings vectors encoded by BERT which correspond to the logits that were given to the original word (token) By the model </a:t>
            </a:r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273C185E-C248-F012-09F8-B6716509428F}"/>
              </a:ext>
            </a:extLst>
          </p:cNvPr>
          <p:cNvSpPr/>
          <p:nvPr/>
        </p:nvSpPr>
        <p:spPr>
          <a:xfrm>
            <a:off x="4946287" y="38130967"/>
            <a:ext cx="5883697" cy="10378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Tools</a:t>
            </a:r>
          </a:p>
        </p:txBody>
      </p:sp>
      <p:pic>
        <p:nvPicPr>
          <p:cNvPr id="40" name="תמונה 39">
            <a:extLst>
              <a:ext uri="{FF2B5EF4-FFF2-40B4-BE49-F238E27FC236}">
                <a16:creationId xmlns:a16="http://schemas.microsoft.com/office/drawing/2014/main" id="{A3496F86-5635-18B5-E776-1C185EF71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072" y="39763502"/>
            <a:ext cx="2659953" cy="2344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תמונה 41">
            <a:extLst>
              <a:ext uri="{FF2B5EF4-FFF2-40B4-BE49-F238E27FC236}">
                <a16:creationId xmlns:a16="http://schemas.microsoft.com/office/drawing/2014/main" id="{531248B8-6643-2DB5-E55D-938301E02B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385" y="39735787"/>
            <a:ext cx="2703067" cy="2372080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44A927B4-A398-15D3-789B-447E3CE61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3098" y="39763502"/>
            <a:ext cx="2203242" cy="2400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 descr="A diagram of a network&#10;&#10;Description automatically generated">
            <a:extLst>
              <a:ext uri="{FF2B5EF4-FFF2-40B4-BE49-F238E27FC236}">
                <a16:creationId xmlns:a16="http://schemas.microsoft.com/office/drawing/2014/main" id="{8CE5AA9E-3F37-19BB-DF0C-CBF5EA2774B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538" b="5888"/>
          <a:stretch/>
        </p:blipFill>
        <p:spPr>
          <a:xfrm>
            <a:off x="21600181" y="20746606"/>
            <a:ext cx="6615281" cy="1006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0928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1" anchor="ctr"/>
      <a:lstStyle>
        <a:defPPr algn="ctr">
          <a:defRPr/>
        </a:defPPr>
      </a:lstStyle>
      <a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302</Words>
  <Application>Microsoft Office PowerPoint</Application>
  <PresentationFormat>מותאם אישית</PresentationFormat>
  <Paragraphs>26</Paragraphs>
  <Slides>1</Slides>
  <Notes>1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  <vt:variant>
        <vt:lpstr>הצגות מותאמות אישית</vt:lpstr>
      </vt:variant>
      <vt:variant>
        <vt:i4>1</vt:i4>
      </vt:variant>
    </vt:vector>
  </HeadingPairs>
  <TitlesOfParts>
    <vt:vector size="6" baseType="lpstr">
      <vt:lpstr>Arial</vt:lpstr>
      <vt:lpstr>Calibri</vt:lpstr>
      <vt:lpstr>Courier New</vt:lpstr>
      <vt:lpstr>ערכת נושא Office</vt:lpstr>
      <vt:lpstr>מצגת של PowerPoint‏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yuval reuveni</cp:lastModifiedBy>
  <cp:revision>140</cp:revision>
  <dcterms:created xsi:type="dcterms:W3CDTF">2010-03-24T06:07:16Z</dcterms:created>
  <dcterms:modified xsi:type="dcterms:W3CDTF">2024-07-13T11:12:42Z</dcterms:modified>
</cp:coreProperties>
</file>